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through-line: this is one game rebuilt nine times, each lab adding one component-engineering technique. Every slide from here shows a lab requirement, my implementation, and the mechanism that makes it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 roadmap and show the dependency between labs: the interfaces from GameLab are what ServiceLoader discovers in JavaLab, which is what module-info declares in JPMS 1 and 2, which is what the ModuleLayer isolates in JPMS 3, which is what Spring injects in SpringLab.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bottom to top. The one sentence that matters: Core has zero compile-time knowledge of the gameplay modules. Everything below the boot layer is found at runtime.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setup lab. The demo-able point is the enemy: it picks a random heading on a timer and fires through the Bullet module's service interface, so Enemy has no compile-time dependency on Bullet.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things to stress. The JavaDoc is not decoration — the ordering pre-condition is the reason collision is a post-processor. And the split chain is owned by Asteroids, reached by Collision through IAsteroidSplitter.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plainly: this one class is the entire component-assembly mechanism. Everything the game does afterwards is driven by the three lists it returned at startup.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Core and name the absence: no requires Player, Enemy or Asteroids. Strong encapsulation is what makes the rest of the architecture necessary rather than decorative.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relationship: Player USES BulletSPI, Bullet PROVIDES it, and neither module names the other. Remove the Bullet jar and the game still starts.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is a runnable demo in docs/jpms-lab3-demo — plain javac and java, no Maven. It fails on purpose first, then succeeds with two layers. Offer to run it live if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interesting part is the handshake. ServiceLocator finds the plugins through JPMS, Spring turns those lists into beans, Game receives them through its constructor.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idea: start the game, shoot one asteroid, then curl http://localhost:8081/api/score and show the number matching the HUD. That proves the two processes are really talking.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Highlight that one test class covers both testing styles the lab mentions: real objects with state assertions, and a Mockito mock with interaction verification.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demo live, start the scoring service before you begin talking — it takes a few seconds to boot. Show the HUD score changing, then the same number from the REST API.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through-line: the same game rebuilt nine times, each lab replacing a direct dependency with a discovered one. The end state is a Core that knows nothing about the gameplay it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8213D"/>
        </a:solidFill>
      </p:bgPr>
    </p:bg>
    <p:spTree>
      <p:nvGrpSpPr>
        <p:cNvPr id="1" name=""/>
        <p:cNvGrpSpPr/>
        <p:nvPr/>
      </p:nvGrpSpPr>
      <p:grpSpPr>
        <a:xfrm>
          <a:off x="0" y="0"/>
          <a:ext cx="0" cy="0"/>
          <a:chOff x="0" y="0"/>
          <a:chExt cx="0" cy="0"/>
        </a:xfrm>
      </p:grpSpPr>
      <p:sp>
        <p:nvSpPr>
          <p:cNvPr id="2" name="Shape 0"/>
          <p:cNvSpPr/>
          <p:nvPr/>
        </p:nvSpPr>
        <p:spPr>
          <a:xfrm>
            <a:off x="9692640" y="960120"/>
            <a:ext cx="1371600" cy="1371600"/>
          </a:xfrm>
          <a:prstGeom prst="hexagon">
            <a:avLst/>
          </a:prstGeom>
          <a:solidFill>
            <a:srgbClr val="18213D">
              <a:alpha val="85000"/>
            </a:srgbClr>
          </a:solidFill>
          <a:ln w="19050">
            <a:solidFill>
              <a:srgbClr val="3A5A8C"/>
            </a:solidFill>
            <a:prstDash val="solid"/>
          </a:ln>
        </p:spPr>
      </p:sp>
      <p:sp>
        <p:nvSpPr>
          <p:cNvPr id="3" name="Shape 1"/>
          <p:cNvSpPr/>
          <p:nvPr/>
        </p:nvSpPr>
        <p:spPr>
          <a:xfrm rot="1620000">
            <a:off x="10881360" y="2514600"/>
            <a:ext cx="868680" cy="868680"/>
          </a:xfrm>
          <a:prstGeom prst="hexagon">
            <a:avLst/>
          </a:prstGeom>
          <a:solidFill>
            <a:srgbClr val="18213D">
              <a:alpha val="85000"/>
            </a:srgbClr>
          </a:solidFill>
          <a:ln w="19050">
            <a:solidFill>
              <a:srgbClr val="2E4570"/>
            </a:solidFill>
            <a:prstDash val="solid"/>
          </a:ln>
        </p:spPr>
      </p:sp>
      <p:sp>
        <p:nvSpPr>
          <p:cNvPr id="4" name="Shape 2"/>
          <p:cNvSpPr/>
          <p:nvPr/>
        </p:nvSpPr>
        <p:spPr>
          <a:xfrm rot="3240000">
            <a:off x="9052560" y="3200400"/>
            <a:ext cx="1143000" cy="1143000"/>
          </a:xfrm>
          <a:prstGeom prst="hexagon">
            <a:avLst/>
          </a:prstGeom>
          <a:solidFill>
            <a:srgbClr val="18213D">
              <a:alpha val="85000"/>
            </a:srgbClr>
          </a:solidFill>
          <a:ln w="19050">
            <a:solidFill>
              <a:srgbClr val="3A5A8C"/>
            </a:solidFill>
            <a:prstDash val="solid"/>
          </a:ln>
        </p:spPr>
      </p:sp>
      <p:sp>
        <p:nvSpPr>
          <p:cNvPr id="5" name="Shape 3"/>
          <p:cNvSpPr/>
          <p:nvPr/>
        </p:nvSpPr>
        <p:spPr>
          <a:xfrm rot="4860000">
            <a:off x="10607040" y="4572000"/>
            <a:ext cx="685800" cy="685800"/>
          </a:xfrm>
          <a:prstGeom prst="hexagon">
            <a:avLst/>
          </a:prstGeom>
          <a:solidFill>
            <a:srgbClr val="18213D">
              <a:alpha val="85000"/>
            </a:srgbClr>
          </a:solidFill>
          <a:ln w="19050">
            <a:solidFill>
              <a:srgbClr val="2E4570"/>
            </a:solidFill>
            <a:prstDash val="solid"/>
          </a:ln>
        </p:spPr>
      </p:sp>
      <p:sp>
        <p:nvSpPr>
          <p:cNvPr id="6" name="Shape 4"/>
          <p:cNvSpPr/>
          <p:nvPr/>
        </p:nvSpPr>
        <p:spPr>
          <a:xfrm rot="6480000">
            <a:off x="9281160" y="5166360"/>
            <a:ext cx="502920" cy="502920"/>
          </a:xfrm>
          <a:prstGeom prst="hexagon">
            <a:avLst/>
          </a:prstGeom>
          <a:solidFill>
            <a:srgbClr val="18213D">
              <a:alpha val="85000"/>
            </a:srgbClr>
          </a:solidFill>
          <a:ln w="19050">
            <a:solidFill>
              <a:srgbClr val="3A5A8C"/>
            </a:solidFill>
            <a:prstDash val="solid"/>
          </a:ln>
        </p:spPr>
      </p:sp>
      <p:sp>
        <p:nvSpPr>
          <p:cNvPr id="7" name="Shape 5"/>
          <p:cNvSpPr/>
          <p:nvPr/>
        </p:nvSpPr>
        <p:spPr>
          <a:xfrm rot="7080000">
            <a:off x="8549640" y="2148840"/>
            <a:ext cx="502920" cy="566928"/>
          </a:xfrm>
          <a:prstGeom prst="triangle">
            <a:avLst/>
          </a:prstGeom>
          <a:solidFill>
            <a:srgbClr val="18213D"/>
          </a:solidFill>
          <a:ln w="25400">
            <a:solidFill>
              <a:srgbClr val="F5A623"/>
            </a:solidFill>
            <a:prstDash val="solid"/>
          </a:ln>
        </p:spPr>
      </p:sp>
      <p:sp>
        <p:nvSpPr>
          <p:cNvPr id="8" name="Text 6"/>
          <p:cNvSpPr/>
          <p:nvPr/>
        </p:nvSpPr>
        <p:spPr>
          <a:xfrm>
            <a:off x="502920" y="1234440"/>
            <a:ext cx="7680960" cy="274320"/>
          </a:xfrm>
          <a:prstGeom prst="rect">
            <a:avLst/>
          </a:prstGeom>
          <a:noFill/>
          <a:ln/>
        </p:spPr>
        <p:txBody>
          <a:bodyPr wrap="square" lIns="0" tIns="0" rIns="0" bIns="0" rtlCol="0" anchor="ctr"/>
          <a:lstStyle/>
          <a:p>
            <a:pPr indent="0" marL="0">
              <a:buNone/>
            </a:pPr>
            <a:r>
              <a:rPr lang="en-US" sz="1200" b="1" spc="240" kern="0" dirty="0">
                <a:solidFill>
                  <a:srgbClr val="F5A623"/>
                </a:solidFill>
                <a:latin typeface="Calibri" pitchFamily="34" charset="0"/>
                <a:ea typeface="Calibri" pitchFamily="34" charset="-122"/>
                <a:cs typeface="Calibri" pitchFamily="34" charset="-120"/>
              </a:rPr>
              <a:t>SDU MMMI  ·  COMPONENT-BASED SOFTWARE ENGINEERING</a:t>
            </a:r>
            <a:endParaRPr lang="en-US" sz="1200" dirty="0"/>
          </a:p>
        </p:txBody>
      </p:sp>
      <p:sp>
        <p:nvSpPr>
          <p:cNvPr id="9" name="Text 7"/>
          <p:cNvSpPr/>
          <p:nvPr/>
        </p:nvSpPr>
        <p:spPr>
          <a:xfrm>
            <a:off x="502920" y="1627632"/>
            <a:ext cx="7863840" cy="960120"/>
          </a:xfrm>
          <a:prstGeom prst="rect">
            <a:avLst/>
          </a:prstGeom>
          <a:noFill/>
          <a:ln/>
        </p:spPr>
        <p:txBody>
          <a:bodyPr wrap="square" lIns="0" tIns="0" rIns="0" bIns="0" rtlCol="0" anchor="ctr"/>
          <a:lstStyle/>
          <a:p>
            <a:pPr indent="0" marL="0">
              <a:buNone/>
            </a:pPr>
            <a:r>
              <a:rPr lang="en-US" sz="6000" b="1" dirty="0">
                <a:solidFill>
                  <a:srgbClr val="FFFFFF"/>
                </a:solidFill>
                <a:latin typeface="Cambria" pitchFamily="34" charset="0"/>
                <a:ea typeface="Cambria" pitchFamily="34" charset="-122"/>
                <a:cs typeface="Cambria" pitchFamily="34" charset="-120"/>
              </a:rPr>
              <a:t>AsteroidsFX</a:t>
            </a:r>
            <a:endParaRPr lang="en-US" sz="6000" dirty="0"/>
          </a:p>
        </p:txBody>
      </p:sp>
      <p:sp>
        <p:nvSpPr>
          <p:cNvPr id="10" name="Text 8"/>
          <p:cNvSpPr/>
          <p:nvPr/>
        </p:nvSpPr>
        <p:spPr>
          <a:xfrm>
            <a:off x="502920" y="2578608"/>
            <a:ext cx="7863840" cy="566928"/>
          </a:xfrm>
          <a:prstGeom prst="rect">
            <a:avLst/>
          </a:prstGeom>
          <a:noFill/>
          <a:ln/>
        </p:spPr>
        <p:txBody>
          <a:bodyPr wrap="square" lIns="0" tIns="0" rIns="0" bIns="0" rtlCol="0" anchor="ctr"/>
          <a:lstStyle/>
          <a:p>
            <a:pPr indent="0" marL="0">
              <a:buNone/>
            </a:pPr>
            <a:r>
              <a:rPr lang="en-US" sz="3000" dirty="0">
                <a:solidFill>
                  <a:srgbClr val="CBD9EE"/>
                </a:solidFill>
                <a:latin typeface="Cambria" pitchFamily="34" charset="0"/>
                <a:ea typeface="Cambria" pitchFamily="34" charset="-122"/>
                <a:cs typeface="Cambria" pitchFamily="34" charset="-120"/>
              </a:rPr>
              <a:t>A Component-Oriented Game</a:t>
            </a:r>
            <a:endParaRPr lang="en-US" sz="3000" dirty="0"/>
          </a:p>
        </p:txBody>
      </p:sp>
      <p:sp>
        <p:nvSpPr>
          <p:cNvPr id="11" name="Text 9"/>
          <p:cNvSpPr/>
          <p:nvPr/>
        </p:nvSpPr>
        <p:spPr>
          <a:xfrm>
            <a:off x="502920" y="3310128"/>
            <a:ext cx="7406640" cy="822960"/>
          </a:xfrm>
          <a:prstGeom prst="rect">
            <a:avLst/>
          </a:prstGeom>
          <a:noFill/>
          <a:ln/>
        </p:spPr>
        <p:txBody>
          <a:bodyPr wrap="square" lIns="0" tIns="0" rIns="0" bIns="0" rtlCol="0" anchor="ctr"/>
          <a:lstStyle/>
          <a:p>
            <a:pPr indent="0" marL="0">
              <a:lnSpc>
                <a:spcPts val="2200"/>
              </a:lnSpc>
              <a:buNone/>
            </a:pPr>
            <a:r>
              <a:rPr lang="en-US" sz="1500" dirty="0">
                <a:solidFill>
                  <a:srgbClr val="A9BEDC"/>
                </a:solidFill>
                <a:latin typeface="Calibri" pitchFamily="34" charset="0"/>
                <a:ea typeface="Calibri" pitchFamily="34" charset="-122"/>
                <a:cs typeface="Calibri" pitchFamily="34" charset="-120"/>
              </a:rPr>
              <a:t>Nine labs, one game. Each lab replaced a direct dependency with a discovered one — until Core knew nothing about the gameplay it runs.</a:t>
            </a:r>
            <a:endParaRPr lang="en-US" sz="1500" dirty="0"/>
          </a:p>
        </p:txBody>
      </p:sp>
      <p:sp>
        <p:nvSpPr>
          <p:cNvPr id="12" name="Text 10"/>
          <p:cNvSpPr/>
          <p:nvPr/>
        </p:nvSpPr>
        <p:spPr>
          <a:xfrm>
            <a:off x="502920" y="4370832"/>
            <a:ext cx="1371600" cy="274320"/>
          </a:xfrm>
          <a:prstGeom prst="rect">
            <a:avLst/>
          </a:prstGeom>
          <a:noFill/>
          <a:ln/>
        </p:spPr>
        <p:txBody>
          <a:bodyPr wrap="square" lIns="0" tIns="0" rIns="0" bIns="0" rtlCol="0" anchor="ctr"/>
          <a:lstStyle/>
          <a:p>
            <a:pPr indent="0" marL="0">
              <a:buNone/>
            </a:pPr>
            <a:r>
              <a:rPr lang="en-US" sz="1050" b="1" spc="150" kern="0" dirty="0">
                <a:solidFill>
                  <a:srgbClr val="7089B0"/>
                </a:solidFill>
                <a:latin typeface="Calibri" pitchFamily="34" charset="0"/>
                <a:ea typeface="Calibri" pitchFamily="34" charset="-122"/>
                <a:cs typeface="Calibri" pitchFamily="34" charset="-120"/>
              </a:rPr>
              <a:t>AUTHOR</a:t>
            </a:r>
            <a:endParaRPr lang="en-US" sz="1050" dirty="0"/>
          </a:p>
        </p:txBody>
      </p:sp>
      <p:sp>
        <p:nvSpPr>
          <p:cNvPr id="13" name="Text 11"/>
          <p:cNvSpPr/>
          <p:nvPr/>
        </p:nvSpPr>
        <p:spPr>
          <a:xfrm>
            <a:off x="1920240" y="4370832"/>
            <a:ext cx="5943600" cy="27432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Fard121  ·  fjama23@student.sdu.dk</a:t>
            </a:r>
            <a:endParaRPr lang="en-US" sz="1300" dirty="0"/>
          </a:p>
        </p:txBody>
      </p:sp>
      <p:sp>
        <p:nvSpPr>
          <p:cNvPr id="14" name="Text 12"/>
          <p:cNvSpPr/>
          <p:nvPr/>
        </p:nvSpPr>
        <p:spPr>
          <a:xfrm>
            <a:off x="502920" y="4754880"/>
            <a:ext cx="1371600" cy="274320"/>
          </a:xfrm>
          <a:prstGeom prst="rect">
            <a:avLst/>
          </a:prstGeom>
          <a:noFill/>
          <a:ln/>
        </p:spPr>
        <p:txBody>
          <a:bodyPr wrap="square" lIns="0" tIns="0" rIns="0" bIns="0" rtlCol="0" anchor="ctr"/>
          <a:lstStyle/>
          <a:p>
            <a:pPr indent="0" marL="0">
              <a:buNone/>
            </a:pPr>
            <a:r>
              <a:rPr lang="en-US" sz="1050" b="1" spc="150" kern="0" dirty="0">
                <a:solidFill>
                  <a:srgbClr val="7089B0"/>
                </a:solidFill>
                <a:latin typeface="Calibri" pitchFamily="34" charset="0"/>
                <a:ea typeface="Calibri" pitchFamily="34" charset="-122"/>
                <a:cs typeface="Calibri" pitchFamily="34" charset="-120"/>
              </a:rPr>
              <a:t>REPOSITORY</a:t>
            </a:r>
            <a:endParaRPr lang="en-US" sz="1050" dirty="0"/>
          </a:p>
        </p:txBody>
      </p:sp>
      <p:sp>
        <p:nvSpPr>
          <p:cNvPr id="15" name="Text 13"/>
          <p:cNvSpPr/>
          <p:nvPr/>
        </p:nvSpPr>
        <p:spPr>
          <a:xfrm>
            <a:off x="1920240" y="4754880"/>
            <a:ext cx="5943600" cy="27432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github.com/Fard121/asteroid_game</a:t>
            </a:r>
            <a:endParaRPr lang="en-US" sz="1300" dirty="0"/>
          </a:p>
        </p:txBody>
      </p:sp>
      <p:sp>
        <p:nvSpPr>
          <p:cNvPr id="16" name="Text 14"/>
          <p:cNvSpPr/>
          <p:nvPr/>
        </p:nvSpPr>
        <p:spPr>
          <a:xfrm>
            <a:off x="502920" y="5138928"/>
            <a:ext cx="1371600" cy="274320"/>
          </a:xfrm>
          <a:prstGeom prst="rect">
            <a:avLst/>
          </a:prstGeom>
          <a:noFill/>
          <a:ln/>
        </p:spPr>
        <p:txBody>
          <a:bodyPr wrap="square" lIns="0" tIns="0" rIns="0" bIns="0" rtlCol="0" anchor="ctr"/>
          <a:lstStyle/>
          <a:p>
            <a:pPr indent="0" marL="0">
              <a:buNone/>
            </a:pPr>
            <a:r>
              <a:rPr lang="en-US" sz="1050" b="1" spc="150" kern="0" dirty="0">
                <a:solidFill>
                  <a:srgbClr val="7089B0"/>
                </a:solidFill>
                <a:latin typeface="Calibri" pitchFamily="34" charset="0"/>
                <a:ea typeface="Calibri" pitchFamily="34" charset="-122"/>
                <a:cs typeface="Calibri" pitchFamily="34" charset="-120"/>
              </a:rPr>
              <a:t>FORKED FROM</a:t>
            </a:r>
            <a:endParaRPr lang="en-US" sz="1050" dirty="0"/>
          </a:p>
        </p:txBody>
      </p:sp>
      <p:sp>
        <p:nvSpPr>
          <p:cNvPr id="17" name="Text 15"/>
          <p:cNvSpPr/>
          <p:nvPr/>
        </p:nvSpPr>
        <p:spPr>
          <a:xfrm>
            <a:off x="1920240" y="5138928"/>
            <a:ext cx="5943600" cy="27432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github.com/sweat-tek/AsteroidsFX</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457200"/>
            <a:ext cx="8229600" cy="603504"/>
          </a:xfrm>
          <a:prstGeom prst="rect">
            <a:avLst/>
          </a:prstGeom>
          <a:noFill/>
          <a:ln/>
        </p:spPr>
        <p:txBody>
          <a:bodyPr wrap="square" lIns="0" tIns="0" rIns="0" bIns="0" rtlCol="0" anchor="ctr"/>
          <a:lstStyle/>
          <a:p>
            <a:pPr indent="0" marL="0">
              <a:buNone/>
            </a:pPr>
            <a:r>
              <a:rPr lang="en-US" sz="3400" b="1" dirty="0">
                <a:solidFill>
                  <a:srgbClr val="18213D"/>
                </a:solidFill>
                <a:latin typeface="Cambria" pitchFamily="34" charset="0"/>
                <a:ea typeface="Cambria" pitchFamily="34" charset="-122"/>
                <a:cs typeface="Cambria" pitchFamily="34" charset="-120"/>
              </a:rPr>
              <a:t>The Nine Labs</a:t>
            </a:r>
            <a:endParaRPr lang="en-US" sz="3400" dirty="0"/>
          </a:p>
        </p:txBody>
      </p:sp>
      <p:sp>
        <p:nvSpPr>
          <p:cNvPr id="3" name="Text 1"/>
          <p:cNvSpPr/>
          <p:nvPr/>
        </p:nvSpPr>
        <p:spPr>
          <a:xfrm>
            <a:off x="502920" y="1042416"/>
            <a:ext cx="8229600" cy="310896"/>
          </a:xfrm>
          <a:prstGeom prst="rect">
            <a:avLst/>
          </a:prstGeom>
          <a:noFill/>
          <a:ln/>
        </p:spPr>
        <p:txBody>
          <a:bodyPr wrap="square" lIns="0" tIns="0" rIns="0" bIns="0" rtlCol="0" anchor="ctr"/>
          <a:lstStyle/>
          <a:p>
            <a:pPr indent="0" marL="0">
              <a:buNone/>
            </a:pPr>
            <a:r>
              <a:rPr lang="en-US" sz="1450" dirty="0">
                <a:solidFill>
                  <a:srgbClr val="5F7192"/>
                </a:solidFill>
                <a:latin typeface="Calibri" pitchFamily="34" charset="0"/>
                <a:ea typeface="Calibri" pitchFamily="34" charset="-122"/>
                <a:cs typeface="Calibri" pitchFamily="34" charset="-120"/>
              </a:rPr>
              <a:t>Each lab layered one technique onto the same game</a:t>
            </a:r>
            <a:endParaRPr lang="en-US" sz="1450" dirty="0"/>
          </a:p>
        </p:txBody>
      </p:sp>
      <p:sp>
        <p:nvSpPr>
          <p:cNvPr id="4" name="Shape 2"/>
          <p:cNvSpPr/>
          <p:nvPr/>
        </p:nvSpPr>
        <p:spPr>
          <a:xfrm>
            <a:off x="502920" y="1572768"/>
            <a:ext cx="3538728" cy="1399032"/>
          </a:xfrm>
          <a:prstGeom prst="roundRect">
            <a:avLst>
              <a:gd name="adj" fmla="val 3922"/>
            </a:avLst>
          </a:prstGeom>
          <a:solidFill>
            <a:srgbClr val="F1F5FB"/>
          </a:solidFill>
          <a:ln w="12700">
            <a:solidFill>
              <a:srgbClr val="DEE7F3"/>
            </a:solidFill>
            <a:prstDash val="solid"/>
          </a:ln>
          <a:effectLst>
            <a:outerShdw sx="100000" sy="100000" kx="0" ky="0" algn="bl" rotWithShape="0" blurRad="127000" dist="25400" dir="5400000">
              <a:srgbClr val="8FA3C4">
                <a:alpha val="28000"/>
              </a:srgbClr>
            </a:outerShdw>
          </a:effectLst>
        </p:spPr>
      </p:sp>
      <p:sp>
        <p:nvSpPr>
          <p:cNvPr id="5" name="Shape 3"/>
          <p:cNvSpPr/>
          <p:nvPr/>
        </p:nvSpPr>
        <p:spPr>
          <a:xfrm>
            <a:off x="722376" y="1810512"/>
            <a:ext cx="402336" cy="402336"/>
          </a:xfrm>
          <a:prstGeom prst="ellipse">
            <a:avLst/>
          </a:prstGeom>
          <a:solidFill>
            <a:srgbClr val="18213D"/>
          </a:solidFill>
          <a:ln/>
        </p:spPr>
      </p:sp>
      <p:sp>
        <p:nvSpPr>
          <p:cNvPr id="6" name="Text 4"/>
          <p:cNvSpPr/>
          <p:nvPr/>
        </p:nvSpPr>
        <p:spPr>
          <a:xfrm>
            <a:off x="722376" y="1810512"/>
            <a:ext cx="402336" cy="402336"/>
          </a:xfrm>
          <a:prstGeom prst="rect">
            <a:avLst/>
          </a:prstGeom>
          <a:noFill/>
          <a:ln/>
        </p:spPr>
        <p:txBody>
          <a:bodyPr wrap="square" lIns="0" tIns="0" rIns="0" bIns="0" rtlCol="0" anchor="ctr"/>
          <a:lstStyle/>
          <a:p>
            <a:pPr algn="ctr" indent="0" marL="0">
              <a:buNone/>
            </a:pPr>
            <a:r>
              <a:rPr lang="en-US" sz="1600" b="1" dirty="0">
                <a:solidFill>
                  <a:srgbClr val="F5A623"/>
                </a:solidFill>
                <a:latin typeface="Cambria" pitchFamily="34" charset="0"/>
                <a:ea typeface="Cambria" pitchFamily="34" charset="-122"/>
                <a:cs typeface="Cambria" pitchFamily="34" charset="-120"/>
              </a:rPr>
              <a:t>1</a:t>
            </a:r>
            <a:endParaRPr lang="en-US" sz="1600" dirty="0"/>
          </a:p>
        </p:txBody>
      </p:sp>
      <p:sp>
        <p:nvSpPr>
          <p:cNvPr id="7" name="Text 5"/>
          <p:cNvSpPr/>
          <p:nvPr/>
        </p:nvSpPr>
        <p:spPr>
          <a:xfrm>
            <a:off x="1252728" y="1819656"/>
            <a:ext cx="2569464" cy="292608"/>
          </a:xfrm>
          <a:prstGeom prst="rect">
            <a:avLst/>
          </a:prstGeom>
          <a:noFill/>
          <a:ln/>
        </p:spPr>
        <p:txBody>
          <a:bodyPr wrap="square" lIns="0" tIns="0" rIns="0" bIns="0" rtlCol="0" anchor="ctr"/>
          <a:lstStyle/>
          <a:p>
            <a:pPr indent="0" marL="0">
              <a:buNone/>
            </a:pPr>
            <a:r>
              <a:rPr lang="en-US" sz="1600" b="1" dirty="0">
                <a:solidFill>
                  <a:srgbClr val="18213D"/>
                </a:solidFill>
                <a:latin typeface="Cambria" pitchFamily="34" charset="0"/>
                <a:ea typeface="Cambria" pitchFamily="34" charset="-122"/>
                <a:cs typeface="Cambria" pitchFamily="34" charset="-120"/>
              </a:rPr>
              <a:t>IntroLab</a:t>
            </a:r>
            <a:endParaRPr lang="en-US" sz="1600" dirty="0"/>
          </a:p>
        </p:txBody>
      </p:sp>
      <p:sp>
        <p:nvSpPr>
          <p:cNvPr id="8" name="Text 6"/>
          <p:cNvSpPr/>
          <p:nvPr/>
        </p:nvSpPr>
        <p:spPr>
          <a:xfrm>
            <a:off x="1252728" y="2139696"/>
            <a:ext cx="2569464" cy="658368"/>
          </a:xfrm>
          <a:prstGeom prst="rect">
            <a:avLst/>
          </a:prstGeom>
          <a:noFill/>
          <a:ln/>
        </p:spPr>
        <p:txBody>
          <a:bodyPr wrap="square" lIns="0" tIns="0" rIns="0" bIns="0" rtlCol="0" anchor="t"/>
          <a:lstStyle/>
          <a:p>
            <a:pPr indent="0" marL="0">
              <a:lnSpc>
                <a:spcPts val="1450"/>
              </a:lnSpc>
              <a:buNone/>
            </a:pPr>
            <a:r>
              <a:rPr lang="en-US" sz="1100" dirty="0">
                <a:solidFill>
                  <a:srgbClr val="5F7192"/>
                </a:solidFill>
                <a:latin typeface="Calibri" pitchFamily="34" charset="0"/>
                <a:ea typeface="Calibri" pitchFamily="34" charset="-122"/>
                <a:cs typeface="Calibri" pitchFamily="34" charset="-120"/>
              </a:rPr>
              <a:t>JavaFX setup · Core, Bullet, Player · random enemy</a:t>
            </a:r>
            <a:endParaRPr lang="en-US" sz="1100" dirty="0"/>
          </a:p>
        </p:txBody>
      </p:sp>
      <p:sp>
        <p:nvSpPr>
          <p:cNvPr id="9" name="Shape 7"/>
          <p:cNvSpPr/>
          <p:nvPr/>
        </p:nvSpPr>
        <p:spPr>
          <a:xfrm>
            <a:off x="4306824" y="1572768"/>
            <a:ext cx="3538728" cy="1399032"/>
          </a:xfrm>
          <a:prstGeom prst="roundRect">
            <a:avLst>
              <a:gd name="adj" fmla="val 3922"/>
            </a:avLst>
          </a:prstGeom>
          <a:solidFill>
            <a:srgbClr val="F1F5FB"/>
          </a:solidFill>
          <a:ln w="12700">
            <a:solidFill>
              <a:srgbClr val="DEE7F3"/>
            </a:solidFill>
            <a:prstDash val="solid"/>
          </a:ln>
          <a:effectLst>
            <a:outerShdw sx="100000" sy="100000" kx="0" ky="0" algn="bl" rotWithShape="0" blurRad="127000" dist="25400" dir="5400000">
              <a:srgbClr val="8FA3C4">
                <a:alpha val="28000"/>
              </a:srgbClr>
            </a:outerShdw>
          </a:effectLst>
        </p:spPr>
      </p:sp>
      <p:sp>
        <p:nvSpPr>
          <p:cNvPr id="10" name="Shape 8"/>
          <p:cNvSpPr/>
          <p:nvPr/>
        </p:nvSpPr>
        <p:spPr>
          <a:xfrm>
            <a:off x="4526280" y="1810512"/>
            <a:ext cx="402336" cy="402336"/>
          </a:xfrm>
          <a:prstGeom prst="ellipse">
            <a:avLst/>
          </a:prstGeom>
          <a:solidFill>
            <a:srgbClr val="18213D"/>
          </a:solidFill>
          <a:ln/>
        </p:spPr>
      </p:sp>
      <p:sp>
        <p:nvSpPr>
          <p:cNvPr id="11" name="Text 9"/>
          <p:cNvSpPr/>
          <p:nvPr/>
        </p:nvSpPr>
        <p:spPr>
          <a:xfrm>
            <a:off x="4526280" y="1810512"/>
            <a:ext cx="402336" cy="402336"/>
          </a:xfrm>
          <a:prstGeom prst="rect">
            <a:avLst/>
          </a:prstGeom>
          <a:noFill/>
          <a:ln/>
        </p:spPr>
        <p:txBody>
          <a:bodyPr wrap="square" lIns="0" tIns="0" rIns="0" bIns="0" rtlCol="0" anchor="ctr"/>
          <a:lstStyle/>
          <a:p>
            <a:pPr algn="ctr" indent="0" marL="0">
              <a:buNone/>
            </a:pPr>
            <a:r>
              <a:rPr lang="en-US" sz="1600" b="1" dirty="0">
                <a:solidFill>
                  <a:srgbClr val="F5A623"/>
                </a:solidFill>
                <a:latin typeface="Cambria" pitchFamily="34" charset="0"/>
                <a:ea typeface="Cambria" pitchFamily="34" charset="-122"/>
                <a:cs typeface="Cambria" pitchFamily="34" charset="-120"/>
              </a:rPr>
              <a:t>2</a:t>
            </a:r>
            <a:endParaRPr lang="en-US" sz="1600" dirty="0"/>
          </a:p>
        </p:txBody>
      </p:sp>
      <p:sp>
        <p:nvSpPr>
          <p:cNvPr id="12" name="Text 10"/>
          <p:cNvSpPr/>
          <p:nvPr/>
        </p:nvSpPr>
        <p:spPr>
          <a:xfrm>
            <a:off x="5056632" y="1819656"/>
            <a:ext cx="2569464" cy="292608"/>
          </a:xfrm>
          <a:prstGeom prst="rect">
            <a:avLst/>
          </a:prstGeom>
          <a:noFill/>
          <a:ln/>
        </p:spPr>
        <p:txBody>
          <a:bodyPr wrap="square" lIns="0" tIns="0" rIns="0" bIns="0" rtlCol="0" anchor="ctr"/>
          <a:lstStyle/>
          <a:p>
            <a:pPr indent="0" marL="0">
              <a:buNone/>
            </a:pPr>
            <a:r>
              <a:rPr lang="en-US" sz="1600" b="1" dirty="0">
                <a:solidFill>
                  <a:srgbClr val="18213D"/>
                </a:solidFill>
                <a:latin typeface="Cambria" pitchFamily="34" charset="0"/>
                <a:ea typeface="Cambria" pitchFamily="34" charset="-122"/>
                <a:cs typeface="Cambria" pitchFamily="34" charset="-120"/>
              </a:rPr>
              <a:t>GameLab</a:t>
            </a:r>
            <a:endParaRPr lang="en-US" sz="1600" dirty="0"/>
          </a:p>
        </p:txBody>
      </p:sp>
      <p:sp>
        <p:nvSpPr>
          <p:cNvPr id="13" name="Text 11"/>
          <p:cNvSpPr/>
          <p:nvPr/>
        </p:nvSpPr>
        <p:spPr>
          <a:xfrm>
            <a:off x="5056632" y="2139696"/>
            <a:ext cx="2569464" cy="658368"/>
          </a:xfrm>
          <a:prstGeom prst="rect">
            <a:avLst/>
          </a:prstGeom>
          <a:noFill/>
          <a:ln/>
        </p:spPr>
        <p:txBody>
          <a:bodyPr wrap="square" lIns="0" tIns="0" rIns="0" bIns="0" rtlCol="0" anchor="t"/>
          <a:lstStyle/>
          <a:p>
            <a:pPr indent="0" marL="0">
              <a:lnSpc>
                <a:spcPts val="1450"/>
              </a:lnSpc>
              <a:buNone/>
            </a:pPr>
            <a:r>
              <a:rPr lang="en-US" sz="1100" dirty="0">
                <a:solidFill>
                  <a:srgbClr val="5F7192"/>
                </a:solidFill>
                <a:latin typeface="Calibri" pitchFamily="34" charset="0"/>
                <a:ea typeface="Calibri" pitchFamily="34" charset="-122"/>
                <a:cs typeface="Calibri" pitchFamily="34" charset="-120"/>
              </a:rPr>
              <a:t>Service contracts · collision · asteroid splitting</a:t>
            </a:r>
            <a:endParaRPr lang="en-US" sz="1100" dirty="0"/>
          </a:p>
        </p:txBody>
      </p:sp>
      <p:sp>
        <p:nvSpPr>
          <p:cNvPr id="14" name="Shape 12"/>
          <p:cNvSpPr/>
          <p:nvPr/>
        </p:nvSpPr>
        <p:spPr>
          <a:xfrm>
            <a:off x="8110728" y="1572768"/>
            <a:ext cx="3538728" cy="1399032"/>
          </a:xfrm>
          <a:prstGeom prst="roundRect">
            <a:avLst>
              <a:gd name="adj" fmla="val 3922"/>
            </a:avLst>
          </a:prstGeom>
          <a:solidFill>
            <a:srgbClr val="F1F5FB"/>
          </a:solidFill>
          <a:ln w="12700">
            <a:solidFill>
              <a:srgbClr val="DEE7F3"/>
            </a:solidFill>
            <a:prstDash val="solid"/>
          </a:ln>
          <a:effectLst>
            <a:outerShdw sx="100000" sy="100000" kx="0" ky="0" algn="bl" rotWithShape="0" blurRad="127000" dist="25400" dir="5400000">
              <a:srgbClr val="8FA3C4">
                <a:alpha val="28000"/>
              </a:srgbClr>
            </a:outerShdw>
          </a:effectLst>
        </p:spPr>
      </p:sp>
      <p:sp>
        <p:nvSpPr>
          <p:cNvPr id="15" name="Shape 13"/>
          <p:cNvSpPr/>
          <p:nvPr/>
        </p:nvSpPr>
        <p:spPr>
          <a:xfrm>
            <a:off x="8330184" y="1810512"/>
            <a:ext cx="402336" cy="402336"/>
          </a:xfrm>
          <a:prstGeom prst="ellipse">
            <a:avLst/>
          </a:prstGeom>
          <a:solidFill>
            <a:srgbClr val="18213D"/>
          </a:solidFill>
          <a:ln/>
        </p:spPr>
      </p:sp>
      <p:sp>
        <p:nvSpPr>
          <p:cNvPr id="16" name="Text 14"/>
          <p:cNvSpPr/>
          <p:nvPr/>
        </p:nvSpPr>
        <p:spPr>
          <a:xfrm>
            <a:off x="8330184" y="1810512"/>
            <a:ext cx="402336" cy="402336"/>
          </a:xfrm>
          <a:prstGeom prst="rect">
            <a:avLst/>
          </a:prstGeom>
          <a:noFill/>
          <a:ln/>
        </p:spPr>
        <p:txBody>
          <a:bodyPr wrap="square" lIns="0" tIns="0" rIns="0" bIns="0" rtlCol="0" anchor="ctr"/>
          <a:lstStyle/>
          <a:p>
            <a:pPr algn="ctr" indent="0" marL="0">
              <a:buNone/>
            </a:pPr>
            <a:r>
              <a:rPr lang="en-US" sz="1600" b="1" dirty="0">
                <a:solidFill>
                  <a:srgbClr val="F5A623"/>
                </a:solidFill>
                <a:latin typeface="Cambria" pitchFamily="34" charset="0"/>
                <a:ea typeface="Cambria" pitchFamily="34" charset="-122"/>
                <a:cs typeface="Cambria" pitchFamily="34" charset="-120"/>
              </a:rPr>
              <a:t>3</a:t>
            </a:r>
            <a:endParaRPr lang="en-US" sz="1600" dirty="0"/>
          </a:p>
        </p:txBody>
      </p:sp>
      <p:sp>
        <p:nvSpPr>
          <p:cNvPr id="17" name="Text 15"/>
          <p:cNvSpPr/>
          <p:nvPr/>
        </p:nvSpPr>
        <p:spPr>
          <a:xfrm>
            <a:off x="8860536" y="1819656"/>
            <a:ext cx="2569464" cy="292608"/>
          </a:xfrm>
          <a:prstGeom prst="rect">
            <a:avLst/>
          </a:prstGeom>
          <a:noFill/>
          <a:ln/>
        </p:spPr>
        <p:txBody>
          <a:bodyPr wrap="square" lIns="0" tIns="0" rIns="0" bIns="0" rtlCol="0" anchor="ctr"/>
          <a:lstStyle/>
          <a:p>
            <a:pPr indent="0" marL="0">
              <a:buNone/>
            </a:pPr>
            <a:r>
              <a:rPr lang="en-US" sz="1600" b="1" dirty="0">
                <a:solidFill>
                  <a:srgbClr val="18213D"/>
                </a:solidFill>
                <a:latin typeface="Cambria" pitchFamily="34" charset="0"/>
                <a:ea typeface="Cambria" pitchFamily="34" charset="-122"/>
                <a:cs typeface="Cambria" pitchFamily="34" charset="-120"/>
              </a:rPr>
              <a:t>JavaLab</a:t>
            </a:r>
            <a:endParaRPr lang="en-US" sz="1600" dirty="0"/>
          </a:p>
        </p:txBody>
      </p:sp>
      <p:sp>
        <p:nvSpPr>
          <p:cNvPr id="18" name="Text 16"/>
          <p:cNvSpPr/>
          <p:nvPr/>
        </p:nvSpPr>
        <p:spPr>
          <a:xfrm>
            <a:off x="8860536" y="2139696"/>
            <a:ext cx="2569464" cy="658368"/>
          </a:xfrm>
          <a:prstGeom prst="rect">
            <a:avLst/>
          </a:prstGeom>
          <a:noFill/>
          <a:ln/>
        </p:spPr>
        <p:txBody>
          <a:bodyPr wrap="square" lIns="0" tIns="0" rIns="0" bIns="0" rtlCol="0" anchor="t"/>
          <a:lstStyle/>
          <a:p>
            <a:pPr indent="0" marL="0">
              <a:lnSpc>
                <a:spcPts val="1450"/>
              </a:lnSpc>
              <a:buNone/>
            </a:pPr>
            <a:r>
              <a:rPr lang="en-US" sz="1100" dirty="0">
                <a:solidFill>
                  <a:srgbClr val="5F7192"/>
                </a:solidFill>
                <a:latin typeface="Calibri" pitchFamily="34" charset="0"/>
                <a:ea typeface="Calibri" pitchFamily="34" charset="-122"/>
                <a:cs typeface="Calibri" pitchFamily="34" charset="-120"/>
              </a:rPr>
              <a:t>ServiceLoader — the whiteboard component model</a:t>
            </a:r>
            <a:endParaRPr lang="en-US" sz="1100" dirty="0"/>
          </a:p>
        </p:txBody>
      </p:sp>
      <p:sp>
        <p:nvSpPr>
          <p:cNvPr id="19" name="Shape 17"/>
          <p:cNvSpPr/>
          <p:nvPr/>
        </p:nvSpPr>
        <p:spPr>
          <a:xfrm>
            <a:off x="502920" y="3209544"/>
            <a:ext cx="3538728" cy="1399032"/>
          </a:xfrm>
          <a:prstGeom prst="roundRect">
            <a:avLst>
              <a:gd name="adj" fmla="val 3922"/>
            </a:avLst>
          </a:prstGeom>
          <a:solidFill>
            <a:srgbClr val="F1F5FB"/>
          </a:solidFill>
          <a:ln w="12700">
            <a:solidFill>
              <a:srgbClr val="DEE7F3"/>
            </a:solidFill>
            <a:prstDash val="solid"/>
          </a:ln>
          <a:effectLst>
            <a:outerShdw sx="100000" sy="100000" kx="0" ky="0" algn="bl" rotWithShape="0" blurRad="127000" dist="25400" dir="5400000">
              <a:srgbClr val="8FA3C4">
                <a:alpha val="28000"/>
              </a:srgbClr>
            </a:outerShdw>
          </a:effectLst>
        </p:spPr>
      </p:sp>
      <p:sp>
        <p:nvSpPr>
          <p:cNvPr id="20" name="Shape 18"/>
          <p:cNvSpPr/>
          <p:nvPr/>
        </p:nvSpPr>
        <p:spPr>
          <a:xfrm>
            <a:off x="722376" y="3447288"/>
            <a:ext cx="402336" cy="402336"/>
          </a:xfrm>
          <a:prstGeom prst="ellipse">
            <a:avLst/>
          </a:prstGeom>
          <a:solidFill>
            <a:srgbClr val="18213D"/>
          </a:solidFill>
          <a:ln/>
        </p:spPr>
      </p:sp>
      <p:sp>
        <p:nvSpPr>
          <p:cNvPr id="21" name="Text 19"/>
          <p:cNvSpPr/>
          <p:nvPr/>
        </p:nvSpPr>
        <p:spPr>
          <a:xfrm>
            <a:off x="722376" y="3447288"/>
            <a:ext cx="402336" cy="402336"/>
          </a:xfrm>
          <a:prstGeom prst="rect">
            <a:avLst/>
          </a:prstGeom>
          <a:noFill/>
          <a:ln/>
        </p:spPr>
        <p:txBody>
          <a:bodyPr wrap="square" lIns="0" tIns="0" rIns="0" bIns="0" rtlCol="0" anchor="ctr"/>
          <a:lstStyle/>
          <a:p>
            <a:pPr algn="ctr" indent="0" marL="0">
              <a:buNone/>
            </a:pPr>
            <a:r>
              <a:rPr lang="en-US" sz="1600" b="1" dirty="0">
                <a:solidFill>
                  <a:srgbClr val="F5A623"/>
                </a:solidFill>
                <a:latin typeface="Cambria" pitchFamily="34" charset="0"/>
                <a:ea typeface="Cambria" pitchFamily="34" charset="-122"/>
                <a:cs typeface="Cambria" pitchFamily="34" charset="-120"/>
              </a:rPr>
              <a:t>4</a:t>
            </a:r>
            <a:endParaRPr lang="en-US" sz="1600" dirty="0"/>
          </a:p>
        </p:txBody>
      </p:sp>
      <p:sp>
        <p:nvSpPr>
          <p:cNvPr id="22" name="Text 20"/>
          <p:cNvSpPr/>
          <p:nvPr/>
        </p:nvSpPr>
        <p:spPr>
          <a:xfrm>
            <a:off x="1252728" y="3456432"/>
            <a:ext cx="2569464" cy="292608"/>
          </a:xfrm>
          <a:prstGeom prst="rect">
            <a:avLst/>
          </a:prstGeom>
          <a:noFill/>
          <a:ln/>
        </p:spPr>
        <p:txBody>
          <a:bodyPr wrap="square" lIns="0" tIns="0" rIns="0" bIns="0" rtlCol="0" anchor="ctr"/>
          <a:lstStyle/>
          <a:p>
            <a:pPr indent="0" marL="0">
              <a:buNone/>
            </a:pPr>
            <a:r>
              <a:rPr lang="en-US" sz="1600" b="1" dirty="0">
                <a:solidFill>
                  <a:srgbClr val="18213D"/>
                </a:solidFill>
                <a:latin typeface="Cambria" pitchFamily="34" charset="0"/>
                <a:ea typeface="Cambria" pitchFamily="34" charset="-122"/>
                <a:cs typeface="Cambria" pitchFamily="34" charset="-120"/>
              </a:rPr>
              <a:t>JPMSLab 1</a:t>
            </a:r>
            <a:endParaRPr lang="en-US" sz="1600" dirty="0"/>
          </a:p>
        </p:txBody>
      </p:sp>
      <p:sp>
        <p:nvSpPr>
          <p:cNvPr id="23" name="Text 21"/>
          <p:cNvSpPr/>
          <p:nvPr/>
        </p:nvSpPr>
        <p:spPr>
          <a:xfrm>
            <a:off x="1252728" y="3776472"/>
            <a:ext cx="2569464" cy="658368"/>
          </a:xfrm>
          <a:prstGeom prst="rect">
            <a:avLst/>
          </a:prstGeom>
          <a:noFill/>
          <a:ln/>
        </p:spPr>
        <p:txBody>
          <a:bodyPr wrap="square" lIns="0" tIns="0" rIns="0" bIns="0" rtlCol="0" anchor="t"/>
          <a:lstStyle/>
          <a:p>
            <a:pPr indent="0" marL="0">
              <a:lnSpc>
                <a:spcPts val="1450"/>
              </a:lnSpc>
              <a:buNone/>
            </a:pPr>
            <a:r>
              <a:rPr lang="en-US" sz="1100" dirty="0">
                <a:solidFill>
                  <a:srgbClr val="5F7192"/>
                </a:solidFill>
                <a:latin typeface="Calibri" pitchFamily="34" charset="0"/>
                <a:ea typeface="Calibri" pitchFamily="34" charset="-122"/>
                <a:cs typeface="Calibri" pitchFamily="34" charset="-120"/>
              </a:rPr>
              <a:t>module-info.java: requires and exports</a:t>
            </a:r>
            <a:endParaRPr lang="en-US" sz="1100" dirty="0"/>
          </a:p>
        </p:txBody>
      </p:sp>
      <p:sp>
        <p:nvSpPr>
          <p:cNvPr id="24" name="Shape 22"/>
          <p:cNvSpPr/>
          <p:nvPr/>
        </p:nvSpPr>
        <p:spPr>
          <a:xfrm>
            <a:off x="4306824" y="3209544"/>
            <a:ext cx="3538728" cy="1399032"/>
          </a:xfrm>
          <a:prstGeom prst="roundRect">
            <a:avLst>
              <a:gd name="adj" fmla="val 3922"/>
            </a:avLst>
          </a:prstGeom>
          <a:solidFill>
            <a:srgbClr val="F1F5FB"/>
          </a:solidFill>
          <a:ln w="12700">
            <a:solidFill>
              <a:srgbClr val="DEE7F3"/>
            </a:solidFill>
            <a:prstDash val="solid"/>
          </a:ln>
          <a:effectLst>
            <a:outerShdw sx="100000" sy="100000" kx="0" ky="0" algn="bl" rotWithShape="0" blurRad="127000" dist="25400" dir="5400000">
              <a:srgbClr val="8FA3C4">
                <a:alpha val="28000"/>
              </a:srgbClr>
            </a:outerShdw>
          </a:effectLst>
        </p:spPr>
      </p:sp>
      <p:sp>
        <p:nvSpPr>
          <p:cNvPr id="25" name="Shape 23"/>
          <p:cNvSpPr/>
          <p:nvPr/>
        </p:nvSpPr>
        <p:spPr>
          <a:xfrm>
            <a:off x="4526280" y="3447288"/>
            <a:ext cx="402336" cy="402336"/>
          </a:xfrm>
          <a:prstGeom prst="ellipse">
            <a:avLst/>
          </a:prstGeom>
          <a:solidFill>
            <a:srgbClr val="18213D"/>
          </a:solidFill>
          <a:ln/>
        </p:spPr>
      </p:sp>
      <p:sp>
        <p:nvSpPr>
          <p:cNvPr id="26" name="Text 24"/>
          <p:cNvSpPr/>
          <p:nvPr/>
        </p:nvSpPr>
        <p:spPr>
          <a:xfrm>
            <a:off x="4526280" y="3447288"/>
            <a:ext cx="402336" cy="402336"/>
          </a:xfrm>
          <a:prstGeom prst="rect">
            <a:avLst/>
          </a:prstGeom>
          <a:noFill/>
          <a:ln/>
        </p:spPr>
        <p:txBody>
          <a:bodyPr wrap="square" lIns="0" tIns="0" rIns="0" bIns="0" rtlCol="0" anchor="ctr"/>
          <a:lstStyle/>
          <a:p>
            <a:pPr algn="ctr" indent="0" marL="0">
              <a:buNone/>
            </a:pPr>
            <a:r>
              <a:rPr lang="en-US" sz="1600" b="1" dirty="0">
                <a:solidFill>
                  <a:srgbClr val="F5A623"/>
                </a:solidFill>
                <a:latin typeface="Cambria" pitchFamily="34" charset="0"/>
                <a:ea typeface="Cambria" pitchFamily="34" charset="-122"/>
                <a:cs typeface="Cambria" pitchFamily="34" charset="-120"/>
              </a:rPr>
              <a:t>5</a:t>
            </a:r>
            <a:endParaRPr lang="en-US" sz="1600" dirty="0"/>
          </a:p>
        </p:txBody>
      </p:sp>
      <p:sp>
        <p:nvSpPr>
          <p:cNvPr id="27" name="Text 25"/>
          <p:cNvSpPr/>
          <p:nvPr/>
        </p:nvSpPr>
        <p:spPr>
          <a:xfrm>
            <a:off x="5056632" y="3456432"/>
            <a:ext cx="2569464" cy="292608"/>
          </a:xfrm>
          <a:prstGeom prst="rect">
            <a:avLst/>
          </a:prstGeom>
          <a:noFill/>
          <a:ln/>
        </p:spPr>
        <p:txBody>
          <a:bodyPr wrap="square" lIns="0" tIns="0" rIns="0" bIns="0" rtlCol="0" anchor="ctr"/>
          <a:lstStyle/>
          <a:p>
            <a:pPr indent="0" marL="0">
              <a:buNone/>
            </a:pPr>
            <a:r>
              <a:rPr lang="en-US" sz="1600" b="1" dirty="0">
                <a:solidFill>
                  <a:srgbClr val="18213D"/>
                </a:solidFill>
                <a:latin typeface="Cambria" pitchFamily="34" charset="0"/>
                <a:ea typeface="Cambria" pitchFamily="34" charset="-122"/>
                <a:cs typeface="Cambria" pitchFamily="34" charset="-120"/>
              </a:rPr>
              <a:t>JPMSLab 2</a:t>
            </a:r>
            <a:endParaRPr lang="en-US" sz="1600" dirty="0"/>
          </a:p>
        </p:txBody>
      </p:sp>
      <p:sp>
        <p:nvSpPr>
          <p:cNvPr id="28" name="Text 26"/>
          <p:cNvSpPr/>
          <p:nvPr/>
        </p:nvSpPr>
        <p:spPr>
          <a:xfrm>
            <a:off x="5056632" y="3776472"/>
            <a:ext cx="2569464" cy="658368"/>
          </a:xfrm>
          <a:prstGeom prst="rect">
            <a:avLst/>
          </a:prstGeom>
          <a:noFill/>
          <a:ln/>
        </p:spPr>
        <p:txBody>
          <a:bodyPr wrap="square" lIns="0" tIns="0" rIns="0" bIns="0" rtlCol="0" anchor="t"/>
          <a:lstStyle/>
          <a:p>
            <a:pPr indent="0" marL="0">
              <a:lnSpc>
                <a:spcPts val="1450"/>
              </a:lnSpc>
              <a:buNone/>
            </a:pPr>
            <a:r>
              <a:rPr lang="en-US" sz="1100" dirty="0">
                <a:solidFill>
                  <a:srgbClr val="5F7192"/>
                </a:solidFill>
                <a:latin typeface="Calibri" pitchFamily="34" charset="0"/>
                <a:ea typeface="Calibri" pitchFamily="34" charset="-122"/>
                <a:cs typeface="Calibri" pitchFamily="34" charset="-120"/>
              </a:rPr>
              <a:t>module-info.java: provides ... with, and uses</a:t>
            </a:r>
            <a:endParaRPr lang="en-US" sz="1100" dirty="0"/>
          </a:p>
        </p:txBody>
      </p:sp>
      <p:sp>
        <p:nvSpPr>
          <p:cNvPr id="29" name="Shape 27"/>
          <p:cNvSpPr/>
          <p:nvPr/>
        </p:nvSpPr>
        <p:spPr>
          <a:xfrm>
            <a:off x="8110728" y="3209544"/>
            <a:ext cx="3538728" cy="1399032"/>
          </a:xfrm>
          <a:prstGeom prst="roundRect">
            <a:avLst>
              <a:gd name="adj" fmla="val 3922"/>
            </a:avLst>
          </a:prstGeom>
          <a:solidFill>
            <a:srgbClr val="F1F5FB"/>
          </a:solidFill>
          <a:ln w="12700">
            <a:solidFill>
              <a:srgbClr val="DEE7F3"/>
            </a:solidFill>
            <a:prstDash val="solid"/>
          </a:ln>
          <a:effectLst>
            <a:outerShdw sx="100000" sy="100000" kx="0" ky="0" algn="bl" rotWithShape="0" blurRad="127000" dist="25400" dir="5400000">
              <a:srgbClr val="8FA3C4">
                <a:alpha val="28000"/>
              </a:srgbClr>
            </a:outerShdw>
          </a:effectLst>
        </p:spPr>
      </p:sp>
      <p:sp>
        <p:nvSpPr>
          <p:cNvPr id="30" name="Shape 28"/>
          <p:cNvSpPr/>
          <p:nvPr/>
        </p:nvSpPr>
        <p:spPr>
          <a:xfrm>
            <a:off x="8330184" y="3447288"/>
            <a:ext cx="402336" cy="402336"/>
          </a:xfrm>
          <a:prstGeom prst="ellipse">
            <a:avLst/>
          </a:prstGeom>
          <a:solidFill>
            <a:srgbClr val="18213D"/>
          </a:solidFill>
          <a:ln/>
        </p:spPr>
      </p:sp>
      <p:sp>
        <p:nvSpPr>
          <p:cNvPr id="31" name="Text 29"/>
          <p:cNvSpPr/>
          <p:nvPr/>
        </p:nvSpPr>
        <p:spPr>
          <a:xfrm>
            <a:off x="8330184" y="3447288"/>
            <a:ext cx="402336" cy="402336"/>
          </a:xfrm>
          <a:prstGeom prst="rect">
            <a:avLst/>
          </a:prstGeom>
          <a:noFill/>
          <a:ln/>
        </p:spPr>
        <p:txBody>
          <a:bodyPr wrap="square" lIns="0" tIns="0" rIns="0" bIns="0" rtlCol="0" anchor="ctr"/>
          <a:lstStyle/>
          <a:p>
            <a:pPr algn="ctr" indent="0" marL="0">
              <a:buNone/>
            </a:pPr>
            <a:r>
              <a:rPr lang="en-US" sz="1600" b="1" dirty="0">
                <a:solidFill>
                  <a:srgbClr val="F5A623"/>
                </a:solidFill>
                <a:latin typeface="Cambria" pitchFamily="34" charset="0"/>
                <a:ea typeface="Cambria" pitchFamily="34" charset="-122"/>
                <a:cs typeface="Cambria" pitchFamily="34" charset="-120"/>
              </a:rPr>
              <a:t>6</a:t>
            </a:r>
            <a:endParaRPr lang="en-US" sz="1600" dirty="0"/>
          </a:p>
        </p:txBody>
      </p:sp>
      <p:sp>
        <p:nvSpPr>
          <p:cNvPr id="32" name="Text 30"/>
          <p:cNvSpPr/>
          <p:nvPr/>
        </p:nvSpPr>
        <p:spPr>
          <a:xfrm>
            <a:off x="8860536" y="3456432"/>
            <a:ext cx="2569464" cy="292608"/>
          </a:xfrm>
          <a:prstGeom prst="rect">
            <a:avLst/>
          </a:prstGeom>
          <a:noFill/>
          <a:ln/>
        </p:spPr>
        <p:txBody>
          <a:bodyPr wrap="square" lIns="0" tIns="0" rIns="0" bIns="0" rtlCol="0" anchor="ctr"/>
          <a:lstStyle/>
          <a:p>
            <a:pPr indent="0" marL="0">
              <a:buNone/>
            </a:pPr>
            <a:r>
              <a:rPr lang="en-US" sz="1600" b="1" dirty="0">
                <a:solidFill>
                  <a:srgbClr val="18213D"/>
                </a:solidFill>
                <a:latin typeface="Cambria" pitchFamily="34" charset="0"/>
                <a:ea typeface="Cambria" pitchFamily="34" charset="-122"/>
                <a:cs typeface="Cambria" pitchFamily="34" charset="-120"/>
              </a:rPr>
              <a:t>JPMSLab 3</a:t>
            </a:r>
            <a:endParaRPr lang="en-US" sz="1600" dirty="0"/>
          </a:p>
        </p:txBody>
      </p:sp>
      <p:sp>
        <p:nvSpPr>
          <p:cNvPr id="33" name="Text 31"/>
          <p:cNvSpPr/>
          <p:nvPr/>
        </p:nvSpPr>
        <p:spPr>
          <a:xfrm>
            <a:off x="8860536" y="3776472"/>
            <a:ext cx="2569464" cy="658368"/>
          </a:xfrm>
          <a:prstGeom prst="rect">
            <a:avLst/>
          </a:prstGeom>
          <a:noFill/>
          <a:ln/>
        </p:spPr>
        <p:txBody>
          <a:bodyPr wrap="square" lIns="0" tIns="0" rIns="0" bIns="0" rtlCol="0" anchor="t"/>
          <a:lstStyle/>
          <a:p>
            <a:pPr indent="0" marL="0">
              <a:lnSpc>
                <a:spcPts val="1450"/>
              </a:lnSpc>
              <a:buNone/>
            </a:pPr>
            <a:r>
              <a:rPr lang="en-US" sz="1100" dirty="0">
                <a:solidFill>
                  <a:srgbClr val="5F7192"/>
                </a:solidFill>
                <a:latin typeface="Calibri" pitchFamily="34" charset="0"/>
                <a:ea typeface="Calibri" pitchFamily="34" charset="-122"/>
                <a:cs typeface="Calibri" pitchFamily="34" charset="-120"/>
              </a:rPr>
              <a:t>Split packages resolved with a ModuleLayer</a:t>
            </a:r>
            <a:endParaRPr lang="en-US" sz="1100" dirty="0"/>
          </a:p>
        </p:txBody>
      </p:sp>
      <p:sp>
        <p:nvSpPr>
          <p:cNvPr id="34" name="Shape 32"/>
          <p:cNvSpPr/>
          <p:nvPr/>
        </p:nvSpPr>
        <p:spPr>
          <a:xfrm>
            <a:off x="502920" y="4846320"/>
            <a:ext cx="3538728" cy="1399032"/>
          </a:xfrm>
          <a:prstGeom prst="roundRect">
            <a:avLst>
              <a:gd name="adj" fmla="val 3922"/>
            </a:avLst>
          </a:prstGeom>
          <a:solidFill>
            <a:srgbClr val="F1F5FB"/>
          </a:solidFill>
          <a:ln w="12700">
            <a:solidFill>
              <a:srgbClr val="DEE7F3"/>
            </a:solidFill>
            <a:prstDash val="solid"/>
          </a:ln>
          <a:effectLst>
            <a:outerShdw sx="100000" sy="100000" kx="0" ky="0" algn="bl" rotWithShape="0" blurRad="127000" dist="25400" dir="5400000">
              <a:srgbClr val="8FA3C4">
                <a:alpha val="28000"/>
              </a:srgbClr>
            </a:outerShdw>
          </a:effectLst>
        </p:spPr>
      </p:sp>
      <p:sp>
        <p:nvSpPr>
          <p:cNvPr id="35" name="Shape 33"/>
          <p:cNvSpPr/>
          <p:nvPr/>
        </p:nvSpPr>
        <p:spPr>
          <a:xfrm>
            <a:off x="722376" y="5084064"/>
            <a:ext cx="402336" cy="402336"/>
          </a:xfrm>
          <a:prstGeom prst="ellipse">
            <a:avLst/>
          </a:prstGeom>
          <a:solidFill>
            <a:srgbClr val="18213D"/>
          </a:solidFill>
          <a:ln/>
        </p:spPr>
      </p:sp>
      <p:sp>
        <p:nvSpPr>
          <p:cNvPr id="36" name="Text 34"/>
          <p:cNvSpPr/>
          <p:nvPr/>
        </p:nvSpPr>
        <p:spPr>
          <a:xfrm>
            <a:off x="722376" y="5084064"/>
            <a:ext cx="402336" cy="402336"/>
          </a:xfrm>
          <a:prstGeom prst="rect">
            <a:avLst/>
          </a:prstGeom>
          <a:noFill/>
          <a:ln/>
        </p:spPr>
        <p:txBody>
          <a:bodyPr wrap="square" lIns="0" tIns="0" rIns="0" bIns="0" rtlCol="0" anchor="ctr"/>
          <a:lstStyle/>
          <a:p>
            <a:pPr algn="ctr" indent="0" marL="0">
              <a:buNone/>
            </a:pPr>
            <a:r>
              <a:rPr lang="en-US" sz="1600" b="1" dirty="0">
                <a:solidFill>
                  <a:srgbClr val="F5A623"/>
                </a:solidFill>
                <a:latin typeface="Cambria" pitchFamily="34" charset="0"/>
                <a:ea typeface="Cambria" pitchFamily="34" charset="-122"/>
                <a:cs typeface="Cambria" pitchFamily="34" charset="-120"/>
              </a:rPr>
              <a:t>7</a:t>
            </a:r>
            <a:endParaRPr lang="en-US" sz="1600" dirty="0"/>
          </a:p>
        </p:txBody>
      </p:sp>
      <p:sp>
        <p:nvSpPr>
          <p:cNvPr id="37" name="Text 35"/>
          <p:cNvSpPr/>
          <p:nvPr/>
        </p:nvSpPr>
        <p:spPr>
          <a:xfrm>
            <a:off x="1252728" y="5093208"/>
            <a:ext cx="2569464" cy="292608"/>
          </a:xfrm>
          <a:prstGeom prst="rect">
            <a:avLst/>
          </a:prstGeom>
          <a:noFill/>
          <a:ln/>
        </p:spPr>
        <p:txBody>
          <a:bodyPr wrap="square" lIns="0" tIns="0" rIns="0" bIns="0" rtlCol="0" anchor="ctr"/>
          <a:lstStyle/>
          <a:p>
            <a:pPr indent="0" marL="0">
              <a:buNone/>
            </a:pPr>
            <a:r>
              <a:rPr lang="en-US" sz="1600" b="1" dirty="0">
                <a:solidFill>
                  <a:srgbClr val="18213D"/>
                </a:solidFill>
                <a:latin typeface="Cambria" pitchFamily="34" charset="0"/>
                <a:ea typeface="Cambria" pitchFamily="34" charset="-122"/>
                <a:cs typeface="Cambria" pitchFamily="34" charset="-120"/>
              </a:rPr>
              <a:t>SpringLab</a:t>
            </a:r>
            <a:endParaRPr lang="en-US" sz="1600" dirty="0"/>
          </a:p>
        </p:txBody>
      </p:sp>
      <p:sp>
        <p:nvSpPr>
          <p:cNvPr id="38" name="Text 36"/>
          <p:cNvSpPr/>
          <p:nvPr/>
        </p:nvSpPr>
        <p:spPr>
          <a:xfrm>
            <a:off x="1252728" y="5413248"/>
            <a:ext cx="2569464" cy="658368"/>
          </a:xfrm>
          <a:prstGeom prst="rect">
            <a:avLst/>
          </a:prstGeom>
          <a:noFill/>
          <a:ln/>
        </p:spPr>
        <p:txBody>
          <a:bodyPr wrap="square" lIns="0" tIns="0" rIns="0" bIns="0" rtlCol="0" anchor="t"/>
          <a:lstStyle/>
          <a:p>
            <a:pPr indent="0" marL="0">
              <a:lnSpc>
                <a:spcPts val="1450"/>
              </a:lnSpc>
              <a:buNone/>
            </a:pPr>
            <a:r>
              <a:rPr lang="en-US" sz="1100" dirty="0">
                <a:solidFill>
                  <a:srgbClr val="5F7192"/>
                </a:solidFill>
                <a:latin typeface="Calibri" pitchFamily="34" charset="0"/>
                <a:ea typeface="Calibri" pitchFamily="34" charset="-122"/>
                <a:cs typeface="Calibri" pitchFamily="34" charset="-120"/>
              </a:rPr>
              <a:t>Spring container and dependency injection in Core</a:t>
            </a:r>
            <a:endParaRPr lang="en-US" sz="1100" dirty="0"/>
          </a:p>
        </p:txBody>
      </p:sp>
      <p:sp>
        <p:nvSpPr>
          <p:cNvPr id="39" name="Shape 37"/>
          <p:cNvSpPr/>
          <p:nvPr/>
        </p:nvSpPr>
        <p:spPr>
          <a:xfrm>
            <a:off x="4306824" y="4846320"/>
            <a:ext cx="3538728" cy="1399032"/>
          </a:xfrm>
          <a:prstGeom prst="roundRect">
            <a:avLst>
              <a:gd name="adj" fmla="val 3922"/>
            </a:avLst>
          </a:prstGeom>
          <a:solidFill>
            <a:srgbClr val="F1F5FB"/>
          </a:solidFill>
          <a:ln w="12700">
            <a:solidFill>
              <a:srgbClr val="DEE7F3"/>
            </a:solidFill>
            <a:prstDash val="solid"/>
          </a:ln>
          <a:effectLst>
            <a:outerShdw sx="100000" sy="100000" kx="0" ky="0" algn="bl" rotWithShape="0" blurRad="127000" dist="25400" dir="5400000">
              <a:srgbClr val="8FA3C4">
                <a:alpha val="28000"/>
              </a:srgbClr>
            </a:outerShdw>
          </a:effectLst>
        </p:spPr>
      </p:sp>
      <p:sp>
        <p:nvSpPr>
          <p:cNvPr id="40" name="Shape 38"/>
          <p:cNvSpPr/>
          <p:nvPr/>
        </p:nvSpPr>
        <p:spPr>
          <a:xfrm>
            <a:off x="4526280" y="5084064"/>
            <a:ext cx="402336" cy="402336"/>
          </a:xfrm>
          <a:prstGeom prst="ellipse">
            <a:avLst/>
          </a:prstGeom>
          <a:solidFill>
            <a:srgbClr val="18213D"/>
          </a:solidFill>
          <a:ln/>
        </p:spPr>
      </p:sp>
      <p:sp>
        <p:nvSpPr>
          <p:cNvPr id="41" name="Text 39"/>
          <p:cNvSpPr/>
          <p:nvPr/>
        </p:nvSpPr>
        <p:spPr>
          <a:xfrm>
            <a:off x="4526280" y="5084064"/>
            <a:ext cx="402336" cy="402336"/>
          </a:xfrm>
          <a:prstGeom prst="rect">
            <a:avLst/>
          </a:prstGeom>
          <a:noFill/>
          <a:ln/>
        </p:spPr>
        <p:txBody>
          <a:bodyPr wrap="square" lIns="0" tIns="0" rIns="0" bIns="0" rtlCol="0" anchor="ctr"/>
          <a:lstStyle/>
          <a:p>
            <a:pPr algn="ctr" indent="0" marL="0">
              <a:buNone/>
            </a:pPr>
            <a:r>
              <a:rPr lang="en-US" sz="1600" b="1" dirty="0">
                <a:solidFill>
                  <a:srgbClr val="F5A623"/>
                </a:solidFill>
                <a:latin typeface="Cambria" pitchFamily="34" charset="0"/>
                <a:ea typeface="Cambria" pitchFamily="34" charset="-122"/>
                <a:cs typeface="Cambria" pitchFamily="34" charset="-120"/>
              </a:rPr>
              <a:t>8</a:t>
            </a:r>
            <a:endParaRPr lang="en-US" sz="1600" dirty="0"/>
          </a:p>
        </p:txBody>
      </p:sp>
      <p:sp>
        <p:nvSpPr>
          <p:cNvPr id="42" name="Text 40"/>
          <p:cNvSpPr/>
          <p:nvPr/>
        </p:nvSpPr>
        <p:spPr>
          <a:xfrm>
            <a:off x="5056632" y="5093208"/>
            <a:ext cx="2569464" cy="292608"/>
          </a:xfrm>
          <a:prstGeom prst="rect">
            <a:avLst/>
          </a:prstGeom>
          <a:noFill/>
          <a:ln/>
        </p:spPr>
        <p:txBody>
          <a:bodyPr wrap="square" lIns="0" tIns="0" rIns="0" bIns="0" rtlCol="0" anchor="ctr"/>
          <a:lstStyle/>
          <a:p>
            <a:pPr indent="0" marL="0">
              <a:buNone/>
            </a:pPr>
            <a:r>
              <a:rPr lang="en-US" sz="1600" b="1" dirty="0">
                <a:solidFill>
                  <a:srgbClr val="18213D"/>
                </a:solidFill>
                <a:latin typeface="Cambria" pitchFamily="34" charset="0"/>
                <a:ea typeface="Cambria" pitchFamily="34" charset="-122"/>
                <a:cs typeface="Cambria" pitchFamily="34" charset="-120"/>
              </a:rPr>
              <a:t>MicroServiceLab</a:t>
            </a:r>
            <a:endParaRPr lang="en-US" sz="1600" dirty="0"/>
          </a:p>
        </p:txBody>
      </p:sp>
      <p:sp>
        <p:nvSpPr>
          <p:cNvPr id="43" name="Text 41"/>
          <p:cNvSpPr/>
          <p:nvPr/>
        </p:nvSpPr>
        <p:spPr>
          <a:xfrm>
            <a:off x="5056632" y="5413248"/>
            <a:ext cx="2569464" cy="658368"/>
          </a:xfrm>
          <a:prstGeom prst="rect">
            <a:avLst/>
          </a:prstGeom>
          <a:noFill/>
          <a:ln/>
        </p:spPr>
        <p:txBody>
          <a:bodyPr wrap="square" lIns="0" tIns="0" rIns="0" bIns="0" rtlCol="0" anchor="t"/>
          <a:lstStyle/>
          <a:p>
            <a:pPr indent="0" marL="0">
              <a:lnSpc>
                <a:spcPts val="1450"/>
              </a:lnSpc>
              <a:buNone/>
            </a:pPr>
            <a:r>
              <a:rPr lang="en-US" sz="1100" dirty="0">
                <a:solidFill>
                  <a:srgbClr val="5F7192"/>
                </a:solidFill>
                <a:latin typeface="Calibri" pitchFamily="34" charset="0"/>
                <a:ea typeface="Calibri" pitchFamily="34" charset="-122"/>
                <a:cs typeface="Calibri" pitchFamily="34" charset="-120"/>
              </a:rPr>
              <a:t>Spring Boot scoring REST API on port 8081</a:t>
            </a:r>
            <a:endParaRPr lang="en-US" sz="1100" dirty="0"/>
          </a:p>
        </p:txBody>
      </p:sp>
      <p:sp>
        <p:nvSpPr>
          <p:cNvPr id="44" name="Shape 42"/>
          <p:cNvSpPr/>
          <p:nvPr/>
        </p:nvSpPr>
        <p:spPr>
          <a:xfrm>
            <a:off x="8110728" y="4846320"/>
            <a:ext cx="3538728" cy="1399032"/>
          </a:xfrm>
          <a:prstGeom prst="roundRect">
            <a:avLst>
              <a:gd name="adj" fmla="val 3922"/>
            </a:avLst>
          </a:prstGeom>
          <a:solidFill>
            <a:srgbClr val="F1F5FB"/>
          </a:solidFill>
          <a:ln w="12700">
            <a:solidFill>
              <a:srgbClr val="DEE7F3"/>
            </a:solidFill>
            <a:prstDash val="solid"/>
          </a:ln>
          <a:effectLst>
            <a:outerShdw sx="100000" sy="100000" kx="0" ky="0" algn="bl" rotWithShape="0" blurRad="127000" dist="25400" dir="5400000">
              <a:srgbClr val="8FA3C4">
                <a:alpha val="28000"/>
              </a:srgbClr>
            </a:outerShdw>
          </a:effectLst>
        </p:spPr>
      </p:sp>
      <p:sp>
        <p:nvSpPr>
          <p:cNvPr id="45" name="Shape 43"/>
          <p:cNvSpPr/>
          <p:nvPr/>
        </p:nvSpPr>
        <p:spPr>
          <a:xfrm>
            <a:off x="8330184" y="5084064"/>
            <a:ext cx="402336" cy="402336"/>
          </a:xfrm>
          <a:prstGeom prst="ellipse">
            <a:avLst/>
          </a:prstGeom>
          <a:solidFill>
            <a:srgbClr val="18213D"/>
          </a:solidFill>
          <a:ln/>
        </p:spPr>
      </p:sp>
      <p:sp>
        <p:nvSpPr>
          <p:cNvPr id="46" name="Text 44"/>
          <p:cNvSpPr/>
          <p:nvPr/>
        </p:nvSpPr>
        <p:spPr>
          <a:xfrm>
            <a:off x="8330184" y="5084064"/>
            <a:ext cx="402336" cy="402336"/>
          </a:xfrm>
          <a:prstGeom prst="rect">
            <a:avLst/>
          </a:prstGeom>
          <a:noFill/>
          <a:ln/>
        </p:spPr>
        <p:txBody>
          <a:bodyPr wrap="square" lIns="0" tIns="0" rIns="0" bIns="0" rtlCol="0" anchor="ctr"/>
          <a:lstStyle/>
          <a:p>
            <a:pPr algn="ctr" indent="0" marL="0">
              <a:buNone/>
            </a:pPr>
            <a:r>
              <a:rPr lang="en-US" sz="1600" b="1" dirty="0">
                <a:solidFill>
                  <a:srgbClr val="F5A623"/>
                </a:solidFill>
                <a:latin typeface="Cambria" pitchFamily="34" charset="0"/>
                <a:ea typeface="Cambria" pitchFamily="34" charset="-122"/>
                <a:cs typeface="Cambria" pitchFamily="34" charset="-120"/>
              </a:rPr>
              <a:t>9</a:t>
            </a:r>
            <a:endParaRPr lang="en-US" sz="1600" dirty="0"/>
          </a:p>
        </p:txBody>
      </p:sp>
      <p:sp>
        <p:nvSpPr>
          <p:cNvPr id="47" name="Text 45"/>
          <p:cNvSpPr/>
          <p:nvPr/>
        </p:nvSpPr>
        <p:spPr>
          <a:xfrm>
            <a:off x="8860536" y="5093208"/>
            <a:ext cx="2569464" cy="292608"/>
          </a:xfrm>
          <a:prstGeom prst="rect">
            <a:avLst/>
          </a:prstGeom>
          <a:noFill/>
          <a:ln/>
        </p:spPr>
        <p:txBody>
          <a:bodyPr wrap="square" lIns="0" tIns="0" rIns="0" bIns="0" rtlCol="0" anchor="ctr"/>
          <a:lstStyle/>
          <a:p>
            <a:pPr indent="0" marL="0">
              <a:buNone/>
            </a:pPr>
            <a:r>
              <a:rPr lang="en-US" sz="1600" b="1" dirty="0">
                <a:solidFill>
                  <a:srgbClr val="18213D"/>
                </a:solidFill>
                <a:latin typeface="Cambria" pitchFamily="34" charset="0"/>
                <a:ea typeface="Cambria" pitchFamily="34" charset="-122"/>
                <a:cs typeface="Cambria" pitchFamily="34" charset="-120"/>
              </a:rPr>
              <a:t>TestLab</a:t>
            </a:r>
            <a:endParaRPr lang="en-US" sz="1600" dirty="0"/>
          </a:p>
        </p:txBody>
      </p:sp>
      <p:sp>
        <p:nvSpPr>
          <p:cNvPr id="48" name="Text 46"/>
          <p:cNvSpPr/>
          <p:nvPr/>
        </p:nvSpPr>
        <p:spPr>
          <a:xfrm>
            <a:off x="8860536" y="5413248"/>
            <a:ext cx="2569464" cy="658368"/>
          </a:xfrm>
          <a:prstGeom prst="rect">
            <a:avLst/>
          </a:prstGeom>
          <a:noFill/>
          <a:ln/>
        </p:spPr>
        <p:txBody>
          <a:bodyPr wrap="square" lIns="0" tIns="0" rIns="0" bIns="0" rtlCol="0" anchor="t"/>
          <a:lstStyle/>
          <a:p>
            <a:pPr indent="0" marL="0">
              <a:lnSpc>
                <a:spcPts val="1450"/>
              </a:lnSpc>
              <a:buNone/>
            </a:pPr>
            <a:r>
              <a:rPr lang="en-US" sz="1100" dirty="0">
                <a:solidFill>
                  <a:srgbClr val="5F7192"/>
                </a:solidFill>
                <a:latin typeface="Calibri" pitchFamily="34" charset="0"/>
                <a:ea typeface="Calibri" pitchFamily="34" charset="-122"/>
                <a:cs typeface="Calibri" pitchFamily="34" charset="-120"/>
              </a:rPr>
              <a:t>JUnit 5 and Mockito unit tests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457200"/>
            <a:ext cx="8229600" cy="603504"/>
          </a:xfrm>
          <a:prstGeom prst="rect">
            <a:avLst/>
          </a:prstGeom>
          <a:noFill/>
          <a:ln/>
        </p:spPr>
        <p:txBody>
          <a:bodyPr wrap="square" lIns="0" tIns="0" rIns="0" bIns="0" rtlCol="0" anchor="ctr"/>
          <a:lstStyle/>
          <a:p>
            <a:pPr indent="0" marL="0">
              <a:buNone/>
            </a:pPr>
            <a:r>
              <a:rPr lang="en-US" sz="3400" b="1" dirty="0">
                <a:solidFill>
                  <a:srgbClr val="18213D"/>
                </a:solidFill>
                <a:latin typeface="Cambria" pitchFamily="34" charset="0"/>
                <a:ea typeface="Cambria" pitchFamily="34" charset="-122"/>
                <a:cs typeface="Cambria" pitchFamily="34" charset="-120"/>
              </a:rPr>
              <a:t>System Architecture</a:t>
            </a:r>
            <a:endParaRPr lang="en-US" sz="3400" dirty="0"/>
          </a:p>
        </p:txBody>
      </p:sp>
      <p:sp>
        <p:nvSpPr>
          <p:cNvPr id="3" name="Text 1"/>
          <p:cNvSpPr/>
          <p:nvPr/>
        </p:nvSpPr>
        <p:spPr>
          <a:xfrm>
            <a:off x="502920" y="1042416"/>
            <a:ext cx="8229600" cy="310896"/>
          </a:xfrm>
          <a:prstGeom prst="rect">
            <a:avLst/>
          </a:prstGeom>
          <a:noFill/>
          <a:ln/>
        </p:spPr>
        <p:txBody>
          <a:bodyPr wrap="square" lIns="0" tIns="0" rIns="0" bIns="0" rtlCol="0" anchor="ctr"/>
          <a:lstStyle/>
          <a:p>
            <a:pPr indent="0" marL="0">
              <a:buNone/>
            </a:pPr>
            <a:r>
              <a:rPr lang="en-US" sz="1450" dirty="0">
                <a:solidFill>
                  <a:srgbClr val="5F7192"/>
                </a:solidFill>
                <a:latin typeface="Calibri" pitchFamily="34" charset="0"/>
                <a:ea typeface="Calibri" pitchFamily="34" charset="-122"/>
                <a:cs typeface="Calibri" pitchFamily="34" charset="-120"/>
              </a:rPr>
              <a:t>Two processes, two module layers, ten Maven modules</a:t>
            </a:r>
            <a:endParaRPr lang="en-US" sz="1450" dirty="0"/>
          </a:p>
        </p:txBody>
      </p:sp>
      <p:sp>
        <p:nvSpPr>
          <p:cNvPr id="4" name="Shape 2"/>
          <p:cNvSpPr/>
          <p:nvPr/>
        </p:nvSpPr>
        <p:spPr>
          <a:xfrm>
            <a:off x="502920" y="1627632"/>
            <a:ext cx="6903720" cy="859536"/>
          </a:xfrm>
          <a:prstGeom prst="roundRect">
            <a:avLst>
              <a:gd name="adj" fmla="val 6383"/>
            </a:avLst>
          </a:prstGeom>
          <a:solidFill>
            <a:srgbClr val="18213D"/>
          </a:solidFill>
          <a:ln w="12700">
            <a:solidFill>
              <a:srgbClr val="18213D"/>
            </a:solidFill>
            <a:prstDash val="solid"/>
          </a:ln>
          <a:effectLst>
            <a:outerShdw sx="100000" sy="100000" kx="0" ky="0" algn="bl" rotWithShape="0" blurRad="127000" dist="25400" dir="5400000">
              <a:srgbClr val="8FA3C4">
                <a:alpha val="28000"/>
              </a:srgbClr>
            </a:outerShdw>
          </a:effectLst>
        </p:spPr>
      </p:sp>
      <p:sp>
        <p:nvSpPr>
          <p:cNvPr id="5" name="Text 3"/>
          <p:cNvSpPr/>
          <p:nvPr/>
        </p:nvSpPr>
        <p:spPr>
          <a:xfrm>
            <a:off x="777240" y="1755648"/>
            <a:ext cx="6355080" cy="219456"/>
          </a:xfrm>
          <a:prstGeom prst="rect">
            <a:avLst/>
          </a:prstGeom>
          <a:noFill/>
          <a:ln/>
        </p:spPr>
        <p:txBody>
          <a:bodyPr wrap="square" lIns="0" tIns="0" rIns="0" bIns="0" rtlCol="0" anchor="ctr"/>
          <a:lstStyle/>
          <a:p>
            <a:pPr indent="0" marL="0">
              <a:buNone/>
            </a:pPr>
            <a:r>
              <a:rPr lang="en-US" sz="1000" b="1" spc="180" kern="0" dirty="0">
                <a:solidFill>
                  <a:srgbClr val="F5A623"/>
                </a:solidFill>
                <a:latin typeface="Calibri" pitchFamily="34" charset="0"/>
                <a:ea typeface="Calibri" pitchFamily="34" charset="-122"/>
                <a:cs typeface="Calibri" pitchFamily="34" charset="-120"/>
              </a:rPr>
              <a:t>SCORING PROCESS  ·  PORT 8081</a:t>
            </a:r>
            <a:endParaRPr lang="en-US" sz="1000" dirty="0"/>
          </a:p>
        </p:txBody>
      </p:sp>
      <p:sp>
        <p:nvSpPr>
          <p:cNvPr id="6" name="Text 4"/>
          <p:cNvSpPr/>
          <p:nvPr/>
        </p:nvSpPr>
        <p:spPr>
          <a:xfrm>
            <a:off x="777240" y="2002536"/>
            <a:ext cx="6355080" cy="329184"/>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Spring Boot  —  ScoreController  —  /api/score</a:t>
            </a:r>
            <a:endParaRPr lang="en-US" sz="1500" dirty="0"/>
          </a:p>
        </p:txBody>
      </p:sp>
      <p:sp>
        <p:nvSpPr>
          <p:cNvPr id="7" name="Shape 5"/>
          <p:cNvSpPr/>
          <p:nvPr/>
        </p:nvSpPr>
        <p:spPr>
          <a:xfrm>
            <a:off x="3781044" y="2560320"/>
            <a:ext cx="347472" cy="402336"/>
          </a:xfrm>
          <a:prstGeom prst="upDownArrow">
            <a:avLst/>
          </a:prstGeom>
          <a:solidFill>
            <a:srgbClr val="F5A623"/>
          </a:solidFill>
          <a:ln w="12700">
            <a:solidFill>
              <a:srgbClr val="F5A623"/>
            </a:solidFill>
            <a:prstDash val="solid"/>
          </a:ln>
        </p:spPr>
      </p:sp>
      <p:sp>
        <p:nvSpPr>
          <p:cNvPr id="8" name="Text 6"/>
          <p:cNvSpPr/>
          <p:nvPr/>
        </p:nvSpPr>
        <p:spPr>
          <a:xfrm>
            <a:off x="4247388" y="2633472"/>
            <a:ext cx="2926080" cy="256032"/>
          </a:xfrm>
          <a:prstGeom prst="rect">
            <a:avLst/>
          </a:prstGeom>
          <a:noFill/>
          <a:ln/>
        </p:spPr>
        <p:txBody>
          <a:bodyPr wrap="square" lIns="0" tIns="0" rIns="0" bIns="0" rtlCol="0" anchor="ctr"/>
          <a:lstStyle/>
          <a:p>
            <a:pPr indent="0" marL="0">
              <a:buNone/>
            </a:pPr>
            <a:r>
              <a:rPr lang="en-US" sz="1150" b="1" dirty="0">
                <a:solidFill>
                  <a:srgbClr val="5F7192"/>
                </a:solidFill>
                <a:latin typeface="Calibri" pitchFamily="34" charset="0"/>
                <a:ea typeface="Calibri" pitchFamily="34" charset="-122"/>
                <a:cs typeface="Calibri" pitchFamily="34" charset="-120"/>
              </a:rPr>
              <a:t>HTTP  ·  RestTemplate</a:t>
            </a:r>
            <a:endParaRPr lang="en-US" sz="1150" dirty="0"/>
          </a:p>
        </p:txBody>
      </p:sp>
      <p:sp>
        <p:nvSpPr>
          <p:cNvPr id="9" name="Shape 7"/>
          <p:cNvSpPr/>
          <p:nvPr/>
        </p:nvSpPr>
        <p:spPr>
          <a:xfrm>
            <a:off x="502920" y="3035808"/>
            <a:ext cx="6903720" cy="1170432"/>
          </a:xfrm>
          <a:prstGeom prst="roundRect">
            <a:avLst>
              <a:gd name="adj" fmla="val 4688"/>
            </a:avLst>
          </a:prstGeom>
          <a:solidFill>
            <a:srgbClr val="F1F5FB"/>
          </a:solidFill>
          <a:ln w="12700">
            <a:solidFill>
              <a:srgbClr val="DEE7F3"/>
            </a:solidFill>
            <a:prstDash val="solid"/>
          </a:ln>
          <a:effectLst>
            <a:outerShdw sx="100000" sy="100000" kx="0" ky="0" algn="bl" rotWithShape="0" blurRad="127000" dist="25400" dir="5400000">
              <a:srgbClr val="8FA3C4">
                <a:alpha val="28000"/>
              </a:srgbClr>
            </a:outerShdw>
          </a:effectLst>
        </p:spPr>
      </p:sp>
      <p:sp>
        <p:nvSpPr>
          <p:cNvPr id="10" name="Text 8"/>
          <p:cNvSpPr/>
          <p:nvPr/>
        </p:nvSpPr>
        <p:spPr>
          <a:xfrm>
            <a:off x="777240" y="3154680"/>
            <a:ext cx="6355080" cy="219456"/>
          </a:xfrm>
          <a:prstGeom prst="rect">
            <a:avLst/>
          </a:prstGeom>
          <a:noFill/>
          <a:ln/>
        </p:spPr>
        <p:txBody>
          <a:bodyPr wrap="square" lIns="0" tIns="0" rIns="0" bIns="0" rtlCol="0" anchor="ctr"/>
          <a:lstStyle/>
          <a:p>
            <a:pPr indent="0" marL="0">
              <a:buNone/>
            </a:pPr>
            <a:r>
              <a:rPr lang="en-US" sz="1000" b="1" spc="180" kern="0" dirty="0">
                <a:solidFill>
                  <a:srgbClr val="3A5A8C"/>
                </a:solidFill>
                <a:latin typeface="Calibri" pitchFamily="34" charset="0"/>
                <a:ea typeface="Calibri" pitchFamily="34" charset="-122"/>
                <a:cs typeface="Calibri" pitchFamily="34" charset="-120"/>
              </a:rPr>
              <a:t>BOOT MODULE LAYER  ·  mods-mvn/</a:t>
            </a:r>
            <a:endParaRPr lang="en-US" sz="1000" dirty="0"/>
          </a:p>
        </p:txBody>
      </p:sp>
      <p:sp>
        <p:nvSpPr>
          <p:cNvPr id="11" name="Shape 9"/>
          <p:cNvSpPr/>
          <p:nvPr/>
        </p:nvSpPr>
        <p:spPr>
          <a:xfrm>
            <a:off x="777240" y="3456432"/>
            <a:ext cx="1572768" cy="475488"/>
          </a:xfrm>
          <a:prstGeom prst="roundRect">
            <a:avLst>
              <a:gd name="adj" fmla="val 15385"/>
            </a:avLst>
          </a:prstGeom>
          <a:solidFill>
            <a:srgbClr val="18213D"/>
          </a:solidFill>
          <a:ln w="12700">
            <a:solidFill>
              <a:srgbClr val="18213D"/>
            </a:solidFill>
            <a:prstDash val="solid"/>
          </a:ln>
        </p:spPr>
      </p:sp>
      <p:sp>
        <p:nvSpPr>
          <p:cNvPr id="12" name="Text 10"/>
          <p:cNvSpPr/>
          <p:nvPr/>
        </p:nvSpPr>
        <p:spPr>
          <a:xfrm>
            <a:off x="777240" y="3456432"/>
            <a:ext cx="1572768" cy="47548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Core</a:t>
            </a:r>
            <a:endParaRPr lang="en-US" sz="1200" dirty="0"/>
          </a:p>
        </p:txBody>
      </p:sp>
      <p:sp>
        <p:nvSpPr>
          <p:cNvPr id="13" name="Shape 11"/>
          <p:cNvSpPr/>
          <p:nvPr/>
        </p:nvSpPr>
        <p:spPr>
          <a:xfrm>
            <a:off x="2478024" y="3456432"/>
            <a:ext cx="1572768" cy="475488"/>
          </a:xfrm>
          <a:prstGeom prst="roundRect">
            <a:avLst>
              <a:gd name="adj" fmla="val 15385"/>
            </a:avLst>
          </a:prstGeom>
          <a:solidFill>
            <a:srgbClr val="DCE6F5"/>
          </a:solidFill>
          <a:ln w="12700">
            <a:solidFill>
              <a:srgbClr val="C4D4EA"/>
            </a:solidFill>
            <a:prstDash val="solid"/>
          </a:ln>
        </p:spPr>
      </p:sp>
      <p:sp>
        <p:nvSpPr>
          <p:cNvPr id="14" name="Text 12"/>
          <p:cNvSpPr/>
          <p:nvPr/>
        </p:nvSpPr>
        <p:spPr>
          <a:xfrm>
            <a:off x="2478024" y="3456432"/>
            <a:ext cx="1572768" cy="475488"/>
          </a:xfrm>
          <a:prstGeom prst="rect">
            <a:avLst/>
          </a:prstGeom>
          <a:noFill/>
          <a:ln/>
        </p:spPr>
        <p:txBody>
          <a:bodyPr wrap="square" lIns="0" tIns="0" rIns="0" bIns="0" rtlCol="0" anchor="ctr"/>
          <a:lstStyle/>
          <a:p>
            <a:pPr algn="ctr" indent="0" marL="0">
              <a:buNone/>
            </a:pPr>
            <a:r>
              <a:rPr lang="en-US" sz="1200" b="1" dirty="0">
                <a:solidFill>
                  <a:srgbClr val="18213D"/>
                </a:solidFill>
                <a:latin typeface="Calibri" pitchFamily="34" charset="0"/>
                <a:ea typeface="Calibri" pitchFamily="34" charset="-122"/>
                <a:cs typeface="Calibri" pitchFamily="34" charset="-120"/>
              </a:rPr>
              <a:t>Common</a:t>
            </a:r>
            <a:endParaRPr lang="en-US" sz="1200" dirty="0"/>
          </a:p>
        </p:txBody>
      </p:sp>
      <p:sp>
        <p:nvSpPr>
          <p:cNvPr id="15" name="Shape 13"/>
          <p:cNvSpPr/>
          <p:nvPr/>
        </p:nvSpPr>
        <p:spPr>
          <a:xfrm>
            <a:off x="4178808" y="3456432"/>
            <a:ext cx="1572768" cy="475488"/>
          </a:xfrm>
          <a:prstGeom prst="roundRect">
            <a:avLst>
              <a:gd name="adj" fmla="val 15385"/>
            </a:avLst>
          </a:prstGeom>
          <a:solidFill>
            <a:srgbClr val="DCE6F5"/>
          </a:solidFill>
          <a:ln w="12700">
            <a:solidFill>
              <a:srgbClr val="C4D4EA"/>
            </a:solidFill>
            <a:prstDash val="solid"/>
          </a:ln>
        </p:spPr>
      </p:sp>
      <p:sp>
        <p:nvSpPr>
          <p:cNvPr id="16" name="Text 14"/>
          <p:cNvSpPr/>
          <p:nvPr/>
        </p:nvSpPr>
        <p:spPr>
          <a:xfrm>
            <a:off x="4178808" y="3456432"/>
            <a:ext cx="1572768" cy="475488"/>
          </a:xfrm>
          <a:prstGeom prst="rect">
            <a:avLst/>
          </a:prstGeom>
          <a:noFill/>
          <a:ln/>
        </p:spPr>
        <p:txBody>
          <a:bodyPr wrap="square" lIns="0" tIns="0" rIns="0" bIns="0" rtlCol="0" anchor="ctr"/>
          <a:lstStyle/>
          <a:p>
            <a:pPr algn="ctr" indent="0" marL="0">
              <a:buNone/>
            </a:pPr>
            <a:r>
              <a:rPr lang="en-US" sz="1200" b="1" dirty="0">
                <a:solidFill>
                  <a:srgbClr val="18213D"/>
                </a:solidFill>
                <a:latin typeface="Calibri" pitchFamily="34" charset="0"/>
                <a:ea typeface="Calibri" pitchFamily="34" charset="-122"/>
                <a:cs typeface="Calibri" pitchFamily="34" charset="-120"/>
              </a:rPr>
              <a:t>CommonBullet</a:t>
            </a:r>
            <a:endParaRPr lang="en-US" sz="1200" dirty="0"/>
          </a:p>
        </p:txBody>
      </p:sp>
      <p:sp>
        <p:nvSpPr>
          <p:cNvPr id="17" name="Shape 15"/>
          <p:cNvSpPr/>
          <p:nvPr/>
        </p:nvSpPr>
        <p:spPr>
          <a:xfrm>
            <a:off x="5879592" y="3456432"/>
            <a:ext cx="1572768" cy="475488"/>
          </a:xfrm>
          <a:prstGeom prst="roundRect">
            <a:avLst>
              <a:gd name="adj" fmla="val 15385"/>
            </a:avLst>
          </a:prstGeom>
          <a:solidFill>
            <a:srgbClr val="DCE6F5"/>
          </a:solidFill>
          <a:ln w="12700">
            <a:solidFill>
              <a:srgbClr val="C4D4EA"/>
            </a:solidFill>
            <a:prstDash val="solid"/>
          </a:ln>
        </p:spPr>
      </p:sp>
      <p:sp>
        <p:nvSpPr>
          <p:cNvPr id="18" name="Text 16"/>
          <p:cNvSpPr/>
          <p:nvPr/>
        </p:nvSpPr>
        <p:spPr>
          <a:xfrm>
            <a:off x="5879592" y="3456432"/>
            <a:ext cx="1572768" cy="475488"/>
          </a:xfrm>
          <a:prstGeom prst="rect">
            <a:avLst/>
          </a:prstGeom>
          <a:noFill/>
          <a:ln/>
        </p:spPr>
        <p:txBody>
          <a:bodyPr wrap="square" lIns="0" tIns="0" rIns="0" bIns="0" rtlCol="0" anchor="ctr"/>
          <a:lstStyle/>
          <a:p>
            <a:pPr algn="ctr" indent="0" marL="0">
              <a:buNone/>
            </a:pPr>
            <a:r>
              <a:rPr lang="en-US" sz="1200" b="1" dirty="0">
                <a:solidFill>
                  <a:srgbClr val="18213D"/>
                </a:solidFill>
                <a:latin typeface="Calibri" pitchFamily="34" charset="0"/>
                <a:ea typeface="Calibri" pitchFamily="34" charset="-122"/>
                <a:cs typeface="Calibri" pitchFamily="34" charset="-120"/>
              </a:rPr>
              <a:t>CommonAsteroids</a:t>
            </a:r>
            <a:endParaRPr lang="en-US" sz="1200" dirty="0"/>
          </a:p>
        </p:txBody>
      </p:sp>
      <p:sp>
        <p:nvSpPr>
          <p:cNvPr id="19" name="Shape 17"/>
          <p:cNvSpPr/>
          <p:nvPr/>
        </p:nvSpPr>
        <p:spPr>
          <a:xfrm>
            <a:off x="3781044" y="4279392"/>
            <a:ext cx="347472" cy="402336"/>
          </a:xfrm>
          <a:prstGeom prst="upArrow">
            <a:avLst/>
          </a:prstGeom>
          <a:solidFill>
            <a:srgbClr val="3A5A8C"/>
          </a:solidFill>
          <a:ln w="12700">
            <a:solidFill>
              <a:srgbClr val="3A5A8C"/>
            </a:solidFill>
            <a:prstDash val="solid"/>
          </a:ln>
        </p:spPr>
      </p:sp>
      <p:sp>
        <p:nvSpPr>
          <p:cNvPr id="20" name="Text 18"/>
          <p:cNvSpPr/>
          <p:nvPr/>
        </p:nvSpPr>
        <p:spPr>
          <a:xfrm>
            <a:off x="4247388" y="4352544"/>
            <a:ext cx="3840480" cy="256032"/>
          </a:xfrm>
          <a:prstGeom prst="rect">
            <a:avLst/>
          </a:prstGeom>
          <a:noFill/>
          <a:ln/>
        </p:spPr>
        <p:txBody>
          <a:bodyPr wrap="square" lIns="0" tIns="0" rIns="0" bIns="0" rtlCol="0" anchor="ctr"/>
          <a:lstStyle/>
          <a:p>
            <a:pPr indent="0" marL="0">
              <a:buNone/>
            </a:pPr>
            <a:r>
              <a:rPr lang="en-US" sz="1150" b="1" dirty="0">
                <a:solidFill>
                  <a:srgbClr val="5F7192"/>
                </a:solidFill>
                <a:latin typeface="Calibri" pitchFamily="34" charset="0"/>
                <a:ea typeface="Calibri" pitchFamily="34" charset="-122"/>
                <a:cs typeface="Calibri" pitchFamily="34" charset="-120"/>
              </a:rPr>
              <a:t>ServiceLocator  ·  defineModulesWithOneLoader</a:t>
            </a:r>
            <a:endParaRPr lang="en-US" sz="1150" dirty="0"/>
          </a:p>
        </p:txBody>
      </p:sp>
      <p:sp>
        <p:nvSpPr>
          <p:cNvPr id="21" name="Shape 19"/>
          <p:cNvSpPr/>
          <p:nvPr/>
        </p:nvSpPr>
        <p:spPr>
          <a:xfrm>
            <a:off x="502920" y="4754880"/>
            <a:ext cx="6903720" cy="1170432"/>
          </a:xfrm>
          <a:prstGeom prst="roundRect">
            <a:avLst>
              <a:gd name="adj" fmla="val 4688"/>
            </a:avLst>
          </a:prstGeom>
          <a:solidFill>
            <a:srgbClr val="FDF3E0"/>
          </a:solidFill>
          <a:ln w="12700">
            <a:solidFill>
              <a:srgbClr val="F2DCB4"/>
            </a:solidFill>
            <a:prstDash val="solid"/>
          </a:ln>
          <a:effectLst>
            <a:outerShdw sx="100000" sy="100000" kx="0" ky="0" algn="bl" rotWithShape="0" blurRad="127000" dist="25400" dir="5400000">
              <a:srgbClr val="8FA3C4">
                <a:alpha val="28000"/>
              </a:srgbClr>
            </a:outerShdw>
          </a:effectLst>
        </p:spPr>
      </p:sp>
      <p:sp>
        <p:nvSpPr>
          <p:cNvPr id="22" name="Text 20"/>
          <p:cNvSpPr/>
          <p:nvPr/>
        </p:nvSpPr>
        <p:spPr>
          <a:xfrm>
            <a:off x="777240" y="4873752"/>
            <a:ext cx="6355080" cy="219456"/>
          </a:xfrm>
          <a:prstGeom prst="rect">
            <a:avLst/>
          </a:prstGeom>
          <a:noFill/>
          <a:ln/>
        </p:spPr>
        <p:txBody>
          <a:bodyPr wrap="square" lIns="0" tIns="0" rIns="0" bIns="0" rtlCol="0" anchor="ctr"/>
          <a:lstStyle/>
          <a:p>
            <a:pPr indent="0" marL="0">
              <a:buNone/>
            </a:pPr>
            <a:r>
              <a:rPr lang="en-US" sz="1000" b="1" spc="180" kern="0" dirty="0">
                <a:solidFill>
                  <a:srgbClr val="B07A18"/>
                </a:solidFill>
                <a:latin typeface="Calibri" pitchFamily="34" charset="0"/>
                <a:ea typeface="Calibri" pitchFamily="34" charset="-122"/>
                <a:cs typeface="Calibri" pitchFamily="34" charset="-120"/>
              </a:rPr>
              <a:t>CHILD MODULE LAYER  ·  plugins/</a:t>
            </a:r>
            <a:endParaRPr lang="en-US" sz="1000" dirty="0"/>
          </a:p>
        </p:txBody>
      </p:sp>
      <p:sp>
        <p:nvSpPr>
          <p:cNvPr id="23" name="Shape 21"/>
          <p:cNvSpPr/>
          <p:nvPr/>
        </p:nvSpPr>
        <p:spPr>
          <a:xfrm>
            <a:off x="777240" y="5175504"/>
            <a:ext cx="1234440" cy="475488"/>
          </a:xfrm>
          <a:prstGeom prst="roundRect">
            <a:avLst>
              <a:gd name="adj" fmla="val 15385"/>
            </a:avLst>
          </a:prstGeom>
          <a:solidFill>
            <a:srgbClr val="FFFFFF"/>
          </a:solidFill>
          <a:ln w="19050">
            <a:solidFill>
              <a:srgbClr val="F5A623"/>
            </a:solidFill>
            <a:prstDash val="solid"/>
          </a:ln>
        </p:spPr>
      </p:sp>
      <p:sp>
        <p:nvSpPr>
          <p:cNvPr id="24" name="Text 22"/>
          <p:cNvSpPr/>
          <p:nvPr/>
        </p:nvSpPr>
        <p:spPr>
          <a:xfrm>
            <a:off x="777240" y="5175504"/>
            <a:ext cx="1234440" cy="475488"/>
          </a:xfrm>
          <a:prstGeom prst="rect">
            <a:avLst/>
          </a:prstGeom>
          <a:noFill/>
          <a:ln/>
        </p:spPr>
        <p:txBody>
          <a:bodyPr wrap="square" lIns="0" tIns="0" rIns="0" bIns="0" rtlCol="0" anchor="ctr"/>
          <a:lstStyle/>
          <a:p>
            <a:pPr algn="ctr" indent="0" marL="0">
              <a:buNone/>
            </a:pPr>
            <a:r>
              <a:rPr lang="en-US" sz="1150" b="1" dirty="0">
                <a:solidFill>
                  <a:srgbClr val="18213D"/>
                </a:solidFill>
                <a:latin typeface="Calibri" pitchFamily="34" charset="0"/>
                <a:ea typeface="Calibri" pitchFamily="34" charset="-122"/>
                <a:cs typeface="Calibri" pitchFamily="34" charset="-120"/>
              </a:rPr>
              <a:t>Player</a:t>
            </a:r>
            <a:endParaRPr lang="en-US" sz="1150" dirty="0"/>
          </a:p>
        </p:txBody>
      </p:sp>
      <p:sp>
        <p:nvSpPr>
          <p:cNvPr id="25" name="Shape 23"/>
          <p:cNvSpPr/>
          <p:nvPr/>
        </p:nvSpPr>
        <p:spPr>
          <a:xfrm>
            <a:off x="2121408" y="5175504"/>
            <a:ext cx="1234440" cy="475488"/>
          </a:xfrm>
          <a:prstGeom prst="roundRect">
            <a:avLst>
              <a:gd name="adj" fmla="val 15385"/>
            </a:avLst>
          </a:prstGeom>
          <a:solidFill>
            <a:srgbClr val="FFFFFF"/>
          </a:solidFill>
          <a:ln w="19050">
            <a:solidFill>
              <a:srgbClr val="F5A623"/>
            </a:solidFill>
            <a:prstDash val="solid"/>
          </a:ln>
        </p:spPr>
      </p:sp>
      <p:sp>
        <p:nvSpPr>
          <p:cNvPr id="26" name="Text 24"/>
          <p:cNvSpPr/>
          <p:nvPr/>
        </p:nvSpPr>
        <p:spPr>
          <a:xfrm>
            <a:off x="2121408" y="5175504"/>
            <a:ext cx="1234440" cy="475488"/>
          </a:xfrm>
          <a:prstGeom prst="rect">
            <a:avLst/>
          </a:prstGeom>
          <a:noFill/>
          <a:ln/>
        </p:spPr>
        <p:txBody>
          <a:bodyPr wrap="square" lIns="0" tIns="0" rIns="0" bIns="0" rtlCol="0" anchor="ctr"/>
          <a:lstStyle/>
          <a:p>
            <a:pPr algn="ctr" indent="0" marL="0">
              <a:buNone/>
            </a:pPr>
            <a:r>
              <a:rPr lang="en-US" sz="1150" b="1" dirty="0">
                <a:solidFill>
                  <a:srgbClr val="18213D"/>
                </a:solidFill>
                <a:latin typeface="Calibri" pitchFamily="34" charset="0"/>
                <a:ea typeface="Calibri" pitchFamily="34" charset="-122"/>
                <a:cs typeface="Calibri" pitchFamily="34" charset="-120"/>
              </a:rPr>
              <a:t>Enemy</a:t>
            </a:r>
            <a:endParaRPr lang="en-US" sz="1150" dirty="0"/>
          </a:p>
        </p:txBody>
      </p:sp>
      <p:sp>
        <p:nvSpPr>
          <p:cNvPr id="27" name="Shape 25"/>
          <p:cNvSpPr/>
          <p:nvPr/>
        </p:nvSpPr>
        <p:spPr>
          <a:xfrm>
            <a:off x="3465576" y="5175504"/>
            <a:ext cx="1234440" cy="475488"/>
          </a:xfrm>
          <a:prstGeom prst="roundRect">
            <a:avLst>
              <a:gd name="adj" fmla="val 15385"/>
            </a:avLst>
          </a:prstGeom>
          <a:solidFill>
            <a:srgbClr val="FFFFFF"/>
          </a:solidFill>
          <a:ln w="19050">
            <a:solidFill>
              <a:srgbClr val="F5A623"/>
            </a:solidFill>
            <a:prstDash val="solid"/>
          </a:ln>
        </p:spPr>
      </p:sp>
      <p:sp>
        <p:nvSpPr>
          <p:cNvPr id="28" name="Text 26"/>
          <p:cNvSpPr/>
          <p:nvPr/>
        </p:nvSpPr>
        <p:spPr>
          <a:xfrm>
            <a:off x="3465576" y="5175504"/>
            <a:ext cx="1234440" cy="475488"/>
          </a:xfrm>
          <a:prstGeom prst="rect">
            <a:avLst/>
          </a:prstGeom>
          <a:noFill/>
          <a:ln/>
        </p:spPr>
        <p:txBody>
          <a:bodyPr wrap="square" lIns="0" tIns="0" rIns="0" bIns="0" rtlCol="0" anchor="ctr"/>
          <a:lstStyle/>
          <a:p>
            <a:pPr algn="ctr" indent="0" marL="0">
              <a:buNone/>
            </a:pPr>
            <a:r>
              <a:rPr lang="en-US" sz="1150" b="1" dirty="0">
                <a:solidFill>
                  <a:srgbClr val="18213D"/>
                </a:solidFill>
                <a:latin typeface="Calibri" pitchFamily="34" charset="0"/>
                <a:ea typeface="Calibri" pitchFamily="34" charset="-122"/>
                <a:cs typeface="Calibri" pitchFamily="34" charset="-120"/>
              </a:rPr>
              <a:t>Bullet</a:t>
            </a:r>
            <a:endParaRPr lang="en-US" sz="1150" dirty="0"/>
          </a:p>
        </p:txBody>
      </p:sp>
      <p:sp>
        <p:nvSpPr>
          <p:cNvPr id="29" name="Shape 27"/>
          <p:cNvSpPr/>
          <p:nvPr/>
        </p:nvSpPr>
        <p:spPr>
          <a:xfrm>
            <a:off x="4809744" y="5175504"/>
            <a:ext cx="1234440" cy="475488"/>
          </a:xfrm>
          <a:prstGeom prst="roundRect">
            <a:avLst>
              <a:gd name="adj" fmla="val 15385"/>
            </a:avLst>
          </a:prstGeom>
          <a:solidFill>
            <a:srgbClr val="FFFFFF"/>
          </a:solidFill>
          <a:ln w="19050">
            <a:solidFill>
              <a:srgbClr val="F5A623"/>
            </a:solidFill>
            <a:prstDash val="solid"/>
          </a:ln>
        </p:spPr>
      </p:sp>
      <p:sp>
        <p:nvSpPr>
          <p:cNvPr id="30" name="Text 28"/>
          <p:cNvSpPr/>
          <p:nvPr/>
        </p:nvSpPr>
        <p:spPr>
          <a:xfrm>
            <a:off x="4809744" y="5175504"/>
            <a:ext cx="1234440" cy="475488"/>
          </a:xfrm>
          <a:prstGeom prst="rect">
            <a:avLst/>
          </a:prstGeom>
          <a:noFill/>
          <a:ln/>
        </p:spPr>
        <p:txBody>
          <a:bodyPr wrap="square" lIns="0" tIns="0" rIns="0" bIns="0" rtlCol="0" anchor="ctr"/>
          <a:lstStyle/>
          <a:p>
            <a:pPr algn="ctr" indent="0" marL="0">
              <a:buNone/>
            </a:pPr>
            <a:r>
              <a:rPr lang="en-US" sz="1150" b="1" dirty="0">
                <a:solidFill>
                  <a:srgbClr val="18213D"/>
                </a:solidFill>
                <a:latin typeface="Calibri" pitchFamily="34" charset="0"/>
                <a:ea typeface="Calibri" pitchFamily="34" charset="-122"/>
                <a:cs typeface="Calibri" pitchFamily="34" charset="-120"/>
              </a:rPr>
              <a:t>Asteroids</a:t>
            </a:r>
            <a:endParaRPr lang="en-US" sz="1150" dirty="0"/>
          </a:p>
        </p:txBody>
      </p:sp>
      <p:sp>
        <p:nvSpPr>
          <p:cNvPr id="31" name="Shape 29"/>
          <p:cNvSpPr/>
          <p:nvPr/>
        </p:nvSpPr>
        <p:spPr>
          <a:xfrm>
            <a:off x="6153912" y="5175504"/>
            <a:ext cx="1234440" cy="475488"/>
          </a:xfrm>
          <a:prstGeom prst="roundRect">
            <a:avLst>
              <a:gd name="adj" fmla="val 15385"/>
            </a:avLst>
          </a:prstGeom>
          <a:solidFill>
            <a:srgbClr val="FFFFFF"/>
          </a:solidFill>
          <a:ln w="19050">
            <a:solidFill>
              <a:srgbClr val="F5A623"/>
            </a:solidFill>
            <a:prstDash val="solid"/>
          </a:ln>
        </p:spPr>
      </p:sp>
      <p:sp>
        <p:nvSpPr>
          <p:cNvPr id="32" name="Text 30"/>
          <p:cNvSpPr/>
          <p:nvPr/>
        </p:nvSpPr>
        <p:spPr>
          <a:xfrm>
            <a:off x="6153912" y="5175504"/>
            <a:ext cx="1234440" cy="475488"/>
          </a:xfrm>
          <a:prstGeom prst="rect">
            <a:avLst/>
          </a:prstGeom>
          <a:noFill/>
          <a:ln/>
        </p:spPr>
        <p:txBody>
          <a:bodyPr wrap="square" lIns="0" tIns="0" rIns="0" bIns="0" rtlCol="0" anchor="ctr"/>
          <a:lstStyle/>
          <a:p>
            <a:pPr algn="ctr" indent="0" marL="0">
              <a:buNone/>
            </a:pPr>
            <a:r>
              <a:rPr lang="en-US" sz="1150" b="1" dirty="0">
                <a:solidFill>
                  <a:srgbClr val="18213D"/>
                </a:solidFill>
                <a:latin typeface="Calibri" pitchFamily="34" charset="0"/>
                <a:ea typeface="Calibri" pitchFamily="34" charset="-122"/>
                <a:cs typeface="Calibri" pitchFamily="34" charset="-120"/>
              </a:rPr>
              <a:t>Collision</a:t>
            </a:r>
            <a:endParaRPr lang="en-US" sz="1150" dirty="0"/>
          </a:p>
        </p:txBody>
      </p:sp>
      <p:sp>
        <p:nvSpPr>
          <p:cNvPr id="33" name="Shape 31"/>
          <p:cNvSpPr/>
          <p:nvPr/>
        </p:nvSpPr>
        <p:spPr>
          <a:xfrm>
            <a:off x="7772400" y="1627632"/>
            <a:ext cx="3886200" cy="4297680"/>
          </a:xfrm>
          <a:prstGeom prst="roundRect">
            <a:avLst>
              <a:gd name="adj" fmla="val 1412"/>
            </a:avLst>
          </a:prstGeom>
          <a:solidFill>
            <a:srgbClr val="F1F5FB"/>
          </a:solidFill>
          <a:ln w="12700">
            <a:solidFill>
              <a:srgbClr val="DEE7F3"/>
            </a:solidFill>
            <a:prstDash val="solid"/>
          </a:ln>
          <a:effectLst>
            <a:outerShdw sx="100000" sy="100000" kx="0" ky="0" algn="bl" rotWithShape="0" blurRad="127000" dist="25400" dir="5400000">
              <a:srgbClr val="8FA3C4">
                <a:alpha val="28000"/>
              </a:srgbClr>
            </a:outerShdw>
          </a:effectLst>
        </p:spPr>
      </p:sp>
      <p:sp>
        <p:nvSpPr>
          <p:cNvPr id="34" name="Text 32"/>
          <p:cNvSpPr/>
          <p:nvPr/>
        </p:nvSpPr>
        <p:spPr>
          <a:xfrm>
            <a:off x="8028432" y="1792224"/>
            <a:ext cx="3374136" cy="237744"/>
          </a:xfrm>
          <a:prstGeom prst="rect">
            <a:avLst/>
          </a:prstGeom>
          <a:noFill/>
          <a:ln/>
        </p:spPr>
        <p:txBody>
          <a:bodyPr wrap="square" lIns="0" tIns="0" rIns="0" bIns="0" rtlCol="0" anchor="ctr"/>
          <a:lstStyle/>
          <a:p>
            <a:pPr indent="0" marL="0">
              <a:buNone/>
            </a:pPr>
            <a:r>
              <a:rPr lang="en-US" sz="1050" b="1" spc="180" kern="0" dirty="0">
                <a:solidFill>
                  <a:srgbClr val="3A5A8C"/>
                </a:solidFill>
                <a:latin typeface="Calibri" pitchFamily="34" charset="0"/>
                <a:ea typeface="Calibri" pitchFamily="34" charset="-122"/>
                <a:cs typeface="Calibri" pitchFamily="34" charset="-120"/>
              </a:rPr>
              <a:t>WHY IT IS BUILT THIS WAY</a:t>
            </a:r>
            <a:endParaRPr lang="en-US" sz="1050" dirty="0"/>
          </a:p>
        </p:txBody>
      </p:sp>
      <p:sp>
        <p:nvSpPr>
          <p:cNvPr id="35" name="Text 33"/>
          <p:cNvSpPr/>
          <p:nvPr/>
        </p:nvSpPr>
        <p:spPr>
          <a:xfrm>
            <a:off x="8028432" y="2103120"/>
            <a:ext cx="3374136" cy="3657600"/>
          </a:xfrm>
          <a:prstGeom prst="rect">
            <a:avLst/>
          </a:prstGeom>
          <a:noFill/>
          <a:ln/>
        </p:spPr>
        <p:txBody>
          <a:bodyPr wrap="square" lIns="0" tIns="0" rIns="0" bIns="0" rtlCol="0" anchor="t"/>
          <a:lstStyle/>
          <a:p>
            <a:pPr marL="342900" indent="-342900">
              <a:lnSpc>
                <a:spcPts val="1584"/>
              </a:lnSpc>
              <a:spcAft>
                <a:spcPts val="600"/>
              </a:spcAft>
              <a:buSzPct val="100000"/>
              <a:buChar char="•"/>
            </a:pPr>
            <a:r>
              <a:rPr lang="en-US" sz="1200" dirty="0">
                <a:solidFill>
                  <a:srgbClr val="18213D"/>
                </a:solidFill>
                <a:latin typeface="Calibri" pitchFamily="34" charset="0"/>
                <a:ea typeface="Calibri" pitchFamily="34" charset="-122"/>
                <a:cs typeface="Calibri" pitchFamily="34" charset="-120"/>
              </a:rPr>
              <a:t>Core never requires Player, Enemy, Bullet, Asteroids or Collision — it only knows the interfaces in Common.</a:t>
            </a:r>
            <a:endParaRPr lang="en-US" sz="1200" dirty="0"/>
          </a:p>
          <a:p>
            <a:pPr marL="342900" indent="-342900">
              <a:lnSpc>
                <a:spcPts val="1584"/>
              </a:lnSpc>
              <a:spcAft>
                <a:spcPts val="600"/>
              </a:spcAft>
              <a:buSzPct val="100000"/>
              <a:buChar char="•"/>
            </a:pPr>
            <a:r>
              <a:rPr lang="en-US" sz="1200" dirty="0">
                <a:solidFill>
                  <a:srgbClr val="18213D"/>
                </a:solidFill>
                <a:latin typeface="Calibri" pitchFamily="34" charset="0"/>
                <a:ea typeface="Calibri" pitchFamily="34" charset="-122"/>
                <a:cs typeface="Calibri" pitchFamily="34" charset="-120"/>
              </a:rPr>
              <a:t>The five gameplay modules are found at runtime in plugins/ and resolved into their own ModuleLayer.</a:t>
            </a:r>
            <a:endParaRPr lang="en-US" sz="1200" dirty="0"/>
          </a:p>
          <a:p>
            <a:pPr marL="342900" indent="-342900">
              <a:lnSpc>
                <a:spcPts val="1584"/>
              </a:lnSpc>
              <a:spcAft>
                <a:spcPts val="600"/>
              </a:spcAft>
              <a:buSzPct val="100000"/>
              <a:buChar char="•"/>
            </a:pPr>
            <a:r>
              <a:rPr lang="en-US" sz="1200" dirty="0">
                <a:solidFill>
                  <a:srgbClr val="18213D"/>
                </a:solidFill>
                <a:latin typeface="Calibri" pitchFamily="34" charset="0"/>
                <a:ea typeface="Calibri" pitchFamily="34" charset="-122"/>
                <a:cs typeface="Calibri" pitchFamily="34" charset="-120"/>
              </a:rPr>
              <a:t>A plugin can be added, removed or swapped without recompiling Core.</a:t>
            </a:r>
            <a:endParaRPr lang="en-US" sz="1200" dirty="0"/>
          </a:p>
          <a:p>
            <a:pPr marL="342900" indent="-342900">
              <a:lnSpc>
                <a:spcPts val="1584"/>
              </a:lnSpc>
              <a:spcAft>
                <a:spcPts val="600"/>
              </a:spcAft>
              <a:buSzPct val="100000"/>
              <a:buChar char="•"/>
            </a:pPr>
            <a:r>
              <a:rPr lang="en-US" sz="1200" dirty="0">
                <a:solidFill>
                  <a:srgbClr val="18213D"/>
                </a:solidFill>
                <a:latin typeface="Calibri" pitchFamily="34" charset="0"/>
                <a:ea typeface="Calibri" pitchFamily="34" charset="-122"/>
                <a:cs typeface="Calibri" pitchFamily="34" charset="-120"/>
              </a:rPr>
              <a:t>Spring wires whatever ServiceLocator found into the Game object.</a:t>
            </a:r>
            <a:endParaRPr lang="en-US" sz="1200" dirty="0"/>
          </a:p>
          <a:p>
            <a:pPr marL="342900" indent="-342900">
              <a:lnSpc>
                <a:spcPts val="1584"/>
              </a:lnSpc>
              <a:spcAft>
                <a:spcPts val="600"/>
              </a:spcAft>
              <a:buSzPct val="100000"/>
              <a:buChar char="•"/>
            </a:pPr>
            <a:r>
              <a:rPr lang="en-US" sz="1200" dirty="0">
                <a:solidFill>
                  <a:srgbClr val="18213D"/>
                </a:solidFill>
                <a:latin typeface="Calibri" pitchFamily="34" charset="0"/>
                <a:ea typeface="Calibri" pitchFamily="34" charset="-122"/>
                <a:cs typeface="Calibri" pitchFamily="34" charset="-120"/>
              </a:rPr>
              <a:t>Scoring lives out of process — if it is down the game keeps running and retries quietly.</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10896"/>
            <a:ext cx="548640" cy="548640"/>
          </a:xfrm>
          <a:prstGeom prst="ellipse">
            <a:avLst/>
          </a:prstGeom>
          <a:solidFill>
            <a:srgbClr val="18213D"/>
          </a:solidFill>
          <a:ln/>
        </p:spPr>
      </p:sp>
      <p:sp>
        <p:nvSpPr>
          <p:cNvPr id="3" name="Text 1"/>
          <p:cNvSpPr/>
          <p:nvPr/>
        </p:nvSpPr>
        <p:spPr>
          <a:xfrm>
            <a:off x="502920" y="310896"/>
            <a:ext cx="548640" cy="548640"/>
          </a:xfrm>
          <a:prstGeom prst="rect">
            <a:avLst/>
          </a:prstGeom>
          <a:noFill/>
          <a:ln/>
        </p:spPr>
        <p:txBody>
          <a:bodyPr wrap="square" lIns="0" tIns="0" rIns="0" bIns="0" rtlCol="0" anchor="ctr"/>
          <a:lstStyle/>
          <a:p>
            <a:pPr algn="ctr" indent="0" marL="0">
              <a:buNone/>
            </a:pPr>
            <a:r>
              <a:rPr lang="en-US" sz="2100" b="1" dirty="0">
                <a:solidFill>
                  <a:srgbClr val="F5A623"/>
                </a:solidFill>
                <a:latin typeface="Cambria" pitchFamily="34" charset="0"/>
                <a:ea typeface="Cambria" pitchFamily="34" charset="-122"/>
                <a:cs typeface="Cambria" pitchFamily="34" charset="-120"/>
              </a:rPr>
              <a:t>1</a:t>
            </a:r>
            <a:endParaRPr lang="en-US" sz="2100" dirty="0"/>
          </a:p>
        </p:txBody>
      </p:sp>
      <p:sp>
        <p:nvSpPr>
          <p:cNvPr id="4" name="Text 2"/>
          <p:cNvSpPr/>
          <p:nvPr/>
        </p:nvSpPr>
        <p:spPr>
          <a:xfrm>
            <a:off x="1234440" y="329184"/>
            <a:ext cx="5943600" cy="237744"/>
          </a:xfrm>
          <a:prstGeom prst="rect">
            <a:avLst/>
          </a:prstGeom>
          <a:noFill/>
          <a:ln/>
        </p:spPr>
        <p:txBody>
          <a:bodyPr wrap="square" lIns="0" tIns="0" rIns="0" bIns="0" rtlCol="0" anchor="ctr"/>
          <a:lstStyle/>
          <a:p>
            <a:pPr indent="0" marL="0">
              <a:buNone/>
            </a:pPr>
            <a:r>
              <a:rPr lang="en-US" sz="1150" b="1" spc="220" kern="0" dirty="0">
                <a:solidFill>
                  <a:srgbClr val="5F7192"/>
                </a:solidFill>
                <a:latin typeface="Calibri" pitchFamily="34" charset="0"/>
                <a:ea typeface="Calibri" pitchFamily="34" charset="-122"/>
                <a:cs typeface="Calibri" pitchFamily="34" charset="-120"/>
              </a:rPr>
              <a:t>INTROLAB</a:t>
            </a:r>
            <a:endParaRPr lang="en-US" sz="1150" dirty="0"/>
          </a:p>
        </p:txBody>
      </p:sp>
      <p:sp>
        <p:nvSpPr>
          <p:cNvPr id="5" name="Text 3"/>
          <p:cNvSpPr/>
          <p:nvPr/>
        </p:nvSpPr>
        <p:spPr>
          <a:xfrm>
            <a:off x="1234440" y="548640"/>
            <a:ext cx="10424160" cy="457200"/>
          </a:xfrm>
          <a:prstGeom prst="rect">
            <a:avLst/>
          </a:prstGeom>
          <a:noFill/>
          <a:ln/>
        </p:spPr>
        <p:txBody>
          <a:bodyPr wrap="square" lIns="0" tIns="0" rIns="0" bIns="0" rtlCol="0" anchor="ctr"/>
          <a:lstStyle/>
          <a:p>
            <a:pPr indent="0" marL="0">
              <a:buNone/>
            </a:pPr>
            <a:r>
              <a:rPr lang="en-US" sz="2900" b="1" dirty="0">
                <a:solidFill>
                  <a:srgbClr val="18213D"/>
                </a:solidFill>
                <a:latin typeface="Cambria" pitchFamily="34" charset="0"/>
                <a:ea typeface="Cambria" pitchFamily="34" charset="-122"/>
                <a:cs typeface="Cambria" pitchFamily="34" charset="-120"/>
              </a:rPr>
              <a:t>Getting the game running</a:t>
            </a:r>
            <a:endParaRPr lang="en-US" sz="2900" dirty="0"/>
          </a:p>
        </p:txBody>
      </p:sp>
      <p:sp>
        <p:nvSpPr>
          <p:cNvPr id="6" name="Shape 4"/>
          <p:cNvSpPr/>
          <p:nvPr/>
        </p:nvSpPr>
        <p:spPr>
          <a:xfrm>
            <a:off x="502920" y="1261872"/>
            <a:ext cx="5349240" cy="1950720"/>
          </a:xfrm>
          <a:prstGeom prst="roundRect">
            <a:avLst>
              <a:gd name="adj" fmla="val 2813"/>
            </a:avLst>
          </a:prstGeom>
          <a:solidFill>
            <a:srgbClr val="F1F5FB"/>
          </a:solidFill>
          <a:ln w="12700">
            <a:solidFill>
              <a:srgbClr val="DEE7F3"/>
            </a:solidFill>
            <a:prstDash val="solid"/>
          </a:ln>
          <a:effectLst>
            <a:outerShdw sx="100000" sy="100000" kx="0" ky="0" algn="bl" rotWithShape="0" blurRad="127000" dist="25400" dir="5400000">
              <a:srgbClr val="8FA3C4">
                <a:alpha val="28000"/>
              </a:srgbClr>
            </a:outerShdw>
          </a:effectLst>
        </p:spPr>
      </p:sp>
      <p:sp>
        <p:nvSpPr>
          <p:cNvPr id="7" name="Text 5"/>
          <p:cNvSpPr/>
          <p:nvPr/>
        </p:nvSpPr>
        <p:spPr>
          <a:xfrm>
            <a:off x="758952" y="1426464"/>
            <a:ext cx="4837176" cy="237744"/>
          </a:xfrm>
          <a:prstGeom prst="rect">
            <a:avLst/>
          </a:prstGeom>
          <a:noFill/>
          <a:ln/>
        </p:spPr>
        <p:txBody>
          <a:bodyPr wrap="square" lIns="0" tIns="0" rIns="0" bIns="0" rtlCol="0" anchor="ctr"/>
          <a:lstStyle/>
          <a:p>
            <a:pPr indent="0" marL="0">
              <a:buNone/>
            </a:pPr>
            <a:r>
              <a:rPr lang="en-US" sz="1050" b="1" spc="180" kern="0" dirty="0">
                <a:solidFill>
                  <a:srgbClr val="3A5A8C"/>
                </a:solidFill>
                <a:latin typeface="Calibri" pitchFamily="34" charset="0"/>
                <a:ea typeface="Calibri" pitchFamily="34" charset="-122"/>
                <a:cs typeface="Calibri" pitchFamily="34" charset="-120"/>
              </a:rPr>
              <a:t>1  ·  WHAT THE LAB ASKED FOR</a:t>
            </a:r>
            <a:endParaRPr lang="en-US" sz="1050" dirty="0"/>
          </a:p>
        </p:txBody>
      </p:sp>
      <p:sp>
        <p:nvSpPr>
          <p:cNvPr id="8" name="Text 6"/>
          <p:cNvSpPr/>
          <p:nvPr/>
        </p:nvSpPr>
        <p:spPr>
          <a:xfrm>
            <a:off x="758952" y="1728216"/>
            <a:ext cx="4837176" cy="1429512"/>
          </a:xfrm>
          <a:prstGeom prst="rect">
            <a:avLst/>
          </a:prstGeom>
          <a:noFill/>
          <a:ln/>
        </p:spPr>
        <p:txBody>
          <a:bodyPr wrap="square" lIns="0" tIns="0" rIns="0" bIns="0" rtlCol="0" anchor="t"/>
          <a:lstStyle/>
          <a:p>
            <a:pPr marL="342900" indent="-342900">
              <a:lnSpc>
                <a:spcPts val="1584"/>
              </a:lnSpc>
              <a:spcAft>
                <a:spcPts val="600"/>
              </a:spcAft>
              <a:buSzPct val="100000"/>
              <a:buChar char="•"/>
            </a:pPr>
            <a:r>
              <a:rPr lang="en-US" sz="1200" dirty="0">
                <a:solidFill>
                  <a:srgbClr val="18213D"/>
                </a:solidFill>
                <a:latin typeface="Calibri" pitchFamily="34" charset="0"/>
                <a:ea typeface="Calibri" pitchFamily="34" charset="-122"/>
                <a:cs typeface="Calibri" pitchFamily="34" charset="-120"/>
              </a:rPr>
              <a:t>Fork the provided AsteroidsFX repository from GitHub</a:t>
            </a:r>
            <a:endParaRPr lang="en-US" sz="1200" dirty="0"/>
          </a:p>
          <a:p>
            <a:pPr marL="342900" indent="-342900">
              <a:lnSpc>
                <a:spcPts val="1584"/>
              </a:lnSpc>
              <a:spcAft>
                <a:spcPts val="600"/>
              </a:spcAft>
              <a:buSzPct val="100000"/>
              <a:buChar char="•"/>
            </a:pPr>
            <a:r>
              <a:rPr lang="en-US" sz="1200" dirty="0">
                <a:solidFill>
                  <a:srgbClr val="18213D"/>
                </a:solidFill>
                <a:latin typeface="Calibri" pitchFamily="34" charset="0"/>
                <a:ea typeface="Calibri" pitchFamily="34" charset="-122"/>
                <a:cs typeface="Calibri" pitchFamily="34" charset="-120"/>
              </a:rPr>
              <a:t>Build with mvn clean install, run with mvn exec:exec</a:t>
            </a:r>
            <a:endParaRPr lang="en-US" sz="1200" dirty="0"/>
          </a:p>
          <a:p>
            <a:pPr marL="342900" indent="-342900">
              <a:lnSpc>
                <a:spcPts val="1584"/>
              </a:lnSpc>
              <a:spcAft>
                <a:spcPts val="600"/>
              </a:spcAft>
              <a:buSzPct val="100000"/>
              <a:buChar char="•"/>
            </a:pPr>
            <a:r>
              <a:rPr lang="en-US" sz="1200" dirty="0">
                <a:solidFill>
                  <a:srgbClr val="18213D"/>
                </a:solidFill>
                <a:latin typeface="Calibri" pitchFamily="34" charset="0"/>
                <a:ea typeface="Calibri" pitchFamily="34" charset="-122"/>
                <a:cs typeface="Calibri" pitchFamily="34" charset="-120"/>
              </a:rPr>
              <a:t>Create your own JPMS project setup</a:t>
            </a:r>
            <a:endParaRPr lang="en-US" sz="1200" dirty="0"/>
          </a:p>
          <a:p>
            <a:pPr marL="342900" indent="-342900">
              <a:lnSpc>
                <a:spcPts val="1584"/>
              </a:lnSpc>
              <a:spcAft>
                <a:spcPts val="600"/>
              </a:spcAft>
              <a:buSzPct val="100000"/>
              <a:buChar char="•"/>
            </a:pPr>
            <a:r>
              <a:rPr lang="en-US" sz="1200" dirty="0">
                <a:solidFill>
                  <a:srgbClr val="18213D"/>
                </a:solidFill>
                <a:latin typeface="Calibri" pitchFamily="34" charset="0"/>
                <a:ea typeface="Calibri" pitchFamily="34" charset="-122"/>
                <a:cs typeface="Calibri" pitchFamily="34" charset="-120"/>
              </a:rPr>
              <a:t>Implement the Core, Bullet and Player components</a:t>
            </a:r>
            <a:endParaRPr lang="en-US" sz="1200" dirty="0"/>
          </a:p>
          <a:p>
            <a:pPr marL="342900" indent="-342900">
              <a:lnSpc>
                <a:spcPts val="1584"/>
              </a:lnSpc>
              <a:spcAft>
                <a:spcPts val="600"/>
              </a:spcAft>
              <a:buSzPct val="100000"/>
              <a:buChar char="•"/>
            </a:pPr>
            <a:r>
              <a:rPr lang="en-US" sz="1200" dirty="0">
                <a:solidFill>
                  <a:srgbClr val="18213D"/>
                </a:solidFill>
                <a:latin typeface="Calibri" pitchFamily="34" charset="0"/>
                <a:ea typeface="Calibri" pitchFamily="34" charset="-122"/>
                <a:cs typeface="Calibri" pitchFamily="34" charset="-120"/>
              </a:rPr>
              <a:t>Implement an enemy spaceship that shoots and moves randomly</a:t>
            </a:r>
            <a:endParaRPr lang="en-US" sz="1200" dirty="0"/>
          </a:p>
        </p:txBody>
      </p:sp>
      <p:sp>
        <p:nvSpPr>
          <p:cNvPr id="9" name="Shape 7"/>
          <p:cNvSpPr/>
          <p:nvPr/>
        </p:nvSpPr>
        <p:spPr>
          <a:xfrm>
            <a:off x="502920" y="3358896"/>
            <a:ext cx="5349240" cy="2075688"/>
          </a:xfrm>
          <a:prstGeom prst="roundRect">
            <a:avLst>
              <a:gd name="adj" fmla="val 2643"/>
            </a:avLst>
          </a:prstGeom>
          <a:solidFill>
            <a:srgbClr val="FDF3E0"/>
          </a:solidFill>
          <a:ln w="12700">
            <a:solidFill>
              <a:srgbClr val="F2DCB4"/>
            </a:solidFill>
            <a:prstDash val="solid"/>
          </a:ln>
          <a:effectLst>
            <a:outerShdw sx="100000" sy="100000" kx="0" ky="0" algn="bl" rotWithShape="0" blurRad="127000" dist="25400" dir="5400000">
              <a:srgbClr val="8FA3C4">
                <a:alpha val="28000"/>
              </a:srgbClr>
            </a:outerShdw>
          </a:effectLst>
        </p:spPr>
      </p:sp>
      <p:sp>
        <p:nvSpPr>
          <p:cNvPr id="10" name="Text 8"/>
          <p:cNvSpPr/>
          <p:nvPr/>
        </p:nvSpPr>
        <p:spPr>
          <a:xfrm>
            <a:off x="758952" y="3523488"/>
            <a:ext cx="4837176" cy="237744"/>
          </a:xfrm>
          <a:prstGeom prst="rect">
            <a:avLst/>
          </a:prstGeom>
          <a:noFill/>
          <a:ln/>
        </p:spPr>
        <p:txBody>
          <a:bodyPr wrap="square" lIns="0" tIns="0" rIns="0" bIns="0" rtlCol="0" anchor="ctr"/>
          <a:lstStyle/>
          <a:p>
            <a:pPr indent="0" marL="0">
              <a:buNone/>
            </a:pPr>
            <a:r>
              <a:rPr lang="en-US" sz="1050" b="1" spc="180" kern="0" dirty="0">
                <a:solidFill>
                  <a:srgbClr val="B07A18"/>
                </a:solidFill>
                <a:latin typeface="Calibri" pitchFamily="34" charset="0"/>
                <a:ea typeface="Calibri" pitchFamily="34" charset="-122"/>
                <a:cs typeface="Calibri" pitchFamily="34" charset="-120"/>
              </a:rPr>
              <a:t>2  ·  HOW I IMPLEMENTED IT</a:t>
            </a:r>
            <a:endParaRPr lang="en-US" sz="1050" dirty="0"/>
          </a:p>
        </p:txBody>
      </p:sp>
      <p:sp>
        <p:nvSpPr>
          <p:cNvPr id="11" name="Text 9"/>
          <p:cNvSpPr/>
          <p:nvPr/>
        </p:nvSpPr>
        <p:spPr>
          <a:xfrm>
            <a:off x="758952" y="3825240"/>
            <a:ext cx="4837176" cy="1554480"/>
          </a:xfrm>
          <a:prstGeom prst="rect">
            <a:avLst/>
          </a:prstGeom>
          <a:noFill/>
          <a:ln/>
        </p:spPr>
        <p:txBody>
          <a:bodyPr wrap="square" lIns="0" tIns="0" rIns="0" bIns="0" rtlCol="0" anchor="t"/>
          <a:lstStyle/>
          <a:p>
            <a:pPr marL="342900" indent="-342900">
              <a:lnSpc>
                <a:spcPts val="1584"/>
              </a:lnSpc>
              <a:spcAft>
                <a:spcPts val="600"/>
              </a:spcAft>
              <a:buSzPct val="100000"/>
              <a:buChar char="•"/>
            </a:pPr>
            <a:r>
              <a:rPr lang="en-US" sz="1200" dirty="0">
                <a:solidFill>
                  <a:srgbClr val="18213D"/>
                </a:solidFill>
                <a:latin typeface="Calibri" pitchFamily="34" charset="0"/>
                <a:ea typeface="Calibri" pitchFamily="34" charset="-122"/>
                <a:cs typeface="Calibri" pitchFamily="34" charset="-120"/>
              </a:rPr>
              <a:t>Forked to github.com/Fard121/asteroid_game — ten Maven modules, each with its own module-info.java</a:t>
            </a:r>
            <a:endParaRPr lang="en-US" sz="1200" dirty="0"/>
          </a:p>
          <a:p>
            <a:pPr marL="342900" indent="-342900">
              <a:lnSpc>
                <a:spcPts val="1584"/>
              </a:lnSpc>
              <a:spcAft>
                <a:spcPts val="600"/>
              </a:spcAft>
              <a:buSzPct val="100000"/>
              <a:buChar char="•"/>
            </a:pPr>
            <a:r>
              <a:rPr lang="en-US" sz="1200" dirty="0">
                <a:solidFill>
                  <a:srgbClr val="18213D"/>
                </a:solidFill>
                <a:latin typeface="Calibri" pitchFamily="34" charset="0"/>
                <a:ea typeface="Calibri" pitchFamily="34" charset="-122"/>
                <a:cs typeface="Calibri" pitchFamily="34" charset="-120"/>
              </a:rPr>
              <a:t>Core/Main.java starts JavaFX; Core/Game.java owns the render loop</a:t>
            </a:r>
            <a:endParaRPr lang="en-US" sz="1200" dirty="0"/>
          </a:p>
          <a:p>
            <a:pPr marL="342900" indent="-342900">
              <a:lnSpc>
                <a:spcPts val="1584"/>
              </a:lnSpc>
              <a:spcAft>
                <a:spcPts val="600"/>
              </a:spcAft>
              <a:buSzPct val="100000"/>
              <a:buChar char="•"/>
            </a:pPr>
            <a:r>
              <a:rPr lang="en-US" sz="1200" dirty="0">
                <a:solidFill>
                  <a:srgbClr val="18213D"/>
                </a:solidFill>
                <a:latin typeface="Calibri" pitchFamily="34" charset="0"/>
                <a:ea typeface="Calibri" pitchFamily="34" charset="-122"/>
                <a:cs typeface="Calibri" pitchFamily="34" charset="-120"/>
              </a:rPr>
              <a:t>PlayerPlugin creates the ship, PlayerControlSystem reads the keys</a:t>
            </a:r>
            <a:endParaRPr lang="en-US" sz="1200" dirty="0"/>
          </a:p>
          <a:p>
            <a:pPr marL="342900" indent="-342900">
              <a:lnSpc>
                <a:spcPts val="1584"/>
              </a:lnSpc>
              <a:spcAft>
                <a:spcPts val="600"/>
              </a:spcAft>
              <a:buSzPct val="100000"/>
              <a:buChar char="•"/>
            </a:pPr>
            <a:r>
              <a:rPr lang="en-US" sz="1200" dirty="0">
                <a:solidFill>
                  <a:srgbClr val="18213D"/>
                </a:solidFill>
                <a:latin typeface="Calibri" pitchFamily="34" charset="0"/>
                <a:ea typeface="Calibri" pitchFamily="34" charset="-122"/>
                <a:cs typeface="Calibri" pitchFamily="34" charset="-120"/>
              </a:rPr>
              <a:t>EnemyControlSystem gives the enemy a timer-driven random heading and a firing cooldown</a:t>
            </a:r>
            <a:endParaRPr lang="en-US" sz="1200" dirty="0"/>
          </a:p>
        </p:txBody>
      </p:sp>
      <p:sp>
        <p:nvSpPr>
          <p:cNvPr id="12" name="Shape 10"/>
          <p:cNvSpPr/>
          <p:nvPr/>
        </p:nvSpPr>
        <p:spPr>
          <a:xfrm>
            <a:off x="6172200" y="1261872"/>
            <a:ext cx="5486400" cy="1687830"/>
          </a:xfrm>
          <a:prstGeom prst="roundRect">
            <a:avLst>
              <a:gd name="adj" fmla="val 3251"/>
            </a:avLst>
          </a:prstGeom>
          <a:solidFill>
            <a:srgbClr val="F1F5FB"/>
          </a:solidFill>
          <a:ln w="12700">
            <a:solidFill>
              <a:srgbClr val="DEE7F3"/>
            </a:solidFill>
            <a:prstDash val="solid"/>
          </a:ln>
          <a:effectLst>
            <a:outerShdw sx="100000" sy="100000" kx="0" ky="0" algn="bl" rotWithShape="0" blurRad="127000" dist="25400" dir="5400000">
              <a:srgbClr val="8FA3C4">
                <a:alpha val="28000"/>
              </a:srgbClr>
            </a:outerShdw>
          </a:effectLst>
        </p:spPr>
      </p:sp>
      <p:sp>
        <p:nvSpPr>
          <p:cNvPr id="13" name="Text 11"/>
          <p:cNvSpPr/>
          <p:nvPr/>
        </p:nvSpPr>
        <p:spPr>
          <a:xfrm>
            <a:off x="6428232" y="1426464"/>
            <a:ext cx="4974336" cy="237744"/>
          </a:xfrm>
          <a:prstGeom prst="rect">
            <a:avLst/>
          </a:prstGeom>
          <a:noFill/>
          <a:ln/>
        </p:spPr>
        <p:txBody>
          <a:bodyPr wrap="square" lIns="0" tIns="0" rIns="0" bIns="0" rtlCol="0" anchor="ctr"/>
          <a:lstStyle/>
          <a:p>
            <a:pPr indent="0" marL="0">
              <a:buNone/>
            </a:pPr>
            <a:r>
              <a:rPr lang="en-US" sz="1050" b="1" spc="180" kern="0" dirty="0">
                <a:solidFill>
                  <a:srgbClr val="3A5A8C"/>
                </a:solidFill>
                <a:latin typeface="Calibri" pitchFamily="34" charset="0"/>
                <a:ea typeface="Calibri" pitchFamily="34" charset="-122"/>
                <a:cs typeface="Calibri" pitchFamily="34" charset="-120"/>
              </a:rPr>
              <a:t>3  ·  HOW IT WORKS</a:t>
            </a:r>
            <a:endParaRPr lang="en-US" sz="1050" dirty="0"/>
          </a:p>
        </p:txBody>
      </p:sp>
      <p:sp>
        <p:nvSpPr>
          <p:cNvPr id="14" name="Text 12"/>
          <p:cNvSpPr/>
          <p:nvPr/>
        </p:nvSpPr>
        <p:spPr>
          <a:xfrm>
            <a:off x="6428232" y="1728216"/>
            <a:ext cx="4974336" cy="1139190"/>
          </a:xfrm>
          <a:prstGeom prst="rect">
            <a:avLst/>
          </a:prstGeom>
          <a:noFill/>
          <a:ln/>
        </p:spPr>
        <p:txBody>
          <a:bodyPr wrap="square" lIns="0" tIns="0" rIns="0" bIns="0" rtlCol="0" anchor="t"/>
          <a:lstStyle/>
          <a:p>
            <a:pPr indent="0" marL="0">
              <a:lnSpc>
                <a:spcPts val="1650"/>
              </a:lnSpc>
              <a:buNone/>
            </a:pPr>
            <a:r>
              <a:rPr lang="en-US" sz="1200" dirty="0">
                <a:solidFill>
                  <a:srgbClr val="18213D"/>
                </a:solidFill>
                <a:latin typeface="Calibri" pitchFamily="34" charset="0"/>
                <a:ea typeface="Calibri" pitchFamily="34" charset="-122"/>
                <a:cs typeface="Calibri" pitchFamily="34" charset="-120"/>
              </a:rPr>
              <a:t>The enemy is not scripted. Every frame EnemyControlSystem counts down two timers: one picks a brand new heading between 1 and 2.5 seconds, the other releases a shot roughly every 1.5 seconds. It fires by asking for a BulletSPI provider — so Enemy never imports the Bullet class.</a:t>
            </a:r>
            <a:endParaRPr lang="en-US" sz="1200" dirty="0"/>
          </a:p>
        </p:txBody>
      </p:sp>
      <p:sp>
        <p:nvSpPr>
          <p:cNvPr id="15" name="Text 13"/>
          <p:cNvSpPr/>
          <p:nvPr/>
        </p:nvSpPr>
        <p:spPr>
          <a:xfrm>
            <a:off x="6172200" y="3096006"/>
            <a:ext cx="5486400" cy="237744"/>
          </a:xfrm>
          <a:prstGeom prst="rect">
            <a:avLst/>
          </a:prstGeom>
          <a:noFill/>
          <a:ln/>
        </p:spPr>
        <p:txBody>
          <a:bodyPr wrap="square" lIns="0" tIns="0" rIns="0" bIns="0" rtlCol="0" anchor="ctr"/>
          <a:lstStyle/>
          <a:p>
            <a:pPr indent="0" marL="0">
              <a:buNone/>
            </a:pPr>
            <a:r>
              <a:rPr lang="en-US" sz="1050" b="1" spc="160" kern="0" dirty="0">
                <a:solidFill>
                  <a:srgbClr val="5F7192"/>
                </a:solidFill>
                <a:latin typeface="Calibri" pitchFamily="34" charset="0"/>
                <a:ea typeface="Calibri" pitchFamily="34" charset="-122"/>
                <a:cs typeface="Calibri" pitchFamily="34" charset="-120"/>
              </a:rPr>
              <a:t>Enemy/EnemyControlSystem.java</a:t>
            </a:r>
            <a:endParaRPr lang="en-US" sz="1050" dirty="0"/>
          </a:p>
        </p:txBody>
      </p:sp>
      <p:sp>
        <p:nvSpPr>
          <p:cNvPr id="16" name="Shape 14"/>
          <p:cNvSpPr/>
          <p:nvPr/>
        </p:nvSpPr>
        <p:spPr>
          <a:xfrm>
            <a:off x="6172200" y="3370326"/>
            <a:ext cx="5486400" cy="2774442"/>
          </a:xfrm>
          <a:prstGeom prst="roundRect">
            <a:avLst>
              <a:gd name="adj" fmla="val 1648"/>
            </a:avLst>
          </a:prstGeom>
          <a:solidFill>
            <a:srgbClr val="0F1729"/>
          </a:solidFill>
          <a:ln w="12700">
            <a:solidFill>
              <a:srgbClr val="2A3552"/>
            </a:solidFill>
            <a:prstDash val="solid"/>
          </a:ln>
        </p:spPr>
      </p:sp>
      <p:sp>
        <p:nvSpPr>
          <p:cNvPr id="17" name="Text 15"/>
          <p:cNvSpPr/>
          <p:nvPr/>
        </p:nvSpPr>
        <p:spPr>
          <a:xfrm>
            <a:off x="6327648" y="3489198"/>
            <a:ext cx="5175504" cy="2536698"/>
          </a:xfrm>
          <a:prstGeom prst="rect">
            <a:avLst/>
          </a:prstGeom>
          <a:noFill/>
          <a:ln/>
        </p:spPr>
        <p:txBody>
          <a:bodyPr wrap="square" lIns="0" tIns="0" rIns="0" bIns="0" rtlCol="0" anchor="t"/>
          <a:lstStyle/>
          <a:p>
            <a:pPr indent="0" marL="0">
              <a:lnSpc>
                <a:spcPts val="1491"/>
              </a:lnSpc>
              <a:buNone/>
            </a:pPr>
            <a:r>
              <a:rPr lang="en-US" sz="1050" dirty="0">
                <a:solidFill>
                  <a:srgbClr val="D9E3F2"/>
                </a:solidFill>
                <a:latin typeface="Courier New" pitchFamily="34" charset="0"/>
                <a:ea typeface="Courier New" pitchFamily="34" charset="-122"/>
                <a:cs typeface="Courier New" pitchFamily="34" charset="-120"/>
              </a:rPr>
              <a:t>private void moveRandomly(Entity enemy) {</a:t>
            </a:r>
            <a:endParaRPr lang="en-US" sz="1050" dirty="0"/>
          </a:p>
          <a:p>
            <a:pPr indent="0" marL="0">
              <a:lnSpc>
                <a:spcPts val="1491"/>
              </a:lnSpc>
              <a:buNone/>
            </a:pPr>
            <a:r>
              <a:rPr lang="en-US" sz="1050" dirty="0">
                <a:solidFill>
                  <a:srgbClr val="D9E3F2"/>
                </a:solidFill>
                <a:latin typeface="Courier New" pitchFamily="34" charset="0"/>
                <a:ea typeface="Courier New" pitchFamily="34" charset="-122"/>
                <a:cs typeface="Courier New" pitchFamily="34" charset="-120"/>
              </a:rPr>
              <a:t>    if (framesUntilDirectionChange &lt;= 0) {</a:t>
            </a:r>
            <a:endParaRPr lang="en-US" sz="1050" dirty="0"/>
          </a:p>
          <a:p>
            <a:pPr indent="0" marL="0">
              <a:lnSpc>
                <a:spcPts val="1491"/>
              </a:lnSpc>
              <a:buNone/>
            </a:pPr>
            <a:r>
              <a:rPr lang="en-US" sz="1050" dirty="0">
                <a:solidFill>
                  <a:srgbClr val="D9E3F2"/>
                </a:solidFill>
                <a:latin typeface="Courier New" pitchFamily="34" charset="0"/>
                <a:ea typeface="Courier New" pitchFamily="34" charset="-122"/>
                <a:cs typeface="Courier New" pitchFamily="34" charset="-120"/>
              </a:rPr>
              <a:t>        enemy.setRotation(random.nextInt(360));</a:t>
            </a:r>
            <a:endParaRPr lang="en-US" sz="1050" dirty="0"/>
          </a:p>
          <a:p>
            <a:pPr indent="0" marL="0">
              <a:lnSpc>
                <a:spcPts val="1491"/>
              </a:lnSpc>
              <a:buNone/>
            </a:pPr>
            <a:r>
              <a:rPr lang="en-US" sz="1050" dirty="0">
                <a:solidFill>
                  <a:srgbClr val="D9E3F2"/>
                </a:solidFill>
                <a:latin typeface="Courier New" pitchFamily="34" charset="0"/>
                <a:ea typeface="Courier New" pitchFamily="34" charset="-122"/>
                <a:cs typeface="Courier New" pitchFamily="34" charset="-120"/>
              </a:rPr>
              <a:t>        framesUntilDirectionChange = MIN_FRAMES</a:t>
            </a:r>
            <a:endParaRPr lang="en-US" sz="1050" dirty="0"/>
          </a:p>
          <a:p>
            <a:pPr indent="0" marL="0">
              <a:lnSpc>
                <a:spcPts val="1491"/>
              </a:lnSpc>
              <a:buNone/>
            </a:pPr>
            <a:r>
              <a:rPr lang="en-US" sz="1050" dirty="0">
                <a:solidFill>
                  <a:srgbClr val="D9E3F2"/>
                </a:solidFill>
                <a:latin typeface="Courier New" pitchFamily="34" charset="0"/>
                <a:ea typeface="Courier New" pitchFamily="34" charset="-122"/>
                <a:cs typeface="Courier New" pitchFamily="34" charset="-120"/>
              </a:rPr>
              <a:t>            + random.nextInt(MAX_FRAMES - MIN_FRAMES);</a:t>
            </a:r>
            <a:endParaRPr lang="en-US" sz="1050" dirty="0"/>
          </a:p>
          <a:p>
            <a:pPr indent="0" marL="0">
              <a:lnSpc>
                <a:spcPts val="1491"/>
              </a:lnSpc>
              <a:buNone/>
            </a:pPr>
            <a:r>
              <a:rPr lang="en-US" sz="1050" dirty="0">
                <a:solidFill>
                  <a:srgbClr val="D9E3F2"/>
                </a:solidFill>
                <a:latin typeface="Courier New" pitchFamily="34" charset="0"/>
                <a:ea typeface="Courier New" pitchFamily="34" charset="-122"/>
                <a:cs typeface="Courier New" pitchFamily="34" charset="-120"/>
              </a:rPr>
              <a:t>    } else {</a:t>
            </a:r>
            <a:endParaRPr lang="en-US" sz="1050" dirty="0"/>
          </a:p>
          <a:p>
            <a:pPr indent="0" marL="0">
              <a:lnSpc>
                <a:spcPts val="1491"/>
              </a:lnSpc>
              <a:buNone/>
            </a:pPr>
            <a:r>
              <a:rPr lang="en-US" sz="1050" dirty="0">
                <a:solidFill>
                  <a:srgbClr val="D9E3F2"/>
                </a:solidFill>
                <a:latin typeface="Courier New" pitchFamily="34" charset="0"/>
                <a:ea typeface="Courier New" pitchFamily="34" charset="-122"/>
                <a:cs typeface="Courier New" pitchFamily="34" charset="-120"/>
              </a:rPr>
              <a:t>        framesUntilDirectionChange--;</a:t>
            </a:r>
            <a:endParaRPr lang="en-US" sz="1050" dirty="0"/>
          </a:p>
          <a:p>
            <a:pPr indent="0" marL="0">
              <a:lnSpc>
                <a:spcPts val="1491"/>
              </a:lnSpc>
              <a:buNone/>
            </a:pPr>
            <a:r>
              <a:rPr lang="en-US" sz="1050" dirty="0">
                <a:solidFill>
                  <a:srgbClr val="D9E3F2"/>
                </a:solidFill>
                <a:latin typeface="Courier New" pitchFamily="34" charset="0"/>
                <a:ea typeface="Courier New" pitchFamily="34" charset="-122"/>
                <a:cs typeface="Courier New" pitchFamily="34" charset="-120"/>
              </a:rPr>
              <a:t>    }</a:t>
            </a:r>
            <a:endParaRPr lang="en-US" sz="1050" dirty="0"/>
          </a:p>
          <a:p>
            <a:pPr indent="0" marL="0">
              <a:lnSpc>
                <a:spcPts val="1491"/>
              </a:lnSpc>
              <a:buNone/>
            </a:pPr>
            <a:r>
              <a:rPr lang="en-US" sz="1050" dirty="0">
                <a:solidFill>
                  <a:srgbClr val="D9E3F2"/>
                </a:solidFill>
                <a:latin typeface="Courier New" pitchFamily="34" charset="0"/>
                <a:ea typeface="Courier New" pitchFamily="34" charset="-122"/>
                <a:cs typeface="Courier New" pitchFamily="34" charset="-120"/>
              </a:rPr>
              <a:t>    double dx = Math.cos(Math.toRadians(enemy.getRotation()));</a:t>
            </a:r>
            <a:endParaRPr lang="en-US" sz="1050" dirty="0"/>
          </a:p>
          <a:p>
            <a:pPr indent="0" marL="0">
              <a:lnSpc>
                <a:spcPts val="1491"/>
              </a:lnSpc>
              <a:buNone/>
            </a:pPr>
            <a:r>
              <a:rPr lang="en-US" sz="1050" dirty="0">
                <a:solidFill>
                  <a:srgbClr val="D9E3F2"/>
                </a:solidFill>
                <a:latin typeface="Courier New" pitchFamily="34" charset="0"/>
                <a:ea typeface="Courier New" pitchFamily="34" charset="-122"/>
                <a:cs typeface="Courier New" pitchFamily="34" charset="-120"/>
              </a:rPr>
              <a:t>    double dy = Math.sin(Math.toRadians(enemy.getRotation()));</a:t>
            </a:r>
            <a:endParaRPr lang="en-US" sz="1050" dirty="0"/>
          </a:p>
          <a:p>
            <a:pPr indent="0" marL="0">
              <a:lnSpc>
                <a:spcPts val="1491"/>
              </a:lnSpc>
              <a:buNone/>
            </a:pPr>
            <a:r>
              <a:rPr lang="en-US" sz="1050" dirty="0">
                <a:solidFill>
                  <a:srgbClr val="D9E3F2"/>
                </a:solidFill>
                <a:latin typeface="Courier New" pitchFamily="34" charset="0"/>
                <a:ea typeface="Courier New" pitchFamily="34" charset="-122"/>
                <a:cs typeface="Courier New" pitchFamily="34" charset="-120"/>
              </a:rPr>
              <a:t>    enemy.setX(enemy.getX() + dx * ENEMY_SPEED);</a:t>
            </a:r>
            <a:endParaRPr lang="en-US" sz="1050" dirty="0"/>
          </a:p>
          <a:p>
            <a:pPr indent="0" marL="0">
              <a:lnSpc>
                <a:spcPts val="1491"/>
              </a:lnSpc>
              <a:buNone/>
            </a:pPr>
            <a:r>
              <a:rPr lang="en-US" sz="1050" dirty="0">
                <a:solidFill>
                  <a:srgbClr val="D9E3F2"/>
                </a:solidFill>
                <a:latin typeface="Courier New" pitchFamily="34" charset="0"/>
                <a:ea typeface="Courier New" pitchFamily="34" charset="-122"/>
                <a:cs typeface="Courier New" pitchFamily="34" charset="-120"/>
              </a:rPr>
              <a:t>    enemy.setY(enemy.getY() + dy * ENEMY_SPEED);</a:t>
            </a:r>
            <a:endParaRPr lang="en-US" sz="1050" dirty="0"/>
          </a:p>
          <a:p>
            <a:pPr indent="0" marL="0">
              <a:lnSpc>
                <a:spcPts val="1491"/>
              </a:lnSpc>
              <a:buNone/>
            </a:pPr>
            <a:r>
              <a:rPr lang="en-US" sz="1050" dirty="0">
                <a:solidFill>
                  <a:srgbClr val="D9E3F2"/>
                </a:solidFill>
                <a:latin typeface="Courier New" pitchFamily="34" charset="0"/>
                <a:ea typeface="Courier New" pitchFamily="34" charset="-122"/>
                <a:cs typeface="Courier New" pitchFamily="34" charset="-120"/>
              </a:rPr>
              <a:t>}</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10896"/>
            <a:ext cx="548640" cy="548640"/>
          </a:xfrm>
          <a:prstGeom prst="ellipse">
            <a:avLst/>
          </a:prstGeom>
          <a:solidFill>
            <a:srgbClr val="18213D"/>
          </a:solidFill>
          <a:ln/>
        </p:spPr>
      </p:sp>
      <p:sp>
        <p:nvSpPr>
          <p:cNvPr id="3" name="Text 1"/>
          <p:cNvSpPr/>
          <p:nvPr/>
        </p:nvSpPr>
        <p:spPr>
          <a:xfrm>
            <a:off x="502920" y="310896"/>
            <a:ext cx="548640" cy="548640"/>
          </a:xfrm>
          <a:prstGeom prst="rect">
            <a:avLst/>
          </a:prstGeom>
          <a:noFill/>
          <a:ln/>
        </p:spPr>
        <p:txBody>
          <a:bodyPr wrap="square" lIns="0" tIns="0" rIns="0" bIns="0" rtlCol="0" anchor="ctr"/>
          <a:lstStyle/>
          <a:p>
            <a:pPr algn="ctr" indent="0" marL="0">
              <a:buNone/>
            </a:pPr>
            <a:r>
              <a:rPr lang="en-US" sz="2100" b="1" dirty="0">
                <a:solidFill>
                  <a:srgbClr val="F5A623"/>
                </a:solidFill>
                <a:latin typeface="Cambria" pitchFamily="34" charset="0"/>
                <a:ea typeface="Cambria" pitchFamily="34" charset="-122"/>
                <a:cs typeface="Cambria" pitchFamily="34" charset="-120"/>
              </a:rPr>
              <a:t>2</a:t>
            </a:r>
            <a:endParaRPr lang="en-US" sz="2100" dirty="0"/>
          </a:p>
        </p:txBody>
      </p:sp>
      <p:sp>
        <p:nvSpPr>
          <p:cNvPr id="4" name="Text 2"/>
          <p:cNvSpPr/>
          <p:nvPr/>
        </p:nvSpPr>
        <p:spPr>
          <a:xfrm>
            <a:off x="1234440" y="329184"/>
            <a:ext cx="5943600" cy="237744"/>
          </a:xfrm>
          <a:prstGeom prst="rect">
            <a:avLst/>
          </a:prstGeom>
          <a:noFill/>
          <a:ln/>
        </p:spPr>
        <p:txBody>
          <a:bodyPr wrap="square" lIns="0" tIns="0" rIns="0" bIns="0" rtlCol="0" anchor="ctr"/>
          <a:lstStyle/>
          <a:p>
            <a:pPr indent="0" marL="0">
              <a:buNone/>
            </a:pPr>
            <a:r>
              <a:rPr lang="en-US" sz="1150" b="1" spc="220" kern="0" dirty="0">
                <a:solidFill>
                  <a:srgbClr val="5F7192"/>
                </a:solidFill>
                <a:latin typeface="Calibri" pitchFamily="34" charset="0"/>
                <a:ea typeface="Calibri" pitchFamily="34" charset="-122"/>
                <a:cs typeface="Calibri" pitchFamily="34" charset="-120"/>
              </a:rPr>
              <a:t>GAMELAB</a:t>
            </a:r>
            <a:endParaRPr lang="en-US" sz="1150" dirty="0"/>
          </a:p>
        </p:txBody>
      </p:sp>
      <p:sp>
        <p:nvSpPr>
          <p:cNvPr id="5" name="Text 3"/>
          <p:cNvSpPr/>
          <p:nvPr/>
        </p:nvSpPr>
        <p:spPr>
          <a:xfrm>
            <a:off x="1234440" y="548640"/>
            <a:ext cx="10424160" cy="457200"/>
          </a:xfrm>
          <a:prstGeom prst="rect">
            <a:avLst/>
          </a:prstGeom>
          <a:noFill/>
          <a:ln/>
        </p:spPr>
        <p:txBody>
          <a:bodyPr wrap="square" lIns="0" tIns="0" rIns="0" bIns="0" rtlCol="0" anchor="ctr"/>
          <a:lstStyle/>
          <a:p>
            <a:pPr indent="0" marL="0">
              <a:buNone/>
            </a:pPr>
            <a:r>
              <a:rPr lang="en-US" sz="2900" b="1" dirty="0">
                <a:solidFill>
                  <a:srgbClr val="18213D"/>
                </a:solidFill>
                <a:latin typeface="Cambria" pitchFamily="34" charset="0"/>
                <a:ea typeface="Cambria" pitchFamily="34" charset="-122"/>
                <a:cs typeface="Cambria" pitchFamily="34" charset="-120"/>
              </a:rPr>
              <a:t>Component contracts and collision</a:t>
            </a:r>
            <a:endParaRPr lang="en-US" sz="2900" dirty="0"/>
          </a:p>
        </p:txBody>
      </p:sp>
      <p:sp>
        <p:nvSpPr>
          <p:cNvPr id="6" name="Shape 4"/>
          <p:cNvSpPr/>
          <p:nvPr/>
        </p:nvSpPr>
        <p:spPr>
          <a:xfrm>
            <a:off x="502920" y="1261872"/>
            <a:ext cx="5349240" cy="2075688"/>
          </a:xfrm>
          <a:prstGeom prst="roundRect">
            <a:avLst>
              <a:gd name="adj" fmla="val 2643"/>
            </a:avLst>
          </a:prstGeom>
          <a:solidFill>
            <a:srgbClr val="F1F5FB"/>
          </a:solidFill>
          <a:ln w="12700">
            <a:solidFill>
              <a:srgbClr val="DEE7F3"/>
            </a:solidFill>
            <a:prstDash val="solid"/>
          </a:ln>
          <a:effectLst>
            <a:outerShdw sx="100000" sy="100000" kx="0" ky="0" algn="bl" rotWithShape="0" blurRad="127000" dist="25400" dir="5400000">
              <a:srgbClr val="8FA3C4">
                <a:alpha val="28000"/>
              </a:srgbClr>
            </a:outerShdw>
          </a:effectLst>
        </p:spPr>
      </p:sp>
      <p:sp>
        <p:nvSpPr>
          <p:cNvPr id="7" name="Text 5"/>
          <p:cNvSpPr/>
          <p:nvPr/>
        </p:nvSpPr>
        <p:spPr>
          <a:xfrm>
            <a:off x="758952" y="1426464"/>
            <a:ext cx="4837176" cy="237744"/>
          </a:xfrm>
          <a:prstGeom prst="rect">
            <a:avLst/>
          </a:prstGeom>
          <a:noFill/>
          <a:ln/>
        </p:spPr>
        <p:txBody>
          <a:bodyPr wrap="square" lIns="0" tIns="0" rIns="0" bIns="0" rtlCol="0" anchor="ctr"/>
          <a:lstStyle/>
          <a:p>
            <a:pPr indent="0" marL="0">
              <a:buNone/>
            </a:pPr>
            <a:r>
              <a:rPr lang="en-US" sz="1050" b="1" spc="180" kern="0" dirty="0">
                <a:solidFill>
                  <a:srgbClr val="3A5A8C"/>
                </a:solidFill>
                <a:latin typeface="Calibri" pitchFamily="34" charset="0"/>
                <a:ea typeface="Calibri" pitchFamily="34" charset="-122"/>
                <a:cs typeface="Calibri" pitchFamily="34" charset="-120"/>
              </a:rPr>
              <a:t>1  ·  WHAT THE LAB ASKED FOR</a:t>
            </a:r>
            <a:endParaRPr lang="en-US" sz="1050" dirty="0"/>
          </a:p>
        </p:txBody>
      </p:sp>
      <p:sp>
        <p:nvSpPr>
          <p:cNvPr id="8" name="Text 6"/>
          <p:cNvSpPr/>
          <p:nvPr/>
        </p:nvSpPr>
        <p:spPr>
          <a:xfrm>
            <a:off x="758952" y="1728216"/>
            <a:ext cx="4837176" cy="1554480"/>
          </a:xfrm>
          <a:prstGeom prst="rect">
            <a:avLst/>
          </a:prstGeom>
          <a:noFill/>
          <a:ln/>
        </p:spPr>
        <p:txBody>
          <a:bodyPr wrap="square" lIns="0" tIns="0" rIns="0" bIns="0" rtlCol="0" anchor="t"/>
          <a:lstStyle/>
          <a:p>
            <a:pPr marL="342900" indent="-342900">
              <a:lnSpc>
                <a:spcPts val="1584"/>
              </a:lnSpc>
              <a:spcAft>
                <a:spcPts val="600"/>
              </a:spcAft>
              <a:buSzPct val="100000"/>
              <a:buChar char="•"/>
            </a:pPr>
            <a:r>
              <a:rPr lang="en-US" sz="1200" dirty="0">
                <a:solidFill>
                  <a:srgbClr val="18213D"/>
                </a:solidFill>
                <a:latin typeface="Calibri" pitchFamily="34" charset="0"/>
                <a:ea typeface="Calibri" pitchFamily="34" charset="-122"/>
                <a:cs typeface="Calibri" pitchFamily="34" charset="-120"/>
              </a:rPr>
              <a:t>Document the three service interfaces with JavaDoc, including pre- and post-conditions</a:t>
            </a:r>
            <a:endParaRPr lang="en-US" sz="1200" dirty="0"/>
          </a:p>
          <a:p>
            <a:pPr marL="342900" indent="-342900">
              <a:lnSpc>
                <a:spcPts val="1584"/>
              </a:lnSpc>
              <a:spcAft>
                <a:spcPts val="600"/>
              </a:spcAft>
              <a:buSzPct val="100000"/>
              <a:buChar char="•"/>
            </a:pPr>
            <a:r>
              <a:rPr lang="en-US" sz="1200" dirty="0">
                <a:solidFill>
                  <a:srgbClr val="18213D"/>
                </a:solidFill>
                <a:latin typeface="Calibri" pitchFamily="34" charset="0"/>
                <a:ea typeface="Calibri" pitchFamily="34" charset="-122"/>
                <a:cs typeface="Calibri" pitchFamily="34" charset="-120"/>
              </a:rPr>
              <a:t>Implement Player, Enemy and randomly moving Asteroids as components</a:t>
            </a:r>
            <a:endParaRPr lang="en-US" sz="1200" dirty="0"/>
          </a:p>
          <a:p>
            <a:pPr marL="342900" indent="-342900">
              <a:lnSpc>
                <a:spcPts val="1584"/>
              </a:lnSpc>
              <a:spcAft>
                <a:spcPts val="600"/>
              </a:spcAft>
              <a:buSzPct val="100000"/>
              <a:buChar char="•"/>
            </a:pPr>
            <a:r>
              <a:rPr lang="en-US" sz="1200" dirty="0">
                <a:solidFill>
                  <a:srgbClr val="18213D"/>
                </a:solidFill>
                <a:latin typeface="Calibri" pitchFamily="34" charset="0"/>
                <a:ea typeface="Calibri" pitchFamily="34" charset="-122"/>
                <a:cs typeface="Calibri" pitchFamily="34" charset="-120"/>
              </a:rPr>
              <a:t>Simple collision detection based on Pythagoras</a:t>
            </a:r>
            <a:endParaRPr lang="en-US" sz="1200" dirty="0"/>
          </a:p>
          <a:p>
            <a:pPr marL="342900" indent="-342900">
              <a:lnSpc>
                <a:spcPts val="1584"/>
              </a:lnSpc>
              <a:spcAft>
                <a:spcPts val="600"/>
              </a:spcAft>
              <a:buSzPct val="100000"/>
              <a:buChar char="•"/>
            </a:pPr>
            <a:r>
              <a:rPr lang="en-US" sz="1200" dirty="0">
                <a:solidFill>
                  <a:srgbClr val="18213D"/>
                </a:solidFill>
                <a:latin typeface="Calibri" pitchFamily="34" charset="0"/>
                <a:ea typeface="Calibri" pitchFamily="34" charset="-122"/>
                <a:cs typeface="Calibri" pitchFamily="34" charset="-120"/>
              </a:rPr>
              <a:t>Asteroids split into two smaller ones; ships die when hit enough times</a:t>
            </a:r>
            <a:endParaRPr lang="en-US" sz="1200" dirty="0"/>
          </a:p>
          <a:p>
            <a:pPr marL="342900" indent="-342900">
              <a:lnSpc>
                <a:spcPts val="1584"/>
              </a:lnSpc>
              <a:spcAft>
                <a:spcPts val="600"/>
              </a:spcAft>
              <a:buSzPct val="100000"/>
              <a:buChar char="•"/>
            </a:pPr>
            <a:r>
              <a:rPr lang="en-US" sz="1200" dirty="0">
                <a:solidFill>
                  <a:srgbClr val="18213D"/>
                </a:solidFill>
                <a:latin typeface="Calibri" pitchFamily="34" charset="0"/>
                <a:ea typeface="Calibri" pitchFamily="34" charset="-122"/>
                <a:cs typeface="Calibri" pitchFamily="34" charset="-120"/>
              </a:rPr>
              <a:t>Ships that collide with asteroids are destroyed</a:t>
            </a:r>
            <a:endParaRPr lang="en-US" sz="1200" dirty="0"/>
          </a:p>
        </p:txBody>
      </p:sp>
      <p:sp>
        <p:nvSpPr>
          <p:cNvPr id="9" name="Shape 7"/>
          <p:cNvSpPr/>
          <p:nvPr/>
        </p:nvSpPr>
        <p:spPr>
          <a:xfrm>
            <a:off x="502920" y="3483864"/>
            <a:ext cx="5349240" cy="2478024"/>
          </a:xfrm>
          <a:prstGeom prst="roundRect">
            <a:avLst>
              <a:gd name="adj" fmla="val 2214"/>
            </a:avLst>
          </a:prstGeom>
          <a:solidFill>
            <a:srgbClr val="FDF3E0"/>
          </a:solidFill>
          <a:ln w="12700">
            <a:solidFill>
              <a:srgbClr val="F2DCB4"/>
            </a:solidFill>
            <a:prstDash val="solid"/>
          </a:ln>
          <a:effectLst>
            <a:outerShdw sx="100000" sy="100000" kx="0" ky="0" algn="bl" rotWithShape="0" blurRad="127000" dist="25400" dir="5400000">
              <a:srgbClr val="8FA3C4">
                <a:alpha val="28000"/>
              </a:srgbClr>
            </a:outerShdw>
          </a:effectLst>
        </p:spPr>
      </p:sp>
      <p:sp>
        <p:nvSpPr>
          <p:cNvPr id="10" name="Text 8"/>
          <p:cNvSpPr/>
          <p:nvPr/>
        </p:nvSpPr>
        <p:spPr>
          <a:xfrm>
            <a:off x="758952" y="3648456"/>
            <a:ext cx="4837176" cy="237744"/>
          </a:xfrm>
          <a:prstGeom prst="rect">
            <a:avLst/>
          </a:prstGeom>
          <a:noFill/>
          <a:ln/>
        </p:spPr>
        <p:txBody>
          <a:bodyPr wrap="square" lIns="0" tIns="0" rIns="0" bIns="0" rtlCol="0" anchor="ctr"/>
          <a:lstStyle/>
          <a:p>
            <a:pPr indent="0" marL="0">
              <a:buNone/>
            </a:pPr>
            <a:r>
              <a:rPr lang="en-US" sz="1050" b="1" spc="180" kern="0" dirty="0">
                <a:solidFill>
                  <a:srgbClr val="B07A18"/>
                </a:solidFill>
                <a:latin typeface="Calibri" pitchFamily="34" charset="0"/>
                <a:ea typeface="Calibri" pitchFamily="34" charset="-122"/>
                <a:cs typeface="Calibri" pitchFamily="34" charset="-120"/>
              </a:rPr>
              <a:t>2  ·  HOW I IMPLEMENTED IT</a:t>
            </a:r>
            <a:endParaRPr lang="en-US" sz="1050" dirty="0"/>
          </a:p>
        </p:txBody>
      </p:sp>
      <p:sp>
        <p:nvSpPr>
          <p:cNvPr id="11" name="Text 9"/>
          <p:cNvSpPr/>
          <p:nvPr/>
        </p:nvSpPr>
        <p:spPr>
          <a:xfrm>
            <a:off x="758952" y="3950208"/>
            <a:ext cx="4837176" cy="1956816"/>
          </a:xfrm>
          <a:prstGeom prst="rect">
            <a:avLst/>
          </a:prstGeom>
          <a:noFill/>
          <a:ln/>
        </p:spPr>
        <p:txBody>
          <a:bodyPr wrap="square" lIns="0" tIns="0" rIns="0" bIns="0" rtlCol="0" anchor="t"/>
          <a:lstStyle/>
          <a:p>
            <a:pPr marL="342900" indent="-342900">
              <a:lnSpc>
                <a:spcPts val="1584"/>
              </a:lnSpc>
              <a:spcAft>
                <a:spcPts val="600"/>
              </a:spcAft>
              <a:buSzPct val="100000"/>
              <a:buChar char="•"/>
            </a:pPr>
            <a:r>
              <a:rPr lang="en-US" sz="1200" dirty="0">
                <a:solidFill>
                  <a:srgbClr val="18213D"/>
                </a:solidFill>
                <a:latin typeface="Calibri" pitchFamily="34" charset="0"/>
                <a:ea typeface="Calibri" pitchFamily="34" charset="-122"/>
                <a:cs typeface="Calibri" pitchFamily="34" charset="-120"/>
              </a:rPr>
              <a:t>Full operation contracts written on IGamePluginService, IEntityProcessingService and IPostEntityProcessingService</a:t>
            </a:r>
            <a:endParaRPr lang="en-US" sz="1200" dirty="0"/>
          </a:p>
          <a:p>
            <a:pPr marL="342900" indent="-342900">
              <a:lnSpc>
                <a:spcPts val="1584"/>
              </a:lnSpc>
              <a:spcAft>
                <a:spcPts val="600"/>
              </a:spcAft>
              <a:buSzPct val="100000"/>
              <a:buChar char="•"/>
            </a:pPr>
            <a:r>
              <a:rPr lang="en-US" sz="1200" dirty="0">
                <a:solidFill>
                  <a:srgbClr val="18213D"/>
                </a:solidFill>
                <a:latin typeface="Calibri" pitchFamily="34" charset="0"/>
                <a:ea typeface="Calibri" pitchFamily="34" charset="-122"/>
                <a:cs typeface="Calibri" pitchFamily="34" charset="-120"/>
              </a:rPr>
              <a:t>CollisionDetector implements IPostEntityProcessingService — it runs only after every entity has moved</a:t>
            </a:r>
            <a:endParaRPr lang="en-US" sz="1200" dirty="0"/>
          </a:p>
          <a:p>
            <a:pPr marL="342900" indent="-342900">
              <a:lnSpc>
                <a:spcPts val="1584"/>
              </a:lnSpc>
              <a:spcAft>
                <a:spcPts val="600"/>
              </a:spcAft>
              <a:buSzPct val="100000"/>
              <a:buChar char="•"/>
            </a:pPr>
            <a:r>
              <a:rPr lang="en-US" sz="1200" dirty="0">
                <a:solidFill>
                  <a:srgbClr val="18213D"/>
                </a:solidFill>
                <a:latin typeface="Calibri" pitchFamily="34" charset="0"/>
                <a:ea typeface="Calibri" pitchFamily="34" charset="-122"/>
                <a:cs typeface="Calibri" pitchFamily="34" charset="-120"/>
              </a:rPr>
              <a:t>AsteroidSplitterImpl turns LARGE into two MEDIUM, MEDIUM into two SMALL, and removes SMALL</a:t>
            </a:r>
            <a:endParaRPr lang="en-US" sz="1200" dirty="0"/>
          </a:p>
          <a:p>
            <a:pPr marL="342900" indent="-342900">
              <a:lnSpc>
                <a:spcPts val="1584"/>
              </a:lnSpc>
              <a:spcAft>
                <a:spcPts val="600"/>
              </a:spcAft>
              <a:buSzPct val="100000"/>
              <a:buChar char="•"/>
            </a:pPr>
            <a:r>
              <a:rPr lang="en-US" sz="1200" dirty="0">
                <a:solidFill>
                  <a:srgbClr val="18213D"/>
                </a:solidFill>
                <a:latin typeface="Calibri" pitchFamily="34" charset="0"/>
                <a:ea typeface="Calibri" pitchFamily="34" charset="-122"/>
                <a:cs typeface="Calibri" pitchFamily="34" charset="-120"/>
              </a:rPr>
              <a:t>Entity carries maxHealth, so an enemy survives two bullets and dies on the third</a:t>
            </a:r>
            <a:endParaRPr lang="en-US" sz="1200" dirty="0"/>
          </a:p>
          <a:p>
            <a:pPr marL="342900" indent="-342900">
              <a:lnSpc>
                <a:spcPts val="1584"/>
              </a:lnSpc>
              <a:spcAft>
                <a:spcPts val="600"/>
              </a:spcAft>
              <a:buSzPct val="100000"/>
              <a:buChar char="•"/>
            </a:pPr>
            <a:r>
              <a:rPr lang="en-US" sz="1200" dirty="0">
                <a:solidFill>
                  <a:srgbClr val="18213D"/>
                </a:solidFill>
                <a:latin typeface="Calibri" pitchFamily="34" charset="0"/>
                <a:ea typeface="Calibri" pitchFamily="34" charset="-122"/>
                <a:cs typeface="Calibri" pitchFamily="34" charset="-120"/>
              </a:rPr>
              <a:t>A ship that flies into a rock is destroyed outright — the enemy saucer too, and the asteroid still splits; no score, since the player did not shoot it</a:t>
            </a:r>
            <a:endParaRPr lang="en-US" sz="1200" dirty="0"/>
          </a:p>
        </p:txBody>
      </p:sp>
      <p:sp>
        <p:nvSpPr>
          <p:cNvPr id="12" name="Shape 10"/>
          <p:cNvSpPr/>
          <p:nvPr/>
        </p:nvSpPr>
        <p:spPr>
          <a:xfrm>
            <a:off x="6172200" y="1261872"/>
            <a:ext cx="5486400" cy="1687830"/>
          </a:xfrm>
          <a:prstGeom prst="roundRect">
            <a:avLst>
              <a:gd name="adj" fmla="val 3251"/>
            </a:avLst>
          </a:prstGeom>
          <a:solidFill>
            <a:srgbClr val="F1F5FB"/>
          </a:solidFill>
          <a:ln w="12700">
            <a:solidFill>
              <a:srgbClr val="DEE7F3"/>
            </a:solidFill>
            <a:prstDash val="solid"/>
          </a:ln>
          <a:effectLst>
            <a:outerShdw sx="100000" sy="100000" kx="0" ky="0" algn="bl" rotWithShape="0" blurRad="127000" dist="25400" dir="5400000">
              <a:srgbClr val="8FA3C4">
                <a:alpha val="28000"/>
              </a:srgbClr>
            </a:outerShdw>
          </a:effectLst>
        </p:spPr>
      </p:sp>
      <p:sp>
        <p:nvSpPr>
          <p:cNvPr id="13" name="Text 11"/>
          <p:cNvSpPr/>
          <p:nvPr/>
        </p:nvSpPr>
        <p:spPr>
          <a:xfrm>
            <a:off x="6428232" y="1426464"/>
            <a:ext cx="4974336" cy="237744"/>
          </a:xfrm>
          <a:prstGeom prst="rect">
            <a:avLst/>
          </a:prstGeom>
          <a:noFill/>
          <a:ln/>
        </p:spPr>
        <p:txBody>
          <a:bodyPr wrap="square" lIns="0" tIns="0" rIns="0" bIns="0" rtlCol="0" anchor="ctr"/>
          <a:lstStyle/>
          <a:p>
            <a:pPr indent="0" marL="0">
              <a:buNone/>
            </a:pPr>
            <a:r>
              <a:rPr lang="en-US" sz="1050" b="1" spc="180" kern="0" dirty="0">
                <a:solidFill>
                  <a:srgbClr val="3A5A8C"/>
                </a:solidFill>
                <a:latin typeface="Calibri" pitchFamily="34" charset="0"/>
                <a:ea typeface="Calibri" pitchFamily="34" charset="-122"/>
                <a:cs typeface="Calibri" pitchFamily="34" charset="-120"/>
              </a:rPr>
              <a:t>3  ·  HOW IT WORKS</a:t>
            </a:r>
            <a:endParaRPr lang="en-US" sz="1050" dirty="0"/>
          </a:p>
        </p:txBody>
      </p:sp>
      <p:sp>
        <p:nvSpPr>
          <p:cNvPr id="14" name="Text 12"/>
          <p:cNvSpPr/>
          <p:nvPr/>
        </p:nvSpPr>
        <p:spPr>
          <a:xfrm>
            <a:off x="6428232" y="1728216"/>
            <a:ext cx="4974336" cy="1139190"/>
          </a:xfrm>
          <a:prstGeom prst="rect">
            <a:avLst/>
          </a:prstGeom>
          <a:noFill/>
          <a:ln/>
        </p:spPr>
        <p:txBody>
          <a:bodyPr wrap="square" lIns="0" tIns="0" rIns="0" bIns="0" rtlCol="0" anchor="t"/>
          <a:lstStyle/>
          <a:p>
            <a:pPr indent="0" marL="0">
              <a:lnSpc>
                <a:spcPts val="1650"/>
              </a:lnSpc>
              <a:buNone/>
            </a:pPr>
            <a:r>
              <a:rPr lang="en-US" sz="1200" dirty="0">
                <a:solidFill>
                  <a:srgbClr val="18213D"/>
                </a:solidFill>
                <a:latin typeface="Calibri" pitchFamily="34" charset="0"/>
                <a:ea typeface="Calibri" pitchFamily="34" charset="-122"/>
                <a:cs typeface="Calibri" pitchFamily="34" charset="-120"/>
              </a:rPr>
              <a:t>The pre-condition says entity processors run in no guaranteed order — which is exactly why collision could not be one of them. It had to be a post-processing service, running after every position is final for the frame. Collision then reaches the splitter through IAsteroidSplitter, never through a direct import.</a:t>
            </a:r>
            <a:endParaRPr lang="en-US" sz="1200" dirty="0"/>
          </a:p>
        </p:txBody>
      </p:sp>
      <p:sp>
        <p:nvSpPr>
          <p:cNvPr id="15" name="Text 13"/>
          <p:cNvSpPr/>
          <p:nvPr/>
        </p:nvSpPr>
        <p:spPr>
          <a:xfrm>
            <a:off x="6172200" y="3096006"/>
            <a:ext cx="5486400" cy="237744"/>
          </a:xfrm>
          <a:prstGeom prst="rect">
            <a:avLst/>
          </a:prstGeom>
          <a:noFill/>
          <a:ln/>
        </p:spPr>
        <p:txBody>
          <a:bodyPr wrap="square" lIns="0" tIns="0" rIns="0" bIns="0" rtlCol="0" anchor="ctr"/>
          <a:lstStyle/>
          <a:p>
            <a:pPr indent="0" marL="0">
              <a:buNone/>
            </a:pPr>
            <a:r>
              <a:rPr lang="en-US" sz="1050" b="1" spc="160" kern="0" dirty="0">
                <a:solidFill>
                  <a:srgbClr val="5F7192"/>
                </a:solidFill>
                <a:latin typeface="Calibri" pitchFamily="34" charset="0"/>
                <a:ea typeface="Calibri" pitchFamily="34" charset="-122"/>
                <a:cs typeface="Calibri" pitchFamily="34" charset="-120"/>
              </a:rPr>
              <a:t>Collision/CollisionDetector.java  ·  the Pythagoras test</a:t>
            </a:r>
            <a:endParaRPr lang="en-US" sz="1050" dirty="0"/>
          </a:p>
        </p:txBody>
      </p:sp>
      <p:sp>
        <p:nvSpPr>
          <p:cNvPr id="16" name="Shape 14"/>
          <p:cNvSpPr/>
          <p:nvPr/>
        </p:nvSpPr>
        <p:spPr>
          <a:xfrm>
            <a:off x="6172200" y="3370326"/>
            <a:ext cx="5486400" cy="2774442"/>
          </a:xfrm>
          <a:prstGeom prst="roundRect">
            <a:avLst>
              <a:gd name="adj" fmla="val 1648"/>
            </a:avLst>
          </a:prstGeom>
          <a:solidFill>
            <a:srgbClr val="0F1729"/>
          </a:solidFill>
          <a:ln w="12700">
            <a:solidFill>
              <a:srgbClr val="2A3552"/>
            </a:solidFill>
            <a:prstDash val="solid"/>
          </a:ln>
        </p:spPr>
      </p:sp>
      <p:sp>
        <p:nvSpPr>
          <p:cNvPr id="17" name="Text 15"/>
          <p:cNvSpPr/>
          <p:nvPr/>
        </p:nvSpPr>
        <p:spPr>
          <a:xfrm>
            <a:off x="6327648" y="3489198"/>
            <a:ext cx="5175504" cy="2536698"/>
          </a:xfrm>
          <a:prstGeom prst="rect">
            <a:avLst/>
          </a:prstGeom>
          <a:noFill/>
          <a:ln/>
        </p:spPr>
        <p:txBody>
          <a:bodyPr wrap="square" lIns="0" tIns="0" rIns="0" bIns="0" rtlCol="0" anchor="t"/>
          <a:lstStyle/>
          <a:p>
            <a:pPr indent="0" marL="0">
              <a:lnSpc>
                <a:spcPts val="1491"/>
              </a:lnSpc>
              <a:buNone/>
            </a:pPr>
            <a:r>
              <a:rPr lang="en-US" sz="1050" dirty="0">
                <a:solidFill>
                  <a:srgbClr val="76899F"/>
                </a:solidFill>
                <a:latin typeface="Courier New" pitchFamily="34" charset="0"/>
                <a:ea typeface="Courier New" pitchFamily="34" charset="-122"/>
                <a:cs typeface="Courier New" pitchFamily="34" charset="-120"/>
              </a:rPr>
              <a:t>// PRE:  every IEntityProcessingService has already run,</a:t>
            </a:r>
            <a:endParaRPr lang="en-US" sz="1050" dirty="0"/>
          </a:p>
          <a:p>
            <a:pPr indent="0" marL="0">
              <a:lnSpc>
                <a:spcPts val="1491"/>
              </a:lnSpc>
              <a:buNone/>
            </a:pPr>
            <a:r>
              <a:rPr lang="en-US" sz="1050" dirty="0">
                <a:solidFill>
                  <a:srgbClr val="76899F"/>
                </a:solidFill>
                <a:latin typeface="Courier New" pitchFamily="34" charset="0"/>
                <a:ea typeface="Courier New" pitchFamily="34" charset="-122"/>
                <a:cs typeface="Courier New" pitchFamily="34" charset="-120"/>
              </a:rPr>
              <a:t>//       so all positions are final for this frame.</a:t>
            </a:r>
            <a:endParaRPr lang="en-US" sz="1050" dirty="0"/>
          </a:p>
          <a:p>
            <a:pPr indent="0" marL="0">
              <a:lnSpc>
                <a:spcPts val="1491"/>
              </a:lnSpc>
              <a:buNone/>
            </a:pPr>
            <a:r>
              <a:rPr lang="en-US" sz="1050" dirty="0">
                <a:solidFill>
                  <a:srgbClr val="76899F"/>
                </a:solidFill>
                <a:latin typeface="Courier New" pitchFamily="34" charset="0"/>
                <a:ea typeface="Courier New" pitchFamily="34" charset="-122"/>
                <a:cs typeface="Courier New" pitchFamily="34" charset="-120"/>
              </a:rPr>
              <a:t>// POST: overlapping pairs resolved, score awarded,</a:t>
            </a:r>
            <a:endParaRPr lang="en-US" sz="1050" dirty="0"/>
          </a:p>
          <a:p>
            <a:pPr indent="0" marL="0">
              <a:lnSpc>
                <a:spcPts val="1491"/>
              </a:lnSpc>
              <a:buNone/>
            </a:pPr>
            <a:r>
              <a:rPr lang="en-US" sz="1050" dirty="0">
                <a:solidFill>
                  <a:srgbClr val="76899F"/>
                </a:solidFill>
                <a:latin typeface="Courier New" pitchFamily="34" charset="0"/>
                <a:ea typeface="Courier New" pitchFamily="34" charset="-122"/>
                <a:cs typeface="Courier New" pitchFamily="34" charset="-120"/>
              </a:rPr>
              <a:t>//       destroyed entities removed from the world.</a:t>
            </a:r>
            <a:endParaRPr lang="en-US" sz="1050" dirty="0"/>
          </a:p>
          <a:p>
            <a:pPr indent="0" marL="0">
              <a:lnSpc>
                <a:spcPts val="1491"/>
              </a:lnSpc>
              <a:buNone/>
            </a:pPr>
            <a:r>
              <a:rPr lang="en-US" sz="1050" dirty="0">
                <a:solidFill>
                  <a:srgbClr val="D9E3F2"/>
                </a:solidFill>
                <a:latin typeface="Courier New" pitchFamily="34" charset="0"/>
                <a:ea typeface="Courier New" pitchFamily="34" charset="-122"/>
                <a:cs typeface="Courier New" pitchFamily="34" charset="-120"/>
              </a:rPr>
              <a:t>public boolean collides(Entity a, Entity b) {</a:t>
            </a:r>
            <a:endParaRPr lang="en-US" sz="1050" dirty="0"/>
          </a:p>
          <a:p>
            <a:pPr indent="0" marL="0">
              <a:lnSpc>
                <a:spcPts val="1491"/>
              </a:lnSpc>
              <a:buNone/>
            </a:pPr>
            <a:r>
              <a:rPr lang="en-US" sz="1050" dirty="0">
                <a:solidFill>
                  <a:srgbClr val="D9E3F2"/>
                </a:solidFill>
                <a:latin typeface="Courier New" pitchFamily="34" charset="0"/>
                <a:ea typeface="Courier New" pitchFamily="34" charset="-122"/>
                <a:cs typeface="Courier New" pitchFamily="34" charset="-120"/>
              </a:rPr>
              <a:t>    double dx = a.getX() - b.getX();</a:t>
            </a:r>
            <a:endParaRPr lang="en-US" sz="1050" dirty="0"/>
          </a:p>
          <a:p>
            <a:pPr indent="0" marL="0">
              <a:lnSpc>
                <a:spcPts val="1491"/>
              </a:lnSpc>
              <a:buNone/>
            </a:pPr>
            <a:r>
              <a:rPr lang="en-US" sz="1050" dirty="0">
                <a:solidFill>
                  <a:srgbClr val="D9E3F2"/>
                </a:solidFill>
                <a:latin typeface="Courier New" pitchFamily="34" charset="0"/>
                <a:ea typeface="Courier New" pitchFamily="34" charset="-122"/>
                <a:cs typeface="Courier New" pitchFamily="34" charset="-120"/>
              </a:rPr>
              <a:t>    double dy = a.getY() - b.getY();</a:t>
            </a:r>
            <a:endParaRPr lang="en-US" sz="1050" dirty="0"/>
          </a:p>
          <a:p>
            <a:pPr indent="0" marL="0">
              <a:lnSpc>
                <a:spcPts val="1491"/>
              </a:lnSpc>
              <a:buNone/>
            </a:pPr>
            <a:r>
              <a:rPr lang="en-US" sz="1050" dirty="0">
                <a:solidFill>
                  <a:srgbClr val="D9E3F2"/>
                </a:solidFill>
                <a:latin typeface="Courier New" pitchFamily="34" charset="0"/>
                <a:ea typeface="Courier New" pitchFamily="34" charset="-122"/>
                <a:cs typeface="Courier New" pitchFamily="34" charset="-120"/>
              </a:rPr>
              <a:t>    double distance = Math.sqrt(dx * dx + dy * dy);</a:t>
            </a:r>
            <a:endParaRPr lang="en-US" sz="1050" dirty="0"/>
          </a:p>
          <a:p>
            <a:pPr indent="0" marL="0">
              <a:lnSpc>
                <a:spcPts val="1491"/>
              </a:lnSpc>
              <a:buNone/>
            </a:pPr>
            <a:r>
              <a:rPr lang="en-US" sz="1050" dirty="0">
                <a:solidFill>
                  <a:srgbClr val="D9E3F2"/>
                </a:solidFill>
                <a:latin typeface="Courier New" pitchFamily="34" charset="0"/>
                <a:ea typeface="Courier New" pitchFamily="34" charset="-122"/>
                <a:cs typeface="Courier New" pitchFamily="34" charset="-120"/>
              </a:rPr>
              <a:t>    return distance &lt; a.getRadius() + b.getRadius();</a:t>
            </a:r>
            <a:endParaRPr lang="en-US" sz="1050" dirty="0"/>
          </a:p>
          <a:p>
            <a:pPr indent="0" marL="0">
              <a:lnSpc>
                <a:spcPts val="1491"/>
              </a:lnSpc>
              <a:buNone/>
            </a:pPr>
            <a:r>
              <a:rPr lang="en-US" sz="1050" dirty="0">
                <a:solidFill>
                  <a:srgbClr val="D9E3F2"/>
                </a:solidFill>
                <a:latin typeface="Courier New" pitchFamily="34" charset="0"/>
                <a:ea typeface="Courier New" pitchFamily="34" charset="-122"/>
                <a:cs typeface="Courier New" pitchFamily="34" charset="-120"/>
              </a:rPr>
              <a:t>}</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10896"/>
            <a:ext cx="548640" cy="548640"/>
          </a:xfrm>
          <a:prstGeom prst="ellipse">
            <a:avLst/>
          </a:prstGeom>
          <a:solidFill>
            <a:srgbClr val="18213D"/>
          </a:solidFill>
          <a:ln/>
        </p:spPr>
      </p:sp>
      <p:sp>
        <p:nvSpPr>
          <p:cNvPr id="3" name="Text 1"/>
          <p:cNvSpPr/>
          <p:nvPr/>
        </p:nvSpPr>
        <p:spPr>
          <a:xfrm>
            <a:off x="502920" y="310896"/>
            <a:ext cx="548640" cy="548640"/>
          </a:xfrm>
          <a:prstGeom prst="rect">
            <a:avLst/>
          </a:prstGeom>
          <a:noFill/>
          <a:ln/>
        </p:spPr>
        <p:txBody>
          <a:bodyPr wrap="square" lIns="0" tIns="0" rIns="0" bIns="0" rtlCol="0" anchor="ctr"/>
          <a:lstStyle/>
          <a:p>
            <a:pPr algn="ctr" indent="0" marL="0">
              <a:buNone/>
            </a:pPr>
            <a:r>
              <a:rPr lang="en-US" sz="2100" b="1" dirty="0">
                <a:solidFill>
                  <a:srgbClr val="F5A623"/>
                </a:solidFill>
                <a:latin typeface="Cambria" pitchFamily="34" charset="0"/>
                <a:ea typeface="Cambria" pitchFamily="34" charset="-122"/>
                <a:cs typeface="Cambria" pitchFamily="34" charset="-120"/>
              </a:rPr>
              <a:t>3</a:t>
            </a:r>
            <a:endParaRPr lang="en-US" sz="2100" dirty="0"/>
          </a:p>
        </p:txBody>
      </p:sp>
      <p:sp>
        <p:nvSpPr>
          <p:cNvPr id="4" name="Text 2"/>
          <p:cNvSpPr/>
          <p:nvPr/>
        </p:nvSpPr>
        <p:spPr>
          <a:xfrm>
            <a:off x="1234440" y="329184"/>
            <a:ext cx="5943600" cy="237744"/>
          </a:xfrm>
          <a:prstGeom prst="rect">
            <a:avLst/>
          </a:prstGeom>
          <a:noFill/>
          <a:ln/>
        </p:spPr>
        <p:txBody>
          <a:bodyPr wrap="square" lIns="0" tIns="0" rIns="0" bIns="0" rtlCol="0" anchor="ctr"/>
          <a:lstStyle/>
          <a:p>
            <a:pPr indent="0" marL="0">
              <a:buNone/>
            </a:pPr>
            <a:r>
              <a:rPr lang="en-US" sz="1150" b="1" spc="220" kern="0" dirty="0">
                <a:solidFill>
                  <a:srgbClr val="5F7192"/>
                </a:solidFill>
                <a:latin typeface="Calibri" pitchFamily="34" charset="0"/>
                <a:ea typeface="Calibri" pitchFamily="34" charset="-122"/>
                <a:cs typeface="Calibri" pitchFamily="34" charset="-120"/>
              </a:rPr>
              <a:t>JAVALAB</a:t>
            </a:r>
            <a:endParaRPr lang="en-US" sz="1150" dirty="0"/>
          </a:p>
        </p:txBody>
      </p:sp>
      <p:sp>
        <p:nvSpPr>
          <p:cNvPr id="5" name="Text 3"/>
          <p:cNvSpPr/>
          <p:nvPr/>
        </p:nvSpPr>
        <p:spPr>
          <a:xfrm>
            <a:off x="1234440" y="548640"/>
            <a:ext cx="10424160" cy="457200"/>
          </a:xfrm>
          <a:prstGeom prst="rect">
            <a:avLst/>
          </a:prstGeom>
          <a:noFill/>
          <a:ln/>
        </p:spPr>
        <p:txBody>
          <a:bodyPr wrap="square" lIns="0" tIns="0" rIns="0" bIns="0" rtlCol="0" anchor="ctr"/>
          <a:lstStyle/>
          <a:p>
            <a:pPr indent="0" marL="0">
              <a:buNone/>
            </a:pPr>
            <a:r>
              <a:rPr lang="en-US" sz="2900" b="1" dirty="0">
                <a:solidFill>
                  <a:srgbClr val="18213D"/>
                </a:solidFill>
                <a:latin typeface="Cambria" pitchFamily="34" charset="0"/>
                <a:ea typeface="Cambria" pitchFamily="34" charset="-122"/>
                <a:cs typeface="Cambria" pitchFamily="34" charset="-120"/>
              </a:rPr>
              <a:t>ServiceLoader and the whiteboard model</a:t>
            </a:r>
            <a:endParaRPr lang="en-US" sz="2900" dirty="0"/>
          </a:p>
        </p:txBody>
      </p:sp>
      <p:sp>
        <p:nvSpPr>
          <p:cNvPr id="6" name="Shape 4"/>
          <p:cNvSpPr/>
          <p:nvPr/>
        </p:nvSpPr>
        <p:spPr>
          <a:xfrm>
            <a:off x="502920" y="1261872"/>
            <a:ext cx="5349240" cy="1798320"/>
          </a:xfrm>
          <a:prstGeom prst="roundRect">
            <a:avLst>
              <a:gd name="adj" fmla="val 3051"/>
            </a:avLst>
          </a:prstGeom>
          <a:solidFill>
            <a:srgbClr val="F1F5FB"/>
          </a:solidFill>
          <a:ln w="12700">
            <a:solidFill>
              <a:srgbClr val="DEE7F3"/>
            </a:solidFill>
            <a:prstDash val="solid"/>
          </a:ln>
          <a:effectLst>
            <a:outerShdw sx="100000" sy="100000" kx="0" ky="0" algn="bl" rotWithShape="0" blurRad="127000" dist="25400" dir="5400000">
              <a:srgbClr val="8FA3C4">
                <a:alpha val="28000"/>
              </a:srgbClr>
            </a:outerShdw>
          </a:effectLst>
        </p:spPr>
      </p:sp>
      <p:sp>
        <p:nvSpPr>
          <p:cNvPr id="7" name="Text 5"/>
          <p:cNvSpPr/>
          <p:nvPr/>
        </p:nvSpPr>
        <p:spPr>
          <a:xfrm>
            <a:off x="758952" y="1426464"/>
            <a:ext cx="4837176" cy="237744"/>
          </a:xfrm>
          <a:prstGeom prst="rect">
            <a:avLst/>
          </a:prstGeom>
          <a:noFill/>
          <a:ln/>
        </p:spPr>
        <p:txBody>
          <a:bodyPr wrap="square" lIns="0" tIns="0" rIns="0" bIns="0" rtlCol="0" anchor="ctr"/>
          <a:lstStyle/>
          <a:p>
            <a:pPr indent="0" marL="0">
              <a:buNone/>
            </a:pPr>
            <a:r>
              <a:rPr lang="en-US" sz="1050" b="1" spc="180" kern="0" dirty="0">
                <a:solidFill>
                  <a:srgbClr val="3A5A8C"/>
                </a:solidFill>
                <a:latin typeface="Calibri" pitchFamily="34" charset="0"/>
                <a:ea typeface="Calibri" pitchFamily="34" charset="-122"/>
                <a:cs typeface="Calibri" pitchFamily="34" charset="-120"/>
              </a:rPr>
              <a:t>1  ·  WHAT THE LAB ASKED FOR</a:t>
            </a:r>
            <a:endParaRPr lang="en-US" sz="1050" dirty="0"/>
          </a:p>
        </p:txBody>
      </p:sp>
      <p:sp>
        <p:nvSpPr>
          <p:cNvPr id="8" name="Text 6"/>
          <p:cNvSpPr/>
          <p:nvPr/>
        </p:nvSpPr>
        <p:spPr>
          <a:xfrm>
            <a:off x="758952" y="1728216"/>
            <a:ext cx="4837176" cy="1277112"/>
          </a:xfrm>
          <a:prstGeom prst="rect">
            <a:avLst/>
          </a:prstGeom>
          <a:noFill/>
          <a:ln/>
        </p:spPr>
        <p:txBody>
          <a:bodyPr wrap="square" lIns="0" tIns="0" rIns="0" bIns="0" rtlCol="0" anchor="t"/>
          <a:lstStyle/>
          <a:p>
            <a:pPr marL="342900" indent="-342900">
              <a:lnSpc>
                <a:spcPts val="1584"/>
              </a:lnSpc>
              <a:spcAft>
                <a:spcPts val="600"/>
              </a:spcAft>
              <a:buSzPct val="100000"/>
              <a:buChar char="•"/>
            </a:pPr>
            <a:r>
              <a:rPr lang="en-US" sz="1200" dirty="0">
                <a:solidFill>
                  <a:srgbClr val="18213D"/>
                </a:solidFill>
                <a:latin typeface="Calibri" pitchFamily="34" charset="0"/>
                <a:ea typeface="Calibri" pitchFamily="34" charset="-122"/>
                <a:cs typeface="Calibri" pitchFamily="34" charset="-120"/>
              </a:rPr>
              <a:t>Automate the component assembly using the ServiceLoader built into Java SE</a:t>
            </a:r>
            <a:endParaRPr lang="en-US" sz="1200" dirty="0"/>
          </a:p>
          <a:p>
            <a:pPr marL="342900" indent="-342900">
              <a:lnSpc>
                <a:spcPts val="1584"/>
              </a:lnSpc>
              <a:spcAft>
                <a:spcPts val="600"/>
              </a:spcAft>
              <a:buSzPct val="100000"/>
              <a:buChar char="•"/>
            </a:pPr>
            <a:r>
              <a:rPr lang="en-US" sz="1200" dirty="0">
                <a:solidFill>
                  <a:srgbClr val="18213D"/>
                </a:solidFill>
                <a:latin typeface="Calibri" pitchFamily="34" charset="0"/>
                <a:ea typeface="Calibri" pitchFamily="34" charset="-122"/>
                <a:cs typeface="Calibri" pitchFamily="34" charset="-120"/>
              </a:rPr>
              <a:t>Apply the whiteboard component model</a:t>
            </a:r>
            <a:endParaRPr lang="en-US" sz="1200" dirty="0"/>
          </a:p>
          <a:p>
            <a:pPr marL="342900" indent="-342900">
              <a:lnSpc>
                <a:spcPts val="1584"/>
              </a:lnSpc>
              <a:spcAft>
                <a:spcPts val="600"/>
              </a:spcAft>
              <a:buSzPct val="100000"/>
              <a:buChar char="•"/>
            </a:pPr>
            <a:r>
              <a:rPr lang="en-US" sz="1200" dirty="0">
                <a:solidFill>
                  <a:srgbClr val="18213D"/>
                </a:solidFill>
                <a:latin typeface="Calibri" pitchFamily="34" charset="0"/>
                <a:ea typeface="Calibri" pitchFamily="34" charset="-122"/>
                <a:cs typeface="Calibri" pitchFamily="34" charset="-120"/>
              </a:rPr>
              <a:t>Understand why component interfaces are introduced in the first place</a:t>
            </a:r>
            <a:endParaRPr lang="en-US" sz="1200" dirty="0"/>
          </a:p>
        </p:txBody>
      </p:sp>
      <p:sp>
        <p:nvSpPr>
          <p:cNvPr id="9" name="Shape 7"/>
          <p:cNvSpPr/>
          <p:nvPr/>
        </p:nvSpPr>
        <p:spPr>
          <a:xfrm>
            <a:off x="502920" y="3206496"/>
            <a:ext cx="5349240" cy="2478024"/>
          </a:xfrm>
          <a:prstGeom prst="roundRect">
            <a:avLst>
              <a:gd name="adj" fmla="val 2214"/>
            </a:avLst>
          </a:prstGeom>
          <a:solidFill>
            <a:srgbClr val="FDF3E0"/>
          </a:solidFill>
          <a:ln w="12700">
            <a:solidFill>
              <a:srgbClr val="F2DCB4"/>
            </a:solidFill>
            <a:prstDash val="solid"/>
          </a:ln>
          <a:effectLst>
            <a:outerShdw sx="100000" sy="100000" kx="0" ky="0" algn="bl" rotWithShape="0" blurRad="127000" dist="25400" dir="5400000">
              <a:srgbClr val="8FA3C4">
                <a:alpha val="28000"/>
              </a:srgbClr>
            </a:outerShdw>
          </a:effectLst>
        </p:spPr>
      </p:sp>
      <p:sp>
        <p:nvSpPr>
          <p:cNvPr id="10" name="Text 8"/>
          <p:cNvSpPr/>
          <p:nvPr/>
        </p:nvSpPr>
        <p:spPr>
          <a:xfrm>
            <a:off x="758952" y="3371088"/>
            <a:ext cx="4837176" cy="237744"/>
          </a:xfrm>
          <a:prstGeom prst="rect">
            <a:avLst/>
          </a:prstGeom>
          <a:noFill/>
          <a:ln/>
        </p:spPr>
        <p:txBody>
          <a:bodyPr wrap="square" lIns="0" tIns="0" rIns="0" bIns="0" rtlCol="0" anchor="ctr"/>
          <a:lstStyle/>
          <a:p>
            <a:pPr indent="0" marL="0">
              <a:buNone/>
            </a:pPr>
            <a:r>
              <a:rPr lang="en-US" sz="1050" b="1" spc="180" kern="0" dirty="0">
                <a:solidFill>
                  <a:srgbClr val="B07A18"/>
                </a:solidFill>
                <a:latin typeface="Calibri" pitchFamily="34" charset="0"/>
                <a:ea typeface="Calibri" pitchFamily="34" charset="-122"/>
                <a:cs typeface="Calibri" pitchFamily="34" charset="-120"/>
              </a:rPr>
              <a:t>2  ·  HOW I IMPLEMENTED IT</a:t>
            </a:r>
            <a:endParaRPr lang="en-US" sz="1050" dirty="0"/>
          </a:p>
        </p:txBody>
      </p:sp>
      <p:sp>
        <p:nvSpPr>
          <p:cNvPr id="11" name="Text 9"/>
          <p:cNvSpPr/>
          <p:nvPr/>
        </p:nvSpPr>
        <p:spPr>
          <a:xfrm>
            <a:off x="758952" y="3672840"/>
            <a:ext cx="4837176" cy="1956816"/>
          </a:xfrm>
          <a:prstGeom prst="rect">
            <a:avLst/>
          </a:prstGeom>
          <a:noFill/>
          <a:ln/>
        </p:spPr>
        <p:txBody>
          <a:bodyPr wrap="square" lIns="0" tIns="0" rIns="0" bIns="0" rtlCol="0" anchor="t"/>
          <a:lstStyle/>
          <a:p>
            <a:pPr marL="342900" indent="-342900">
              <a:lnSpc>
                <a:spcPts val="1584"/>
              </a:lnSpc>
              <a:spcAft>
                <a:spcPts val="600"/>
              </a:spcAft>
              <a:buSzPct val="100000"/>
              <a:buChar char="•"/>
            </a:pPr>
            <a:r>
              <a:rPr lang="en-US" sz="1200" dirty="0">
                <a:solidFill>
                  <a:srgbClr val="18213D"/>
                </a:solidFill>
                <a:latin typeface="Calibri" pitchFamily="34" charset="0"/>
                <a:ea typeface="Calibri" pitchFamily="34" charset="-122"/>
                <a:cs typeface="Calibri" pitchFamily="34" charset="-120"/>
              </a:rPr>
              <a:t>Common/util/ServiceLocator.java is the single assembly point for the whole game</a:t>
            </a:r>
            <a:endParaRPr lang="en-US" sz="1200" dirty="0"/>
          </a:p>
          <a:p>
            <a:pPr marL="342900" indent="-342900">
              <a:lnSpc>
                <a:spcPts val="1584"/>
              </a:lnSpc>
              <a:spcAft>
                <a:spcPts val="600"/>
              </a:spcAft>
              <a:buSzPct val="100000"/>
              <a:buChar char="•"/>
            </a:pPr>
            <a:r>
              <a:rPr lang="en-US" sz="1200" dirty="0">
                <a:solidFill>
                  <a:srgbClr val="18213D"/>
                </a:solidFill>
                <a:latin typeface="Calibri" pitchFamily="34" charset="0"/>
                <a:ea typeface="Calibri" pitchFamily="34" charset="-122"/>
                <a:cs typeface="Calibri" pitchFamily="34" charset="-120"/>
              </a:rPr>
              <a:t>locateAll(Class) returns every provider of one interface found across all plugin jars</a:t>
            </a:r>
            <a:endParaRPr lang="en-US" sz="1200" dirty="0"/>
          </a:p>
          <a:p>
            <a:pPr marL="342900" indent="-342900">
              <a:lnSpc>
                <a:spcPts val="1584"/>
              </a:lnSpc>
              <a:spcAft>
                <a:spcPts val="600"/>
              </a:spcAft>
              <a:buSzPct val="100000"/>
              <a:buChar char="•"/>
            </a:pPr>
            <a:r>
              <a:rPr lang="en-US" sz="1200" dirty="0">
                <a:solidFill>
                  <a:srgbClr val="18213D"/>
                </a:solidFill>
                <a:latin typeface="Calibri" pitchFamily="34" charset="0"/>
                <a:ea typeface="Calibri" pitchFamily="34" charset="-122"/>
                <a:cs typeface="Calibri" pitchFamily="34" charset="-120"/>
              </a:rPr>
              <a:t>Called three times at startup — once per service interface — and cached per service type</a:t>
            </a:r>
            <a:endParaRPr lang="en-US" sz="1200" dirty="0"/>
          </a:p>
          <a:p>
            <a:pPr marL="342900" indent="-342900">
              <a:lnSpc>
                <a:spcPts val="1584"/>
              </a:lnSpc>
              <a:spcAft>
                <a:spcPts val="600"/>
              </a:spcAft>
              <a:buSzPct val="100000"/>
              <a:buChar char="•"/>
            </a:pPr>
            <a:r>
              <a:rPr lang="en-US" sz="1200" dirty="0">
                <a:solidFill>
                  <a:srgbClr val="18213D"/>
                </a:solidFill>
                <a:latin typeface="Calibri" pitchFamily="34" charset="0"/>
                <a:ea typeface="Calibri" pitchFamily="34" charset="-122"/>
                <a:cs typeface="Calibri" pitchFamily="34" charset="-120"/>
              </a:rPr>
              <a:t>Core holds no reference to any concrete plugin class anywhere in its source</a:t>
            </a:r>
            <a:endParaRPr lang="en-US" sz="1200" dirty="0"/>
          </a:p>
        </p:txBody>
      </p:sp>
      <p:sp>
        <p:nvSpPr>
          <p:cNvPr id="12" name="Shape 10"/>
          <p:cNvSpPr/>
          <p:nvPr/>
        </p:nvSpPr>
        <p:spPr>
          <a:xfrm>
            <a:off x="6172200" y="1261872"/>
            <a:ext cx="5486400" cy="1478280"/>
          </a:xfrm>
          <a:prstGeom prst="roundRect">
            <a:avLst>
              <a:gd name="adj" fmla="val 3711"/>
            </a:avLst>
          </a:prstGeom>
          <a:solidFill>
            <a:srgbClr val="F1F5FB"/>
          </a:solidFill>
          <a:ln w="12700">
            <a:solidFill>
              <a:srgbClr val="DEE7F3"/>
            </a:solidFill>
            <a:prstDash val="solid"/>
          </a:ln>
          <a:effectLst>
            <a:outerShdw sx="100000" sy="100000" kx="0" ky="0" algn="bl" rotWithShape="0" blurRad="127000" dist="25400" dir="5400000">
              <a:srgbClr val="8FA3C4">
                <a:alpha val="28000"/>
              </a:srgbClr>
            </a:outerShdw>
          </a:effectLst>
        </p:spPr>
      </p:sp>
      <p:sp>
        <p:nvSpPr>
          <p:cNvPr id="13" name="Text 11"/>
          <p:cNvSpPr/>
          <p:nvPr/>
        </p:nvSpPr>
        <p:spPr>
          <a:xfrm>
            <a:off x="6428232" y="1426464"/>
            <a:ext cx="4974336" cy="237744"/>
          </a:xfrm>
          <a:prstGeom prst="rect">
            <a:avLst/>
          </a:prstGeom>
          <a:noFill/>
          <a:ln/>
        </p:spPr>
        <p:txBody>
          <a:bodyPr wrap="square" lIns="0" tIns="0" rIns="0" bIns="0" rtlCol="0" anchor="ctr"/>
          <a:lstStyle/>
          <a:p>
            <a:pPr indent="0" marL="0">
              <a:buNone/>
            </a:pPr>
            <a:r>
              <a:rPr lang="en-US" sz="1050" b="1" spc="180" kern="0" dirty="0">
                <a:solidFill>
                  <a:srgbClr val="3A5A8C"/>
                </a:solidFill>
                <a:latin typeface="Calibri" pitchFamily="34" charset="0"/>
                <a:ea typeface="Calibri" pitchFamily="34" charset="-122"/>
                <a:cs typeface="Calibri" pitchFamily="34" charset="-120"/>
              </a:rPr>
              <a:t>3  ·  HOW IT WORKS</a:t>
            </a:r>
            <a:endParaRPr lang="en-US" sz="1050" dirty="0"/>
          </a:p>
        </p:txBody>
      </p:sp>
      <p:sp>
        <p:nvSpPr>
          <p:cNvPr id="14" name="Text 12"/>
          <p:cNvSpPr/>
          <p:nvPr/>
        </p:nvSpPr>
        <p:spPr>
          <a:xfrm>
            <a:off x="6428232" y="1728216"/>
            <a:ext cx="4974336" cy="929640"/>
          </a:xfrm>
          <a:prstGeom prst="rect">
            <a:avLst/>
          </a:prstGeom>
          <a:noFill/>
          <a:ln/>
        </p:spPr>
        <p:txBody>
          <a:bodyPr wrap="square" lIns="0" tIns="0" rIns="0" bIns="0" rtlCol="0" anchor="t"/>
          <a:lstStyle/>
          <a:p>
            <a:pPr indent="0" marL="0">
              <a:lnSpc>
                <a:spcPts val="1650"/>
              </a:lnSpc>
              <a:buNone/>
            </a:pPr>
            <a:r>
              <a:rPr lang="en-US" sz="1200" dirty="0">
                <a:solidFill>
                  <a:srgbClr val="18213D"/>
                </a:solidFill>
                <a:latin typeface="Calibri" pitchFamily="34" charset="0"/>
                <a:ea typeface="Calibri" pitchFamily="34" charset="-122"/>
                <a:cs typeface="Calibri" pitchFamily="34" charset="-120"/>
              </a:rPr>
              <a:t>A component joins the running game purely by declaring provides in its module-info.java. Nothing registers it and nothing imports it. Core asks ServiceLoader for an interface and takes whatever turns up — that indirection is the whole reason the interfaces exist.</a:t>
            </a:r>
            <a:endParaRPr lang="en-US" sz="1200" dirty="0"/>
          </a:p>
        </p:txBody>
      </p:sp>
      <p:sp>
        <p:nvSpPr>
          <p:cNvPr id="15" name="Text 13"/>
          <p:cNvSpPr/>
          <p:nvPr/>
        </p:nvSpPr>
        <p:spPr>
          <a:xfrm>
            <a:off x="6172200" y="2886456"/>
            <a:ext cx="5486400" cy="237744"/>
          </a:xfrm>
          <a:prstGeom prst="rect">
            <a:avLst/>
          </a:prstGeom>
          <a:noFill/>
          <a:ln/>
        </p:spPr>
        <p:txBody>
          <a:bodyPr wrap="square" lIns="0" tIns="0" rIns="0" bIns="0" rtlCol="0" anchor="ctr"/>
          <a:lstStyle/>
          <a:p>
            <a:pPr indent="0" marL="0">
              <a:buNone/>
            </a:pPr>
            <a:r>
              <a:rPr lang="en-US" sz="1050" b="1" spc="160" kern="0" dirty="0">
                <a:solidFill>
                  <a:srgbClr val="5F7192"/>
                </a:solidFill>
                <a:latin typeface="Calibri" pitchFamily="34" charset="0"/>
                <a:ea typeface="Calibri" pitchFamily="34" charset="-122"/>
                <a:cs typeface="Calibri" pitchFamily="34" charset="-120"/>
              </a:rPr>
              <a:t>Common/src/main/java/.../util/ServiceLocator.java</a:t>
            </a:r>
            <a:endParaRPr lang="en-US" sz="1050" dirty="0"/>
          </a:p>
        </p:txBody>
      </p:sp>
      <p:sp>
        <p:nvSpPr>
          <p:cNvPr id="16" name="Shape 14"/>
          <p:cNvSpPr/>
          <p:nvPr/>
        </p:nvSpPr>
        <p:spPr>
          <a:xfrm>
            <a:off x="6172200" y="3160776"/>
            <a:ext cx="5486400" cy="2983992"/>
          </a:xfrm>
          <a:prstGeom prst="roundRect">
            <a:avLst>
              <a:gd name="adj" fmla="val 1532"/>
            </a:avLst>
          </a:prstGeom>
          <a:solidFill>
            <a:srgbClr val="0F1729"/>
          </a:solidFill>
          <a:ln w="12700">
            <a:solidFill>
              <a:srgbClr val="2A3552"/>
            </a:solidFill>
            <a:prstDash val="solid"/>
          </a:ln>
        </p:spPr>
      </p:sp>
      <p:sp>
        <p:nvSpPr>
          <p:cNvPr id="17" name="Text 15"/>
          <p:cNvSpPr/>
          <p:nvPr/>
        </p:nvSpPr>
        <p:spPr>
          <a:xfrm>
            <a:off x="6327648" y="3279648"/>
            <a:ext cx="5175504" cy="2746248"/>
          </a:xfrm>
          <a:prstGeom prst="rect">
            <a:avLst/>
          </a:prstGeom>
          <a:noFill/>
          <a:ln/>
        </p:spPr>
        <p:txBody>
          <a:bodyPr wrap="square" lIns="0" tIns="0" rIns="0" bIns="0" rtlCol="0" anchor="t"/>
          <a:lstStyle/>
          <a:p>
            <a:pPr indent="0" marL="0">
              <a:lnSpc>
                <a:spcPts val="1343"/>
              </a:lnSpc>
              <a:buNone/>
            </a:pPr>
            <a:r>
              <a:rPr lang="en-US" sz="945" dirty="0">
                <a:solidFill>
                  <a:srgbClr val="D9E3F2"/>
                </a:solidFill>
                <a:latin typeface="Courier New" pitchFamily="34" charset="0"/>
                <a:ea typeface="Courier New" pitchFamily="34" charset="-122"/>
                <a:cs typeface="Courier New" pitchFamily="34" charset="-120"/>
              </a:rPr>
              <a:t>public enum ServiceLocator {</a:t>
            </a:r>
            <a:endParaRPr lang="en-US" sz="945" dirty="0"/>
          </a:p>
          <a:p>
            <a:pPr indent="0" marL="0">
              <a:lnSpc>
                <a:spcPts val="1343"/>
              </a:lnSpc>
              <a:buNone/>
            </a:pPr>
            <a:r>
              <a:rPr lang="en-US" sz="945" dirty="0">
                <a:solidFill>
                  <a:srgbClr val="D9E3F2"/>
                </a:solidFill>
                <a:latin typeface="Courier New" pitchFamily="34" charset="0"/>
                <a:ea typeface="Courier New" pitchFamily="34" charset="-122"/>
                <a:cs typeface="Courier New" pitchFamily="34" charset="-120"/>
              </a:rPr>
              <a:t>    INSTANCE;</a:t>
            </a:r>
            <a:endParaRPr lang="en-US" sz="945" dirty="0"/>
          </a:p>
          <a:p>
            <a:pPr indent="0" marL="0">
              <a:lnSpc>
                <a:spcPts val="1343"/>
              </a:lnSpc>
              <a:buNone/>
            </a:pPr>
            <a:r>
              <a:rPr lang="en-US" sz="945" dirty="0">
                <a:solidFill>
                  <a:srgbClr val="D9E3F2"/>
                </a:solidFill>
                <a:latin typeface="Courier New" pitchFamily="34" charset="0"/>
                <a:ea typeface="Courier New" pitchFamily="34" charset="-122"/>
                <a:cs typeface="Courier New" pitchFamily="34" charset="-120"/>
              </a:rPr>
              <a:t> </a:t>
            </a:r>
            <a:endParaRPr lang="en-US" sz="945" dirty="0"/>
          </a:p>
          <a:p>
            <a:pPr indent="0" marL="0">
              <a:lnSpc>
                <a:spcPts val="1343"/>
              </a:lnSpc>
              <a:buNone/>
            </a:pPr>
            <a:r>
              <a:rPr lang="en-US" sz="945" dirty="0">
                <a:solidFill>
                  <a:srgbClr val="D9E3F2"/>
                </a:solidFill>
                <a:latin typeface="Courier New" pitchFamily="34" charset="0"/>
                <a:ea typeface="Courier New" pitchFamily="34" charset="-122"/>
                <a:cs typeface="Courier New" pitchFamily="34" charset="-120"/>
              </a:rPr>
              <a:t>    private final ModuleLayer layer;</a:t>
            </a:r>
            <a:endParaRPr lang="en-US" sz="945" dirty="0"/>
          </a:p>
          <a:p>
            <a:pPr indent="0" marL="0">
              <a:lnSpc>
                <a:spcPts val="1343"/>
              </a:lnSpc>
              <a:buNone/>
            </a:pPr>
            <a:r>
              <a:rPr lang="en-US" sz="945" dirty="0">
                <a:solidFill>
                  <a:srgbClr val="D9E3F2"/>
                </a:solidFill>
                <a:latin typeface="Courier New" pitchFamily="34" charset="0"/>
                <a:ea typeface="Courier New" pitchFamily="34" charset="-122"/>
                <a:cs typeface="Courier New" pitchFamily="34" charset="-120"/>
              </a:rPr>
              <a:t> </a:t>
            </a:r>
            <a:endParaRPr lang="en-US" sz="945" dirty="0"/>
          </a:p>
          <a:p>
            <a:pPr indent="0" marL="0">
              <a:lnSpc>
                <a:spcPts val="1343"/>
              </a:lnSpc>
              <a:buNone/>
            </a:pPr>
            <a:r>
              <a:rPr lang="en-US" sz="945" dirty="0">
                <a:solidFill>
                  <a:srgbClr val="D9E3F2"/>
                </a:solidFill>
                <a:latin typeface="Courier New" pitchFamily="34" charset="0"/>
                <a:ea typeface="Courier New" pitchFamily="34" charset="-122"/>
                <a:cs typeface="Courier New" pitchFamily="34" charset="-120"/>
              </a:rPr>
              <a:t>    public &lt;T&gt; List&lt;T&gt; locateAll(Class&lt;T&gt; service) {</a:t>
            </a:r>
            <a:endParaRPr lang="en-US" sz="945" dirty="0"/>
          </a:p>
          <a:p>
            <a:pPr indent="0" marL="0">
              <a:lnSpc>
                <a:spcPts val="1343"/>
              </a:lnSpc>
              <a:buNone/>
            </a:pPr>
            <a:r>
              <a:rPr lang="en-US" sz="945" dirty="0">
                <a:solidFill>
                  <a:srgbClr val="D9E3F2"/>
                </a:solidFill>
                <a:latin typeface="Courier New" pitchFamily="34" charset="0"/>
                <a:ea typeface="Courier New" pitchFamily="34" charset="-122"/>
                <a:cs typeface="Courier New" pitchFamily="34" charset="-120"/>
              </a:rPr>
              <a:t>        ServiceLoader&lt;T&gt; loader = loadermap.get(service);</a:t>
            </a:r>
            <a:endParaRPr lang="en-US" sz="945" dirty="0"/>
          </a:p>
          <a:p>
            <a:pPr indent="0" marL="0">
              <a:lnSpc>
                <a:spcPts val="1343"/>
              </a:lnSpc>
              <a:buNone/>
            </a:pPr>
            <a:r>
              <a:rPr lang="en-US" sz="945" dirty="0">
                <a:solidFill>
                  <a:srgbClr val="D9E3F2"/>
                </a:solidFill>
                <a:latin typeface="Courier New" pitchFamily="34" charset="0"/>
                <a:ea typeface="Courier New" pitchFamily="34" charset="-122"/>
                <a:cs typeface="Courier New" pitchFamily="34" charset="-120"/>
              </a:rPr>
              <a:t>        if (loader == null) {</a:t>
            </a:r>
            <a:endParaRPr lang="en-US" sz="945" dirty="0"/>
          </a:p>
          <a:p>
            <a:pPr indent="0" marL="0">
              <a:lnSpc>
                <a:spcPts val="1343"/>
              </a:lnSpc>
              <a:buNone/>
            </a:pPr>
            <a:r>
              <a:rPr lang="en-US" sz="945" dirty="0">
                <a:solidFill>
                  <a:srgbClr val="D9E3F2"/>
                </a:solidFill>
                <a:latin typeface="Courier New" pitchFamily="34" charset="0"/>
                <a:ea typeface="Courier New" pitchFamily="34" charset="-122"/>
                <a:cs typeface="Courier New" pitchFamily="34" charset="-120"/>
              </a:rPr>
              <a:t>            loader = ServiceLoader.load(layer, service);</a:t>
            </a:r>
            <a:endParaRPr lang="en-US" sz="945" dirty="0"/>
          </a:p>
          <a:p>
            <a:pPr indent="0" marL="0">
              <a:lnSpc>
                <a:spcPts val="1343"/>
              </a:lnSpc>
              <a:buNone/>
            </a:pPr>
            <a:r>
              <a:rPr lang="en-US" sz="945" dirty="0">
                <a:solidFill>
                  <a:srgbClr val="D9E3F2"/>
                </a:solidFill>
                <a:latin typeface="Courier New" pitchFamily="34" charset="0"/>
                <a:ea typeface="Courier New" pitchFamily="34" charset="-122"/>
                <a:cs typeface="Courier New" pitchFamily="34" charset="-120"/>
              </a:rPr>
              <a:t>            loadermap.put(service, loader);</a:t>
            </a:r>
            <a:endParaRPr lang="en-US" sz="945" dirty="0"/>
          </a:p>
          <a:p>
            <a:pPr indent="0" marL="0">
              <a:lnSpc>
                <a:spcPts val="1343"/>
              </a:lnSpc>
              <a:buNone/>
            </a:pPr>
            <a:r>
              <a:rPr lang="en-US" sz="945" dirty="0">
                <a:solidFill>
                  <a:srgbClr val="D9E3F2"/>
                </a:solidFill>
                <a:latin typeface="Courier New" pitchFamily="34" charset="0"/>
                <a:ea typeface="Courier New" pitchFamily="34" charset="-122"/>
                <a:cs typeface="Courier New" pitchFamily="34" charset="-120"/>
              </a:rPr>
              <a:t>        }</a:t>
            </a:r>
            <a:endParaRPr lang="en-US" sz="945" dirty="0"/>
          </a:p>
          <a:p>
            <a:pPr indent="0" marL="0">
              <a:lnSpc>
                <a:spcPts val="1343"/>
              </a:lnSpc>
              <a:buNone/>
            </a:pPr>
            <a:r>
              <a:rPr lang="en-US" sz="945" dirty="0">
                <a:solidFill>
                  <a:srgbClr val="D9E3F2"/>
                </a:solidFill>
                <a:latin typeface="Courier New" pitchFamily="34" charset="0"/>
                <a:ea typeface="Courier New" pitchFamily="34" charset="-122"/>
                <a:cs typeface="Courier New" pitchFamily="34" charset="-120"/>
              </a:rPr>
              <a:t>        List&lt;T&gt; list = new ArrayList&lt;&gt;();</a:t>
            </a:r>
            <a:endParaRPr lang="en-US" sz="945" dirty="0"/>
          </a:p>
          <a:p>
            <a:pPr indent="0" marL="0">
              <a:lnSpc>
                <a:spcPts val="1343"/>
              </a:lnSpc>
              <a:buNone/>
            </a:pPr>
            <a:r>
              <a:rPr lang="en-US" sz="945" dirty="0">
                <a:solidFill>
                  <a:srgbClr val="D9E3F2"/>
                </a:solidFill>
                <a:latin typeface="Courier New" pitchFamily="34" charset="0"/>
                <a:ea typeface="Courier New" pitchFamily="34" charset="-122"/>
                <a:cs typeface="Courier New" pitchFamily="34" charset="-120"/>
              </a:rPr>
              <a:t>        for (T instance : loader) list.add(instance);</a:t>
            </a:r>
            <a:endParaRPr lang="en-US" sz="945" dirty="0"/>
          </a:p>
          <a:p>
            <a:pPr indent="0" marL="0">
              <a:lnSpc>
                <a:spcPts val="1343"/>
              </a:lnSpc>
              <a:buNone/>
            </a:pPr>
            <a:r>
              <a:rPr lang="en-US" sz="945" dirty="0">
                <a:solidFill>
                  <a:srgbClr val="D9E3F2"/>
                </a:solidFill>
                <a:latin typeface="Courier New" pitchFamily="34" charset="0"/>
                <a:ea typeface="Courier New" pitchFamily="34" charset="-122"/>
                <a:cs typeface="Courier New" pitchFamily="34" charset="-120"/>
              </a:rPr>
              <a:t>        return list;</a:t>
            </a:r>
            <a:endParaRPr lang="en-US" sz="945" dirty="0"/>
          </a:p>
          <a:p>
            <a:pPr indent="0" marL="0">
              <a:lnSpc>
                <a:spcPts val="1343"/>
              </a:lnSpc>
              <a:buNone/>
            </a:pPr>
            <a:r>
              <a:rPr lang="en-US" sz="945" dirty="0">
                <a:solidFill>
                  <a:srgbClr val="D9E3F2"/>
                </a:solidFill>
                <a:latin typeface="Courier New" pitchFamily="34" charset="0"/>
                <a:ea typeface="Courier New" pitchFamily="34" charset="-122"/>
                <a:cs typeface="Courier New" pitchFamily="34" charset="-120"/>
              </a:rPr>
              <a:t>    }</a:t>
            </a:r>
            <a:endParaRPr lang="en-US" sz="945" dirty="0"/>
          </a:p>
          <a:p>
            <a:pPr indent="0" marL="0">
              <a:lnSpc>
                <a:spcPts val="1343"/>
              </a:lnSpc>
              <a:buNone/>
            </a:pPr>
            <a:r>
              <a:rPr lang="en-US" sz="945" dirty="0">
                <a:solidFill>
                  <a:srgbClr val="D9E3F2"/>
                </a:solidFill>
                <a:latin typeface="Courier New" pitchFamily="34" charset="0"/>
                <a:ea typeface="Courier New" pitchFamily="34" charset="-122"/>
                <a:cs typeface="Courier New" pitchFamily="34" charset="-120"/>
              </a:rPr>
              <a:t>}</a:t>
            </a:r>
            <a:endParaRPr lang="en-US" sz="945"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10896"/>
            <a:ext cx="548640" cy="548640"/>
          </a:xfrm>
          <a:prstGeom prst="ellipse">
            <a:avLst/>
          </a:prstGeom>
          <a:solidFill>
            <a:srgbClr val="18213D"/>
          </a:solidFill>
          <a:ln/>
        </p:spPr>
      </p:sp>
      <p:sp>
        <p:nvSpPr>
          <p:cNvPr id="3" name="Text 1"/>
          <p:cNvSpPr/>
          <p:nvPr/>
        </p:nvSpPr>
        <p:spPr>
          <a:xfrm>
            <a:off x="502920" y="310896"/>
            <a:ext cx="548640" cy="548640"/>
          </a:xfrm>
          <a:prstGeom prst="rect">
            <a:avLst/>
          </a:prstGeom>
          <a:noFill/>
          <a:ln/>
        </p:spPr>
        <p:txBody>
          <a:bodyPr wrap="square" lIns="0" tIns="0" rIns="0" bIns="0" rtlCol="0" anchor="ctr"/>
          <a:lstStyle/>
          <a:p>
            <a:pPr algn="ctr" indent="0" marL="0">
              <a:buNone/>
            </a:pPr>
            <a:r>
              <a:rPr lang="en-US" sz="2100" b="1" dirty="0">
                <a:solidFill>
                  <a:srgbClr val="F5A623"/>
                </a:solidFill>
                <a:latin typeface="Cambria" pitchFamily="34" charset="0"/>
                <a:ea typeface="Cambria" pitchFamily="34" charset="-122"/>
                <a:cs typeface="Cambria" pitchFamily="34" charset="-120"/>
              </a:rPr>
              <a:t>4</a:t>
            </a:r>
            <a:endParaRPr lang="en-US" sz="2100" dirty="0"/>
          </a:p>
        </p:txBody>
      </p:sp>
      <p:sp>
        <p:nvSpPr>
          <p:cNvPr id="4" name="Text 2"/>
          <p:cNvSpPr/>
          <p:nvPr/>
        </p:nvSpPr>
        <p:spPr>
          <a:xfrm>
            <a:off x="1234440" y="329184"/>
            <a:ext cx="5943600" cy="237744"/>
          </a:xfrm>
          <a:prstGeom prst="rect">
            <a:avLst/>
          </a:prstGeom>
          <a:noFill/>
          <a:ln/>
        </p:spPr>
        <p:txBody>
          <a:bodyPr wrap="square" lIns="0" tIns="0" rIns="0" bIns="0" rtlCol="0" anchor="ctr"/>
          <a:lstStyle/>
          <a:p>
            <a:pPr indent="0" marL="0">
              <a:buNone/>
            </a:pPr>
            <a:r>
              <a:rPr lang="en-US" sz="1150" b="1" spc="220" kern="0" dirty="0">
                <a:solidFill>
                  <a:srgbClr val="5F7192"/>
                </a:solidFill>
                <a:latin typeface="Calibri" pitchFamily="34" charset="0"/>
                <a:ea typeface="Calibri" pitchFamily="34" charset="-122"/>
                <a:cs typeface="Calibri" pitchFamily="34" charset="-120"/>
              </a:rPr>
              <a:t>JPMSLAB 1</a:t>
            </a:r>
            <a:endParaRPr lang="en-US" sz="1150" dirty="0"/>
          </a:p>
        </p:txBody>
      </p:sp>
      <p:sp>
        <p:nvSpPr>
          <p:cNvPr id="5" name="Text 3"/>
          <p:cNvSpPr/>
          <p:nvPr/>
        </p:nvSpPr>
        <p:spPr>
          <a:xfrm>
            <a:off x="1234440" y="548640"/>
            <a:ext cx="10424160" cy="457200"/>
          </a:xfrm>
          <a:prstGeom prst="rect">
            <a:avLst/>
          </a:prstGeom>
          <a:noFill/>
          <a:ln/>
        </p:spPr>
        <p:txBody>
          <a:bodyPr wrap="square" lIns="0" tIns="0" rIns="0" bIns="0" rtlCol="0" anchor="ctr"/>
          <a:lstStyle/>
          <a:p>
            <a:pPr indent="0" marL="0">
              <a:buNone/>
            </a:pPr>
            <a:r>
              <a:rPr lang="en-US" sz="2900" b="1" dirty="0">
                <a:solidFill>
                  <a:srgbClr val="18213D"/>
                </a:solidFill>
                <a:latin typeface="Cambria" pitchFamily="34" charset="0"/>
                <a:ea typeface="Cambria" pitchFamily="34" charset="-122"/>
                <a:cs typeface="Cambria" pitchFamily="34" charset="-120"/>
              </a:rPr>
              <a:t>requires and exports</a:t>
            </a:r>
            <a:endParaRPr lang="en-US" sz="2900" dirty="0"/>
          </a:p>
        </p:txBody>
      </p:sp>
      <p:sp>
        <p:nvSpPr>
          <p:cNvPr id="6" name="Shape 4"/>
          <p:cNvSpPr/>
          <p:nvPr/>
        </p:nvSpPr>
        <p:spPr>
          <a:xfrm>
            <a:off x="502920" y="1261872"/>
            <a:ext cx="5349240" cy="1520952"/>
          </a:xfrm>
          <a:prstGeom prst="roundRect">
            <a:avLst>
              <a:gd name="adj" fmla="val 3607"/>
            </a:avLst>
          </a:prstGeom>
          <a:solidFill>
            <a:srgbClr val="F1F5FB"/>
          </a:solidFill>
          <a:ln w="12700">
            <a:solidFill>
              <a:srgbClr val="DEE7F3"/>
            </a:solidFill>
            <a:prstDash val="solid"/>
          </a:ln>
          <a:effectLst>
            <a:outerShdw sx="100000" sy="100000" kx="0" ky="0" algn="bl" rotWithShape="0" blurRad="127000" dist="25400" dir="5400000">
              <a:srgbClr val="8FA3C4">
                <a:alpha val="28000"/>
              </a:srgbClr>
            </a:outerShdw>
          </a:effectLst>
        </p:spPr>
      </p:sp>
      <p:sp>
        <p:nvSpPr>
          <p:cNvPr id="7" name="Text 5"/>
          <p:cNvSpPr/>
          <p:nvPr/>
        </p:nvSpPr>
        <p:spPr>
          <a:xfrm>
            <a:off x="758952" y="1426464"/>
            <a:ext cx="4837176" cy="237744"/>
          </a:xfrm>
          <a:prstGeom prst="rect">
            <a:avLst/>
          </a:prstGeom>
          <a:noFill/>
          <a:ln/>
        </p:spPr>
        <p:txBody>
          <a:bodyPr wrap="square" lIns="0" tIns="0" rIns="0" bIns="0" rtlCol="0" anchor="ctr"/>
          <a:lstStyle/>
          <a:p>
            <a:pPr indent="0" marL="0">
              <a:buNone/>
            </a:pPr>
            <a:r>
              <a:rPr lang="en-US" sz="1050" b="1" spc="180" kern="0" dirty="0">
                <a:solidFill>
                  <a:srgbClr val="3A5A8C"/>
                </a:solidFill>
                <a:latin typeface="Calibri" pitchFamily="34" charset="0"/>
                <a:ea typeface="Calibri" pitchFamily="34" charset="-122"/>
                <a:cs typeface="Calibri" pitchFamily="34" charset="-120"/>
              </a:rPr>
              <a:t>1  ·  WHAT THE LAB ASKED FOR</a:t>
            </a:r>
            <a:endParaRPr lang="en-US" sz="1050" dirty="0"/>
          </a:p>
        </p:txBody>
      </p:sp>
      <p:sp>
        <p:nvSpPr>
          <p:cNvPr id="8" name="Text 6"/>
          <p:cNvSpPr/>
          <p:nvPr/>
        </p:nvSpPr>
        <p:spPr>
          <a:xfrm>
            <a:off x="758952" y="1728216"/>
            <a:ext cx="4837176" cy="999744"/>
          </a:xfrm>
          <a:prstGeom prst="rect">
            <a:avLst/>
          </a:prstGeom>
          <a:noFill/>
          <a:ln/>
        </p:spPr>
        <p:txBody>
          <a:bodyPr wrap="square" lIns="0" tIns="0" rIns="0" bIns="0" rtlCol="0" anchor="t"/>
          <a:lstStyle/>
          <a:p>
            <a:pPr marL="342900" indent="-342900">
              <a:lnSpc>
                <a:spcPts val="1584"/>
              </a:lnSpc>
              <a:spcAft>
                <a:spcPts val="600"/>
              </a:spcAft>
              <a:buSzPct val="100000"/>
              <a:buChar char="•"/>
            </a:pPr>
            <a:r>
              <a:rPr lang="en-US" sz="1200" dirty="0">
                <a:solidFill>
                  <a:srgbClr val="18213D"/>
                </a:solidFill>
                <a:latin typeface="Calibri" pitchFamily="34" charset="0"/>
                <a:ea typeface="Calibri" pitchFamily="34" charset="-122"/>
                <a:cs typeface="Calibri" pitchFamily="34" charset="-120"/>
              </a:rPr>
              <a:t>Continue implementing the game using the Java Platform Module System</a:t>
            </a:r>
            <a:endParaRPr lang="en-US" sz="1200" dirty="0"/>
          </a:p>
          <a:p>
            <a:pPr marL="342900" indent="-342900">
              <a:lnSpc>
                <a:spcPts val="1584"/>
              </a:lnSpc>
              <a:spcAft>
                <a:spcPts val="600"/>
              </a:spcAft>
              <a:buSzPct val="100000"/>
              <a:buChar char="•"/>
            </a:pPr>
            <a:r>
              <a:rPr lang="en-US" sz="1200" dirty="0">
                <a:solidFill>
                  <a:srgbClr val="18213D"/>
                </a:solidFill>
                <a:latin typeface="Calibri" pitchFamily="34" charset="0"/>
                <a:ea typeface="Calibri" pitchFamily="34" charset="-122"/>
                <a:cs typeface="Calibri" pitchFamily="34" charset="-120"/>
              </a:rPr>
              <a:t>Declare imports and exports in a module-info.java file for every module</a:t>
            </a:r>
            <a:endParaRPr lang="en-US" sz="1200" dirty="0"/>
          </a:p>
        </p:txBody>
      </p:sp>
      <p:sp>
        <p:nvSpPr>
          <p:cNvPr id="9" name="Shape 7"/>
          <p:cNvSpPr/>
          <p:nvPr/>
        </p:nvSpPr>
        <p:spPr>
          <a:xfrm>
            <a:off x="502920" y="2929128"/>
            <a:ext cx="5349240" cy="2276856"/>
          </a:xfrm>
          <a:prstGeom prst="roundRect">
            <a:avLst>
              <a:gd name="adj" fmla="val 2410"/>
            </a:avLst>
          </a:prstGeom>
          <a:solidFill>
            <a:srgbClr val="FDF3E0"/>
          </a:solidFill>
          <a:ln w="12700">
            <a:solidFill>
              <a:srgbClr val="F2DCB4"/>
            </a:solidFill>
            <a:prstDash val="solid"/>
          </a:ln>
          <a:effectLst>
            <a:outerShdw sx="100000" sy="100000" kx="0" ky="0" algn="bl" rotWithShape="0" blurRad="127000" dist="25400" dir="5400000">
              <a:srgbClr val="8FA3C4">
                <a:alpha val="28000"/>
              </a:srgbClr>
            </a:outerShdw>
          </a:effectLst>
        </p:spPr>
      </p:sp>
      <p:sp>
        <p:nvSpPr>
          <p:cNvPr id="10" name="Text 8"/>
          <p:cNvSpPr/>
          <p:nvPr/>
        </p:nvSpPr>
        <p:spPr>
          <a:xfrm>
            <a:off x="758952" y="3093720"/>
            <a:ext cx="4837176" cy="237744"/>
          </a:xfrm>
          <a:prstGeom prst="rect">
            <a:avLst/>
          </a:prstGeom>
          <a:noFill/>
          <a:ln/>
        </p:spPr>
        <p:txBody>
          <a:bodyPr wrap="square" lIns="0" tIns="0" rIns="0" bIns="0" rtlCol="0" anchor="ctr"/>
          <a:lstStyle/>
          <a:p>
            <a:pPr indent="0" marL="0">
              <a:buNone/>
            </a:pPr>
            <a:r>
              <a:rPr lang="en-US" sz="1050" b="1" spc="180" kern="0" dirty="0">
                <a:solidFill>
                  <a:srgbClr val="B07A18"/>
                </a:solidFill>
                <a:latin typeface="Calibri" pitchFamily="34" charset="0"/>
                <a:ea typeface="Calibri" pitchFamily="34" charset="-122"/>
                <a:cs typeface="Calibri" pitchFamily="34" charset="-120"/>
              </a:rPr>
              <a:t>2  ·  HOW I IMPLEMENTED IT</a:t>
            </a:r>
            <a:endParaRPr lang="en-US" sz="1050" dirty="0"/>
          </a:p>
        </p:txBody>
      </p:sp>
      <p:sp>
        <p:nvSpPr>
          <p:cNvPr id="11" name="Text 9"/>
          <p:cNvSpPr/>
          <p:nvPr/>
        </p:nvSpPr>
        <p:spPr>
          <a:xfrm>
            <a:off x="758952" y="3395472"/>
            <a:ext cx="4837176" cy="1755648"/>
          </a:xfrm>
          <a:prstGeom prst="rect">
            <a:avLst/>
          </a:prstGeom>
          <a:noFill/>
          <a:ln/>
        </p:spPr>
        <p:txBody>
          <a:bodyPr wrap="square" lIns="0" tIns="0" rIns="0" bIns="0" rtlCol="0" anchor="t"/>
          <a:lstStyle/>
          <a:p>
            <a:pPr marL="342900" indent="-342900">
              <a:lnSpc>
                <a:spcPts val="1584"/>
              </a:lnSpc>
              <a:spcAft>
                <a:spcPts val="600"/>
              </a:spcAft>
              <a:buSzPct val="100000"/>
              <a:buChar char="•"/>
            </a:pPr>
            <a:r>
              <a:rPr lang="en-US" sz="1200" dirty="0">
                <a:solidFill>
                  <a:srgbClr val="18213D"/>
                </a:solidFill>
                <a:latin typeface="Calibri" pitchFamily="34" charset="0"/>
                <a:ea typeface="Calibri" pitchFamily="34" charset="-122"/>
                <a:cs typeface="Calibri" pitchFamily="34" charset="-120"/>
              </a:rPr>
              <a:t>Nine module-info.java files — Common, CommonBullet, CommonAsteroids, Core, Player, Enemy, Bullet, Asteroids, Collision</a:t>
            </a:r>
            <a:endParaRPr lang="en-US" sz="1200" dirty="0"/>
          </a:p>
          <a:p>
            <a:pPr marL="342900" indent="-342900">
              <a:lnSpc>
                <a:spcPts val="1584"/>
              </a:lnSpc>
              <a:spcAft>
                <a:spcPts val="600"/>
              </a:spcAft>
              <a:buSzPct val="100000"/>
              <a:buChar char="•"/>
            </a:pPr>
            <a:r>
              <a:rPr lang="en-US" sz="1200" dirty="0">
                <a:solidFill>
                  <a:srgbClr val="18213D"/>
                </a:solidFill>
                <a:latin typeface="Calibri" pitchFamily="34" charset="0"/>
                <a:ea typeface="Calibri" pitchFamily="34" charset="-122"/>
                <a:cs typeface="Calibri" pitchFamily="34" charset="-120"/>
              </a:rPr>
              <a:t>Common exports only the four packages other modules legitimately need: services, data, util and sound</a:t>
            </a:r>
            <a:endParaRPr lang="en-US" sz="1200" dirty="0"/>
          </a:p>
          <a:p>
            <a:pPr marL="342900" indent="-342900">
              <a:lnSpc>
                <a:spcPts val="1584"/>
              </a:lnSpc>
              <a:spcAft>
                <a:spcPts val="600"/>
              </a:spcAft>
              <a:buSzPct val="100000"/>
              <a:buChar char="•"/>
            </a:pPr>
            <a:r>
              <a:rPr lang="en-US" sz="1200" dirty="0">
                <a:solidFill>
                  <a:srgbClr val="18213D"/>
                </a:solidFill>
                <a:latin typeface="Calibri" pitchFamily="34" charset="0"/>
                <a:ea typeface="Calibri" pitchFamily="34" charset="-122"/>
                <a:cs typeface="Calibri" pitchFamily="34" charset="-120"/>
              </a:rPr>
              <a:t>Core opens its main package to javafx.graphics and spring.core so both can reflect into it without exporting it publicly</a:t>
            </a:r>
            <a:endParaRPr lang="en-US" sz="1200" dirty="0"/>
          </a:p>
          <a:p>
            <a:pPr marL="342900" indent="-342900">
              <a:lnSpc>
                <a:spcPts val="1584"/>
              </a:lnSpc>
              <a:spcAft>
                <a:spcPts val="600"/>
              </a:spcAft>
              <a:buSzPct val="100000"/>
              <a:buChar char="•"/>
            </a:pPr>
            <a:r>
              <a:rPr lang="en-US" sz="1200" dirty="0">
                <a:solidFill>
                  <a:srgbClr val="18213D"/>
                </a:solidFill>
                <a:latin typeface="Calibri" pitchFamily="34" charset="0"/>
                <a:ea typeface="Calibri" pitchFamily="34" charset="-122"/>
                <a:cs typeface="Calibri" pitchFamily="34" charset="-120"/>
              </a:rPr>
              <a:t>No plugin exports anything — their internals are sealed</a:t>
            </a:r>
            <a:endParaRPr lang="en-US" sz="1200" dirty="0"/>
          </a:p>
        </p:txBody>
      </p:sp>
      <p:sp>
        <p:nvSpPr>
          <p:cNvPr id="12" name="Shape 10"/>
          <p:cNvSpPr/>
          <p:nvPr/>
        </p:nvSpPr>
        <p:spPr>
          <a:xfrm>
            <a:off x="6172200" y="1261872"/>
            <a:ext cx="5486400" cy="1478280"/>
          </a:xfrm>
          <a:prstGeom prst="roundRect">
            <a:avLst>
              <a:gd name="adj" fmla="val 3711"/>
            </a:avLst>
          </a:prstGeom>
          <a:solidFill>
            <a:srgbClr val="F1F5FB"/>
          </a:solidFill>
          <a:ln w="12700">
            <a:solidFill>
              <a:srgbClr val="DEE7F3"/>
            </a:solidFill>
            <a:prstDash val="solid"/>
          </a:ln>
          <a:effectLst>
            <a:outerShdw sx="100000" sy="100000" kx="0" ky="0" algn="bl" rotWithShape="0" blurRad="127000" dist="25400" dir="5400000">
              <a:srgbClr val="8FA3C4">
                <a:alpha val="28000"/>
              </a:srgbClr>
            </a:outerShdw>
          </a:effectLst>
        </p:spPr>
      </p:sp>
      <p:sp>
        <p:nvSpPr>
          <p:cNvPr id="13" name="Text 11"/>
          <p:cNvSpPr/>
          <p:nvPr/>
        </p:nvSpPr>
        <p:spPr>
          <a:xfrm>
            <a:off x="6428232" y="1426464"/>
            <a:ext cx="4974336" cy="237744"/>
          </a:xfrm>
          <a:prstGeom prst="rect">
            <a:avLst/>
          </a:prstGeom>
          <a:noFill/>
          <a:ln/>
        </p:spPr>
        <p:txBody>
          <a:bodyPr wrap="square" lIns="0" tIns="0" rIns="0" bIns="0" rtlCol="0" anchor="ctr"/>
          <a:lstStyle/>
          <a:p>
            <a:pPr indent="0" marL="0">
              <a:buNone/>
            </a:pPr>
            <a:r>
              <a:rPr lang="en-US" sz="1050" b="1" spc="180" kern="0" dirty="0">
                <a:solidFill>
                  <a:srgbClr val="3A5A8C"/>
                </a:solidFill>
                <a:latin typeface="Calibri" pitchFamily="34" charset="0"/>
                <a:ea typeface="Calibri" pitchFamily="34" charset="-122"/>
                <a:cs typeface="Calibri" pitchFamily="34" charset="-120"/>
              </a:rPr>
              <a:t>3  ·  HOW IT WORKS</a:t>
            </a:r>
            <a:endParaRPr lang="en-US" sz="1050" dirty="0"/>
          </a:p>
        </p:txBody>
      </p:sp>
      <p:sp>
        <p:nvSpPr>
          <p:cNvPr id="14" name="Text 12"/>
          <p:cNvSpPr/>
          <p:nvPr/>
        </p:nvSpPr>
        <p:spPr>
          <a:xfrm>
            <a:off x="6428232" y="1728216"/>
            <a:ext cx="4974336" cy="929640"/>
          </a:xfrm>
          <a:prstGeom prst="rect">
            <a:avLst/>
          </a:prstGeom>
          <a:noFill/>
          <a:ln/>
        </p:spPr>
        <p:txBody>
          <a:bodyPr wrap="square" lIns="0" tIns="0" rIns="0" bIns="0" rtlCol="0" anchor="t"/>
          <a:lstStyle/>
          <a:p>
            <a:pPr indent="0" marL="0">
              <a:lnSpc>
                <a:spcPts val="1650"/>
              </a:lnSpc>
              <a:buNone/>
            </a:pPr>
            <a:r>
              <a:rPr lang="en-US" sz="1200" dirty="0">
                <a:solidFill>
                  <a:srgbClr val="18213D"/>
                </a:solidFill>
                <a:latin typeface="Calibri" pitchFamily="34" charset="0"/>
                <a:ea typeface="Calibri" pitchFamily="34" charset="-122"/>
                <a:cs typeface="Calibri" pitchFamily="34" charset="-120"/>
              </a:rPr>
              <a:t>Look at what is missing from Core: there is no requires Player, no requires Enemy, no requires Asteroids. The compiler physically cannot let Core reach into a gameplay module. That is JPMS strong encapsulation, and it is what forces the discovery mechanism to exist.</a:t>
            </a:r>
            <a:endParaRPr lang="en-US" sz="1200" dirty="0"/>
          </a:p>
        </p:txBody>
      </p:sp>
      <p:sp>
        <p:nvSpPr>
          <p:cNvPr id="15" name="Text 13"/>
          <p:cNvSpPr/>
          <p:nvPr/>
        </p:nvSpPr>
        <p:spPr>
          <a:xfrm>
            <a:off x="6172200" y="2886456"/>
            <a:ext cx="5486400" cy="237744"/>
          </a:xfrm>
          <a:prstGeom prst="rect">
            <a:avLst/>
          </a:prstGeom>
          <a:noFill/>
          <a:ln/>
        </p:spPr>
        <p:txBody>
          <a:bodyPr wrap="square" lIns="0" tIns="0" rIns="0" bIns="0" rtlCol="0" anchor="ctr"/>
          <a:lstStyle/>
          <a:p>
            <a:pPr indent="0" marL="0">
              <a:buNone/>
            </a:pPr>
            <a:r>
              <a:rPr lang="en-US" sz="1050" b="1" spc="160" kern="0" dirty="0">
                <a:solidFill>
                  <a:srgbClr val="5F7192"/>
                </a:solidFill>
                <a:latin typeface="Calibri" pitchFamily="34" charset="0"/>
                <a:ea typeface="Calibri" pitchFamily="34" charset="-122"/>
                <a:cs typeface="Calibri" pitchFamily="34" charset="-120"/>
              </a:rPr>
              <a:t>Common/module-info.java  and  Core/module-info.java</a:t>
            </a:r>
            <a:endParaRPr lang="en-US" sz="1050" dirty="0"/>
          </a:p>
        </p:txBody>
      </p:sp>
      <p:sp>
        <p:nvSpPr>
          <p:cNvPr id="16" name="Shape 14"/>
          <p:cNvSpPr/>
          <p:nvPr/>
        </p:nvSpPr>
        <p:spPr>
          <a:xfrm>
            <a:off x="6172200" y="3160776"/>
            <a:ext cx="5486400" cy="2983992"/>
          </a:xfrm>
          <a:prstGeom prst="roundRect">
            <a:avLst>
              <a:gd name="adj" fmla="val 1532"/>
            </a:avLst>
          </a:prstGeom>
          <a:solidFill>
            <a:srgbClr val="0F1729"/>
          </a:solidFill>
          <a:ln w="12700">
            <a:solidFill>
              <a:srgbClr val="2A3552"/>
            </a:solidFill>
            <a:prstDash val="solid"/>
          </a:ln>
        </p:spPr>
      </p:sp>
      <p:sp>
        <p:nvSpPr>
          <p:cNvPr id="17" name="Text 15"/>
          <p:cNvSpPr/>
          <p:nvPr/>
        </p:nvSpPr>
        <p:spPr>
          <a:xfrm>
            <a:off x="6327648" y="3279648"/>
            <a:ext cx="5175504" cy="2746248"/>
          </a:xfrm>
          <a:prstGeom prst="rect">
            <a:avLst/>
          </a:prstGeom>
          <a:noFill/>
          <a:ln/>
        </p:spPr>
        <p:txBody>
          <a:bodyPr wrap="square" lIns="0" tIns="0" rIns="0" bIns="0" rtlCol="0" anchor="t"/>
          <a:lstStyle/>
          <a:p>
            <a:pPr indent="0" marL="0">
              <a:lnSpc>
                <a:spcPts val="1343"/>
              </a:lnSpc>
              <a:buNone/>
            </a:pPr>
            <a:r>
              <a:rPr lang="en-US" sz="945" dirty="0">
                <a:solidFill>
                  <a:srgbClr val="7FB3F5"/>
                </a:solidFill>
                <a:latin typeface="Courier New" pitchFamily="34" charset="0"/>
                <a:ea typeface="Courier New" pitchFamily="34" charset="-122"/>
                <a:cs typeface="Courier New" pitchFamily="34" charset="-120"/>
              </a:rPr>
              <a:t>module Common {</a:t>
            </a:r>
            <a:endParaRPr lang="en-US" sz="945" dirty="0"/>
          </a:p>
          <a:p>
            <a:pPr indent="0" marL="0">
              <a:lnSpc>
                <a:spcPts val="1343"/>
              </a:lnSpc>
              <a:buNone/>
            </a:pPr>
            <a:r>
              <a:rPr lang="en-US" sz="945" dirty="0">
                <a:solidFill>
                  <a:srgbClr val="7FB3F5"/>
                </a:solidFill>
                <a:latin typeface="Courier New" pitchFamily="34" charset="0"/>
                <a:ea typeface="Courier New" pitchFamily="34" charset="-122"/>
                <a:cs typeface="Courier New" pitchFamily="34" charset="-120"/>
              </a:rPr>
              <a:t>    requires java.desktop;</a:t>
            </a:r>
            <a:endParaRPr lang="en-US" sz="945" dirty="0"/>
          </a:p>
          <a:p>
            <a:pPr indent="0" marL="0">
              <a:lnSpc>
                <a:spcPts val="1343"/>
              </a:lnSpc>
              <a:buNone/>
            </a:pPr>
            <a:r>
              <a:rPr lang="en-US" sz="945" dirty="0">
                <a:solidFill>
                  <a:srgbClr val="7FB3F5"/>
                </a:solidFill>
                <a:latin typeface="Courier New" pitchFamily="34" charset="0"/>
                <a:ea typeface="Courier New" pitchFamily="34" charset="-122"/>
                <a:cs typeface="Courier New" pitchFamily="34" charset="-120"/>
              </a:rPr>
              <a:t>    exports dk.sdu.mmmi.cbse.common.services;</a:t>
            </a:r>
            <a:endParaRPr lang="en-US" sz="945" dirty="0"/>
          </a:p>
          <a:p>
            <a:pPr indent="0" marL="0">
              <a:lnSpc>
                <a:spcPts val="1343"/>
              </a:lnSpc>
              <a:buNone/>
            </a:pPr>
            <a:r>
              <a:rPr lang="en-US" sz="945" dirty="0">
                <a:solidFill>
                  <a:srgbClr val="7FB3F5"/>
                </a:solidFill>
                <a:latin typeface="Courier New" pitchFamily="34" charset="0"/>
                <a:ea typeface="Courier New" pitchFamily="34" charset="-122"/>
                <a:cs typeface="Courier New" pitchFamily="34" charset="-120"/>
              </a:rPr>
              <a:t>    exports dk.sdu.mmmi.cbse.common.data;</a:t>
            </a:r>
            <a:endParaRPr lang="en-US" sz="945" dirty="0"/>
          </a:p>
          <a:p>
            <a:pPr indent="0" marL="0">
              <a:lnSpc>
                <a:spcPts val="1343"/>
              </a:lnSpc>
              <a:buNone/>
            </a:pPr>
            <a:r>
              <a:rPr lang="en-US" sz="945" dirty="0">
                <a:solidFill>
                  <a:srgbClr val="7FB3F5"/>
                </a:solidFill>
                <a:latin typeface="Courier New" pitchFamily="34" charset="0"/>
                <a:ea typeface="Courier New" pitchFamily="34" charset="-122"/>
                <a:cs typeface="Courier New" pitchFamily="34" charset="-120"/>
              </a:rPr>
              <a:t>    exports dk.sdu.mmmi.cbse.common.util;</a:t>
            </a:r>
            <a:endParaRPr lang="en-US" sz="945" dirty="0"/>
          </a:p>
          <a:p>
            <a:pPr indent="0" marL="0">
              <a:lnSpc>
                <a:spcPts val="1343"/>
              </a:lnSpc>
              <a:buNone/>
            </a:pPr>
            <a:r>
              <a:rPr lang="en-US" sz="945" dirty="0">
                <a:solidFill>
                  <a:srgbClr val="7FB3F5"/>
                </a:solidFill>
                <a:latin typeface="Courier New" pitchFamily="34" charset="0"/>
                <a:ea typeface="Courier New" pitchFamily="34" charset="-122"/>
                <a:cs typeface="Courier New" pitchFamily="34" charset="-120"/>
              </a:rPr>
              <a:t>    exports dk.sdu.mmmi.cbse.common.sound;</a:t>
            </a:r>
            <a:endParaRPr lang="en-US" sz="945" dirty="0"/>
          </a:p>
          <a:p>
            <a:pPr indent="0" marL="0">
              <a:lnSpc>
                <a:spcPts val="1343"/>
              </a:lnSpc>
              <a:buNone/>
            </a:pPr>
            <a:r>
              <a:rPr lang="en-US" sz="945" dirty="0">
                <a:solidFill>
                  <a:srgbClr val="D9E3F2"/>
                </a:solidFill>
                <a:latin typeface="Courier New" pitchFamily="34" charset="0"/>
                <a:ea typeface="Courier New" pitchFamily="34" charset="-122"/>
                <a:cs typeface="Courier New" pitchFamily="34" charset="-120"/>
              </a:rPr>
              <a:t>}</a:t>
            </a:r>
            <a:endParaRPr lang="en-US" sz="945" dirty="0"/>
          </a:p>
          <a:p>
            <a:pPr indent="0" marL="0">
              <a:lnSpc>
                <a:spcPts val="1343"/>
              </a:lnSpc>
              <a:buNone/>
            </a:pPr>
            <a:r>
              <a:rPr lang="en-US" sz="945" dirty="0">
                <a:solidFill>
                  <a:srgbClr val="D9E3F2"/>
                </a:solidFill>
                <a:latin typeface="Courier New" pitchFamily="34" charset="0"/>
                <a:ea typeface="Courier New" pitchFamily="34" charset="-122"/>
                <a:cs typeface="Courier New" pitchFamily="34" charset="-120"/>
              </a:rPr>
              <a:t> </a:t>
            </a:r>
            <a:endParaRPr lang="en-US" sz="945" dirty="0"/>
          </a:p>
          <a:p>
            <a:pPr indent="0" marL="0">
              <a:lnSpc>
                <a:spcPts val="1343"/>
              </a:lnSpc>
              <a:buNone/>
            </a:pPr>
            <a:r>
              <a:rPr lang="en-US" sz="945" dirty="0">
                <a:solidFill>
                  <a:srgbClr val="7FB3F5"/>
                </a:solidFill>
                <a:latin typeface="Courier New" pitchFamily="34" charset="0"/>
                <a:ea typeface="Courier New" pitchFamily="34" charset="-122"/>
                <a:cs typeface="Courier New" pitchFamily="34" charset="-120"/>
              </a:rPr>
              <a:t>module Core {</a:t>
            </a:r>
            <a:endParaRPr lang="en-US" sz="945" dirty="0"/>
          </a:p>
          <a:p>
            <a:pPr indent="0" marL="0">
              <a:lnSpc>
                <a:spcPts val="1343"/>
              </a:lnSpc>
              <a:buNone/>
            </a:pPr>
            <a:r>
              <a:rPr lang="en-US" sz="945" dirty="0">
                <a:solidFill>
                  <a:srgbClr val="7FB3F5"/>
                </a:solidFill>
                <a:latin typeface="Courier New" pitchFamily="34" charset="0"/>
                <a:ea typeface="Courier New" pitchFamily="34" charset="-122"/>
                <a:cs typeface="Courier New" pitchFamily="34" charset="-120"/>
              </a:rPr>
              <a:t>    requires Common;</a:t>
            </a:r>
            <a:endParaRPr lang="en-US" sz="945" dirty="0"/>
          </a:p>
          <a:p>
            <a:pPr indent="0" marL="0">
              <a:lnSpc>
                <a:spcPts val="1343"/>
              </a:lnSpc>
              <a:buNone/>
            </a:pPr>
            <a:r>
              <a:rPr lang="en-US" sz="945" dirty="0">
                <a:solidFill>
                  <a:srgbClr val="7FB3F5"/>
                </a:solidFill>
                <a:latin typeface="Courier New" pitchFamily="34" charset="0"/>
                <a:ea typeface="Courier New" pitchFamily="34" charset="-122"/>
                <a:cs typeface="Courier New" pitchFamily="34" charset="-120"/>
              </a:rPr>
              <a:t>    requires CommonBullet;</a:t>
            </a:r>
            <a:endParaRPr lang="en-US" sz="945" dirty="0"/>
          </a:p>
          <a:p>
            <a:pPr indent="0" marL="0">
              <a:lnSpc>
                <a:spcPts val="1343"/>
              </a:lnSpc>
              <a:buNone/>
            </a:pPr>
            <a:r>
              <a:rPr lang="en-US" sz="945" dirty="0">
                <a:solidFill>
                  <a:srgbClr val="7FB3F5"/>
                </a:solidFill>
                <a:latin typeface="Courier New" pitchFamily="34" charset="0"/>
                <a:ea typeface="Courier New" pitchFamily="34" charset="-122"/>
                <a:cs typeface="Courier New" pitchFamily="34" charset="-120"/>
              </a:rPr>
              <a:t>    requires javafx.graphics;</a:t>
            </a:r>
            <a:endParaRPr lang="en-US" sz="945" dirty="0"/>
          </a:p>
          <a:p>
            <a:pPr indent="0" marL="0">
              <a:lnSpc>
                <a:spcPts val="1343"/>
              </a:lnSpc>
              <a:buNone/>
            </a:pPr>
            <a:r>
              <a:rPr lang="en-US" sz="945" dirty="0">
                <a:solidFill>
                  <a:srgbClr val="7FB3F5"/>
                </a:solidFill>
                <a:latin typeface="Courier New" pitchFamily="34" charset="0"/>
                <a:ea typeface="Courier New" pitchFamily="34" charset="-122"/>
                <a:cs typeface="Courier New" pitchFamily="34" charset="-120"/>
              </a:rPr>
              <a:t>    requires spring.context;</a:t>
            </a:r>
            <a:endParaRPr lang="en-US" sz="945" dirty="0"/>
          </a:p>
          <a:p>
            <a:pPr indent="0" marL="0">
              <a:lnSpc>
                <a:spcPts val="1343"/>
              </a:lnSpc>
              <a:buNone/>
            </a:pPr>
            <a:r>
              <a:rPr lang="en-US" sz="945" dirty="0">
                <a:solidFill>
                  <a:srgbClr val="7FB3F5"/>
                </a:solidFill>
                <a:latin typeface="Courier New" pitchFamily="34" charset="0"/>
                <a:ea typeface="Courier New" pitchFamily="34" charset="-122"/>
                <a:cs typeface="Courier New" pitchFamily="34" charset="-120"/>
              </a:rPr>
              <a:t>    exports dk.sdu.mmmi.cbse.main;</a:t>
            </a:r>
            <a:endParaRPr lang="en-US" sz="945" dirty="0"/>
          </a:p>
          <a:p>
            <a:pPr indent="0" marL="0">
              <a:lnSpc>
                <a:spcPts val="1343"/>
              </a:lnSpc>
              <a:buNone/>
            </a:pPr>
            <a:r>
              <a:rPr lang="en-US" sz="945" dirty="0">
                <a:solidFill>
                  <a:srgbClr val="7FB3F5"/>
                </a:solidFill>
                <a:latin typeface="Courier New" pitchFamily="34" charset="0"/>
                <a:ea typeface="Courier New" pitchFamily="34" charset="-122"/>
                <a:cs typeface="Courier New" pitchFamily="34" charset="-120"/>
              </a:rPr>
              <a:t>    opens   dk.sdu.mmmi.cbse.main</a:t>
            </a:r>
            <a:endParaRPr lang="en-US" sz="945" dirty="0"/>
          </a:p>
          <a:p>
            <a:pPr indent="0" marL="0">
              <a:lnSpc>
                <a:spcPts val="1343"/>
              </a:lnSpc>
              <a:buNone/>
            </a:pPr>
            <a:r>
              <a:rPr lang="en-US" sz="945" dirty="0">
                <a:solidFill>
                  <a:srgbClr val="D9E3F2"/>
                </a:solidFill>
                <a:latin typeface="Courier New" pitchFamily="34" charset="0"/>
                <a:ea typeface="Courier New" pitchFamily="34" charset="-122"/>
                <a:cs typeface="Courier New" pitchFamily="34" charset="-120"/>
              </a:rPr>
              <a:t>        to javafx.graphics, spring.core;</a:t>
            </a:r>
            <a:endParaRPr lang="en-US" sz="945" dirty="0"/>
          </a:p>
          <a:p>
            <a:pPr indent="0" marL="0">
              <a:lnSpc>
                <a:spcPts val="1343"/>
              </a:lnSpc>
              <a:buNone/>
            </a:pPr>
            <a:r>
              <a:rPr lang="en-US" sz="945" dirty="0">
                <a:solidFill>
                  <a:srgbClr val="D9E3F2"/>
                </a:solidFill>
                <a:latin typeface="Courier New" pitchFamily="34" charset="0"/>
                <a:ea typeface="Courier New" pitchFamily="34" charset="-122"/>
                <a:cs typeface="Courier New" pitchFamily="34" charset="-120"/>
              </a:rPr>
              <a:t>}</a:t>
            </a:r>
            <a:endParaRPr lang="en-US" sz="945"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10896"/>
            <a:ext cx="548640" cy="548640"/>
          </a:xfrm>
          <a:prstGeom prst="ellipse">
            <a:avLst/>
          </a:prstGeom>
          <a:solidFill>
            <a:srgbClr val="18213D"/>
          </a:solidFill>
          <a:ln/>
        </p:spPr>
      </p:sp>
      <p:sp>
        <p:nvSpPr>
          <p:cNvPr id="3" name="Text 1"/>
          <p:cNvSpPr/>
          <p:nvPr/>
        </p:nvSpPr>
        <p:spPr>
          <a:xfrm>
            <a:off x="502920" y="310896"/>
            <a:ext cx="548640" cy="548640"/>
          </a:xfrm>
          <a:prstGeom prst="rect">
            <a:avLst/>
          </a:prstGeom>
          <a:noFill/>
          <a:ln/>
        </p:spPr>
        <p:txBody>
          <a:bodyPr wrap="square" lIns="0" tIns="0" rIns="0" bIns="0" rtlCol="0" anchor="ctr"/>
          <a:lstStyle/>
          <a:p>
            <a:pPr algn="ctr" indent="0" marL="0">
              <a:buNone/>
            </a:pPr>
            <a:r>
              <a:rPr lang="en-US" sz="2100" b="1" dirty="0">
                <a:solidFill>
                  <a:srgbClr val="F5A623"/>
                </a:solidFill>
                <a:latin typeface="Cambria" pitchFamily="34" charset="0"/>
                <a:ea typeface="Cambria" pitchFamily="34" charset="-122"/>
                <a:cs typeface="Cambria" pitchFamily="34" charset="-120"/>
              </a:rPr>
              <a:t>5</a:t>
            </a:r>
            <a:endParaRPr lang="en-US" sz="2100" dirty="0"/>
          </a:p>
        </p:txBody>
      </p:sp>
      <p:sp>
        <p:nvSpPr>
          <p:cNvPr id="4" name="Text 2"/>
          <p:cNvSpPr/>
          <p:nvPr/>
        </p:nvSpPr>
        <p:spPr>
          <a:xfrm>
            <a:off x="1234440" y="329184"/>
            <a:ext cx="5943600" cy="237744"/>
          </a:xfrm>
          <a:prstGeom prst="rect">
            <a:avLst/>
          </a:prstGeom>
          <a:noFill/>
          <a:ln/>
        </p:spPr>
        <p:txBody>
          <a:bodyPr wrap="square" lIns="0" tIns="0" rIns="0" bIns="0" rtlCol="0" anchor="ctr"/>
          <a:lstStyle/>
          <a:p>
            <a:pPr indent="0" marL="0">
              <a:buNone/>
            </a:pPr>
            <a:r>
              <a:rPr lang="en-US" sz="1150" b="1" spc="220" kern="0" dirty="0">
                <a:solidFill>
                  <a:srgbClr val="5F7192"/>
                </a:solidFill>
                <a:latin typeface="Calibri" pitchFamily="34" charset="0"/>
                <a:ea typeface="Calibri" pitchFamily="34" charset="-122"/>
                <a:cs typeface="Calibri" pitchFamily="34" charset="-120"/>
              </a:rPr>
              <a:t>JPMSLAB 2</a:t>
            </a:r>
            <a:endParaRPr lang="en-US" sz="1150" dirty="0"/>
          </a:p>
        </p:txBody>
      </p:sp>
      <p:sp>
        <p:nvSpPr>
          <p:cNvPr id="5" name="Text 3"/>
          <p:cNvSpPr/>
          <p:nvPr/>
        </p:nvSpPr>
        <p:spPr>
          <a:xfrm>
            <a:off x="1234440" y="548640"/>
            <a:ext cx="10424160" cy="457200"/>
          </a:xfrm>
          <a:prstGeom prst="rect">
            <a:avLst/>
          </a:prstGeom>
          <a:noFill/>
          <a:ln/>
        </p:spPr>
        <p:txBody>
          <a:bodyPr wrap="square" lIns="0" tIns="0" rIns="0" bIns="0" rtlCol="0" anchor="ctr"/>
          <a:lstStyle/>
          <a:p>
            <a:pPr indent="0" marL="0">
              <a:buNone/>
            </a:pPr>
            <a:r>
              <a:rPr lang="en-US" sz="2900" b="1" dirty="0">
                <a:solidFill>
                  <a:srgbClr val="18213D"/>
                </a:solidFill>
                <a:latin typeface="Cambria" pitchFamily="34" charset="0"/>
                <a:ea typeface="Cambria" pitchFamily="34" charset="-122"/>
                <a:cs typeface="Cambria" pitchFamily="34" charset="-120"/>
              </a:rPr>
              <a:t>provides ... with, and uses</a:t>
            </a:r>
            <a:endParaRPr lang="en-US" sz="2900" dirty="0"/>
          </a:p>
        </p:txBody>
      </p:sp>
      <p:sp>
        <p:nvSpPr>
          <p:cNvPr id="6" name="Shape 4"/>
          <p:cNvSpPr/>
          <p:nvPr/>
        </p:nvSpPr>
        <p:spPr>
          <a:xfrm>
            <a:off x="502920" y="1261872"/>
            <a:ext cx="5349240" cy="1319784"/>
          </a:xfrm>
          <a:prstGeom prst="roundRect">
            <a:avLst>
              <a:gd name="adj" fmla="val 4157"/>
            </a:avLst>
          </a:prstGeom>
          <a:solidFill>
            <a:srgbClr val="F1F5FB"/>
          </a:solidFill>
          <a:ln w="12700">
            <a:solidFill>
              <a:srgbClr val="DEE7F3"/>
            </a:solidFill>
            <a:prstDash val="solid"/>
          </a:ln>
          <a:effectLst>
            <a:outerShdw sx="100000" sy="100000" kx="0" ky="0" algn="bl" rotWithShape="0" blurRad="127000" dist="25400" dir="5400000">
              <a:srgbClr val="8FA3C4">
                <a:alpha val="28000"/>
              </a:srgbClr>
            </a:outerShdw>
          </a:effectLst>
        </p:spPr>
      </p:sp>
      <p:sp>
        <p:nvSpPr>
          <p:cNvPr id="7" name="Text 5"/>
          <p:cNvSpPr/>
          <p:nvPr/>
        </p:nvSpPr>
        <p:spPr>
          <a:xfrm>
            <a:off x="758952" y="1426464"/>
            <a:ext cx="4837176" cy="237744"/>
          </a:xfrm>
          <a:prstGeom prst="rect">
            <a:avLst/>
          </a:prstGeom>
          <a:noFill/>
          <a:ln/>
        </p:spPr>
        <p:txBody>
          <a:bodyPr wrap="square" lIns="0" tIns="0" rIns="0" bIns="0" rtlCol="0" anchor="ctr"/>
          <a:lstStyle/>
          <a:p>
            <a:pPr indent="0" marL="0">
              <a:buNone/>
            </a:pPr>
            <a:r>
              <a:rPr lang="en-US" sz="1050" b="1" spc="180" kern="0" dirty="0">
                <a:solidFill>
                  <a:srgbClr val="3A5A8C"/>
                </a:solidFill>
                <a:latin typeface="Calibri" pitchFamily="34" charset="0"/>
                <a:ea typeface="Calibri" pitchFamily="34" charset="-122"/>
                <a:cs typeface="Calibri" pitchFamily="34" charset="-120"/>
              </a:rPr>
              <a:t>1  ·  WHAT THE LAB ASKED FOR</a:t>
            </a:r>
            <a:endParaRPr lang="en-US" sz="1050" dirty="0"/>
          </a:p>
        </p:txBody>
      </p:sp>
      <p:sp>
        <p:nvSpPr>
          <p:cNvPr id="8" name="Text 6"/>
          <p:cNvSpPr/>
          <p:nvPr/>
        </p:nvSpPr>
        <p:spPr>
          <a:xfrm>
            <a:off x="758952" y="1728216"/>
            <a:ext cx="4837176" cy="798576"/>
          </a:xfrm>
          <a:prstGeom prst="rect">
            <a:avLst/>
          </a:prstGeom>
          <a:noFill/>
          <a:ln/>
        </p:spPr>
        <p:txBody>
          <a:bodyPr wrap="square" lIns="0" tIns="0" rIns="0" bIns="0" rtlCol="0" anchor="t"/>
          <a:lstStyle/>
          <a:p>
            <a:pPr marL="342900" indent="-342900">
              <a:lnSpc>
                <a:spcPts val="1584"/>
              </a:lnSpc>
              <a:spcAft>
                <a:spcPts val="600"/>
              </a:spcAft>
              <a:buSzPct val="100000"/>
              <a:buChar char="•"/>
            </a:pPr>
            <a:r>
              <a:rPr lang="en-US" sz="1200" dirty="0">
                <a:solidFill>
                  <a:srgbClr val="18213D"/>
                </a:solidFill>
                <a:latin typeface="Calibri" pitchFamily="34" charset="0"/>
                <a:ea typeface="Calibri" pitchFamily="34" charset="-122"/>
                <a:cs typeface="Calibri" pitchFamily="34" charset="-120"/>
              </a:rPr>
              <a:t>Continue implementing the game using JPMS Services</a:t>
            </a:r>
            <a:endParaRPr lang="en-US" sz="1200" dirty="0"/>
          </a:p>
          <a:p>
            <a:pPr marL="342900" indent="-342900">
              <a:lnSpc>
                <a:spcPts val="1584"/>
              </a:lnSpc>
              <a:spcAft>
                <a:spcPts val="600"/>
              </a:spcAft>
              <a:buSzPct val="100000"/>
              <a:buChar char="•"/>
            </a:pPr>
            <a:r>
              <a:rPr lang="en-US" sz="1200" dirty="0">
                <a:solidFill>
                  <a:srgbClr val="18213D"/>
                </a:solidFill>
                <a:latin typeface="Calibri" pitchFamily="34" charset="0"/>
                <a:ea typeface="Calibri" pitchFamily="34" charset="-122"/>
                <a:cs typeface="Calibri" pitchFamily="34" charset="-120"/>
              </a:rPr>
              <a:t>Declare provides, with and uses in the module-info files of the relevant modules</a:t>
            </a:r>
            <a:endParaRPr lang="en-US" sz="1200" dirty="0"/>
          </a:p>
        </p:txBody>
      </p:sp>
      <p:sp>
        <p:nvSpPr>
          <p:cNvPr id="9" name="Shape 7"/>
          <p:cNvSpPr/>
          <p:nvPr/>
        </p:nvSpPr>
        <p:spPr>
          <a:xfrm>
            <a:off x="502920" y="2727960"/>
            <a:ext cx="5349240" cy="2075688"/>
          </a:xfrm>
          <a:prstGeom prst="roundRect">
            <a:avLst>
              <a:gd name="adj" fmla="val 2643"/>
            </a:avLst>
          </a:prstGeom>
          <a:solidFill>
            <a:srgbClr val="FDF3E0"/>
          </a:solidFill>
          <a:ln w="12700">
            <a:solidFill>
              <a:srgbClr val="F2DCB4"/>
            </a:solidFill>
            <a:prstDash val="solid"/>
          </a:ln>
          <a:effectLst>
            <a:outerShdw sx="100000" sy="100000" kx="0" ky="0" algn="bl" rotWithShape="0" blurRad="127000" dist="25400" dir="5400000">
              <a:srgbClr val="8FA3C4">
                <a:alpha val="28000"/>
              </a:srgbClr>
            </a:outerShdw>
          </a:effectLst>
        </p:spPr>
      </p:sp>
      <p:sp>
        <p:nvSpPr>
          <p:cNvPr id="10" name="Text 8"/>
          <p:cNvSpPr/>
          <p:nvPr/>
        </p:nvSpPr>
        <p:spPr>
          <a:xfrm>
            <a:off x="758952" y="2892552"/>
            <a:ext cx="4837176" cy="237744"/>
          </a:xfrm>
          <a:prstGeom prst="rect">
            <a:avLst/>
          </a:prstGeom>
          <a:noFill/>
          <a:ln/>
        </p:spPr>
        <p:txBody>
          <a:bodyPr wrap="square" lIns="0" tIns="0" rIns="0" bIns="0" rtlCol="0" anchor="ctr"/>
          <a:lstStyle/>
          <a:p>
            <a:pPr indent="0" marL="0">
              <a:buNone/>
            </a:pPr>
            <a:r>
              <a:rPr lang="en-US" sz="1050" b="1" spc="180" kern="0" dirty="0">
                <a:solidFill>
                  <a:srgbClr val="B07A18"/>
                </a:solidFill>
                <a:latin typeface="Calibri" pitchFamily="34" charset="0"/>
                <a:ea typeface="Calibri" pitchFamily="34" charset="-122"/>
                <a:cs typeface="Calibri" pitchFamily="34" charset="-120"/>
              </a:rPr>
              <a:t>2  ·  HOW I IMPLEMENTED IT</a:t>
            </a:r>
            <a:endParaRPr lang="en-US" sz="1050" dirty="0"/>
          </a:p>
        </p:txBody>
      </p:sp>
      <p:sp>
        <p:nvSpPr>
          <p:cNvPr id="11" name="Text 9"/>
          <p:cNvSpPr/>
          <p:nvPr/>
        </p:nvSpPr>
        <p:spPr>
          <a:xfrm>
            <a:off x="758952" y="3194304"/>
            <a:ext cx="4837176" cy="1554480"/>
          </a:xfrm>
          <a:prstGeom prst="rect">
            <a:avLst/>
          </a:prstGeom>
          <a:noFill/>
          <a:ln/>
        </p:spPr>
        <p:txBody>
          <a:bodyPr wrap="square" lIns="0" tIns="0" rIns="0" bIns="0" rtlCol="0" anchor="t"/>
          <a:lstStyle/>
          <a:p>
            <a:pPr marL="342900" indent="-342900">
              <a:lnSpc>
                <a:spcPts val="1584"/>
              </a:lnSpc>
              <a:spcAft>
                <a:spcPts val="600"/>
              </a:spcAft>
              <a:buSzPct val="100000"/>
              <a:buChar char="•"/>
            </a:pPr>
            <a:r>
              <a:rPr lang="en-US" sz="1200" dirty="0">
                <a:solidFill>
                  <a:srgbClr val="18213D"/>
                </a:solidFill>
                <a:latin typeface="Calibri" pitchFamily="34" charset="0"/>
                <a:ea typeface="Calibri" pitchFamily="34" charset="-122"/>
                <a:cs typeface="Calibri" pitchFamily="34" charset="-120"/>
              </a:rPr>
              <a:t>Common declares uses for all three core service interfaces</a:t>
            </a:r>
            <a:endParaRPr lang="en-US" sz="1200" dirty="0"/>
          </a:p>
          <a:p>
            <a:pPr marL="342900" indent="-342900">
              <a:lnSpc>
                <a:spcPts val="1584"/>
              </a:lnSpc>
              <a:spcAft>
                <a:spcPts val="600"/>
              </a:spcAft>
              <a:buSzPct val="100000"/>
              <a:buChar char="•"/>
            </a:pPr>
            <a:r>
              <a:rPr lang="en-US" sz="1200" dirty="0">
                <a:solidFill>
                  <a:srgbClr val="18213D"/>
                </a:solidFill>
                <a:latin typeface="Calibri" pitchFamily="34" charset="0"/>
                <a:ea typeface="Calibri" pitchFamily="34" charset="-122"/>
                <a:cs typeface="Calibri" pitchFamily="34" charset="-120"/>
              </a:rPr>
              <a:t>Player, Enemy, Bullet and Asteroids each provide IGamePluginService and IEntityProcessingService</a:t>
            </a:r>
            <a:endParaRPr lang="en-US" sz="1200" dirty="0"/>
          </a:p>
          <a:p>
            <a:pPr marL="342900" indent="-342900">
              <a:lnSpc>
                <a:spcPts val="1584"/>
              </a:lnSpc>
              <a:spcAft>
                <a:spcPts val="600"/>
              </a:spcAft>
              <a:buSzPct val="100000"/>
              <a:buChar char="•"/>
            </a:pPr>
            <a:r>
              <a:rPr lang="en-US" sz="1200" dirty="0">
                <a:solidFill>
                  <a:srgbClr val="18213D"/>
                </a:solidFill>
                <a:latin typeface="Calibri" pitchFamily="34" charset="0"/>
                <a:ea typeface="Calibri" pitchFamily="34" charset="-122"/>
                <a:cs typeface="Calibri" pitchFamily="34" charset="-120"/>
              </a:rPr>
              <a:t>Bullet provides BulletSPI; Player and Enemy declare uses BulletSPI</a:t>
            </a:r>
            <a:endParaRPr lang="en-US" sz="1200" dirty="0"/>
          </a:p>
          <a:p>
            <a:pPr marL="342900" indent="-342900">
              <a:lnSpc>
                <a:spcPts val="1584"/>
              </a:lnSpc>
              <a:spcAft>
                <a:spcPts val="600"/>
              </a:spcAft>
              <a:buSzPct val="100000"/>
              <a:buChar char="•"/>
            </a:pPr>
            <a:r>
              <a:rPr lang="en-US" sz="1200" dirty="0">
                <a:solidFill>
                  <a:srgbClr val="18213D"/>
                </a:solidFill>
                <a:latin typeface="Calibri" pitchFamily="34" charset="0"/>
                <a:ea typeface="Calibri" pitchFamily="34" charset="-122"/>
                <a:cs typeface="Calibri" pitchFamily="34" charset="-120"/>
              </a:rPr>
              <a:t>Asteroids provides IAsteroidSplitter; Collision declares uses IAsteroidSplitter and provides IPostEntityProcessingService</a:t>
            </a:r>
            <a:endParaRPr lang="en-US" sz="1200" dirty="0"/>
          </a:p>
        </p:txBody>
      </p:sp>
      <p:sp>
        <p:nvSpPr>
          <p:cNvPr id="12" name="Shape 10"/>
          <p:cNvSpPr/>
          <p:nvPr/>
        </p:nvSpPr>
        <p:spPr>
          <a:xfrm>
            <a:off x="6172200" y="1261872"/>
            <a:ext cx="5486400" cy="1478280"/>
          </a:xfrm>
          <a:prstGeom prst="roundRect">
            <a:avLst>
              <a:gd name="adj" fmla="val 3711"/>
            </a:avLst>
          </a:prstGeom>
          <a:solidFill>
            <a:srgbClr val="F1F5FB"/>
          </a:solidFill>
          <a:ln w="12700">
            <a:solidFill>
              <a:srgbClr val="DEE7F3"/>
            </a:solidFill>
            <a:prstDash val="solid"/>
          </a:ln>
          <a:effectLst>
            <a:outerShdw sx="100000" sy="100000" kx="0" ky="0" algn="bl" rotWithShape="0" blurRad="127000" dist="25400" dir="5400000">
              <a:srgbClr val="8FA3C4">
                <a:alpha val="28000"/>
              </a:srgbClr>
            </a:outerShdw>
          </a:effectLst>
        </p:spPr>
      </p:sp>
      <p:sp>
        <p:nvSpPr>
          <p:cNvPr id="13" name="Text 11"/>
          <p:cNvSpPr/>
          <p:nvPr/>
        </p:nvSpPr>
        <p:spPr>
          <a:xfrm>
            <a:off x="6428232" y="1426464"/>
            <a:ext cx="4974336" cy="237744"/>
          </a:xfrm>
          <a:prstGeom prst="rect">
            <a:avLst/>
          </a:prstGeom>
          <a:noFill/>
          <a:ln/>
        </p:spPr>
        <p:txBody>
          <a:bodyPr wrap="square" lIns="0" tIns="0" rIns="0" bIns="0" rtlCol="0" anchor="ctr"/>
          <a:lstStyle/>
          <a:p>
            <a:pPr indent="0" marL="0">
              <a:buNone/>
            </a:pPr>
            <a:r>
              <a:rPr lang="en-US" sz="1050" b="1" spc="180" kern="0" dirty="0">
                <a:solidFill>
                  <a:srgbClr val="3A5A8C"/>
                </a:solidFill>
                <a:latin typeface="Calibri" pitchFamily="34" charset="0"/>
                <a:ea typeface="Calibri" pitchFamily="34" charset="-122"/>
                <a:cs typeface="Calibri" pitchFamily="34" charset="-120"/>
              </a:rPr>
              <a:t>3  ·  HOW IT WORKS</a:t>
            </a:r>
            <a:endParaRPr lang="en-US" sz="1050" dirty="0"/>
          </a:p>
        </p:txBody>
      </p:sp>
      <p:sp>
        <p:nvSpPr>
          <p:cNvPr id="14" name="Text 12"/>
          <p:cNvSpPr/>
          <p:nvPr/>
        </p:nvSpPr>
        <p:spPr>
          <a:xfrm>
            <a:off x="6428232" y="1728216"/>
            <a:ext cx="4974336" cy="929640"/>
          </a:xfrm>
          <a:prstGeom prst="rect">
            <a:avLst/>
          </a:prstGeom>
          <a:noFill/>
          <a:ln/>
        </p:spPr>
        <p:txBody>
          <a:bodyPr wrap="square" lIns="0" tIns="0" rIns="0" bIns="0" rtlCol="0" anchor="t"/>
          <a:lstStyle/>
          <a:p>
            <a:pPr indent="0" marL="0">
              <a:lnSpc>
                <a:spcPts val="1650"/>
              </a:lnSpc>
              <a:buNone/>
            </a:pPr>
            <a:r>
              <a:rPr lang="en-US" sz="1200" dirty="0">
                <a:solidFill>
                  <a:srgbClr val="18213D"/>
                </a:solidFill>
                <a:latin typeface="Calibri" pitchFamily="34" charset="0"/>
                <a:ea typeface="Calibri" pitchFamily="34" charset="-122"/>
                <a:cs typeface="Calibri" pitchFamily="34" charset="-120"/>
              </a:rPr>
              <a:t>Player uses BulletSPI but never requires the Bullet module. Bullet provides BulletSPI. The module system connects the two at runtime. Delete the Bullet jar and Player still compiles — it simply stops being able to shoot. That is a service contract rather than a dependency.</a:t>
            </a:r>
            <a:endParaRPr lang="en-US" sz="1200" dirty="0"/>
          </a:p>
        </p:txBody>
      </p:sp>
      <p:sp>
        <p:nvSpPr>
          <p:cNvPr id="15" name="Text 13"/>
          <p:cNvSpPr/>
          <p:nvPr/>
        </p:nvSpPr>
        <p:spPr>
          <a:xfrm>
            <a:off x="6172200" y="2886456"/>
            <a:ext cx="5486400" cy="237744"/>
          </a:xfrm>
          <a:prstGeom prst="rect">
            <a:avLst/>
          </a:prstGeom>
          <a:noFill/>
          <a:ln/>
        </p:spPr>
        <p:txBody>
          <a:bodyPr wrap="square" lIns="0" tIns="0" rIns="0" bIns="0" rtlCol="0" anchor="ctr"/>
          <a:lstStyle/>
          <a:p>
            <a:pPr indent="0" marL="0">
              <a:buNone/>
            </a:pPr>
            <a:r>
              <a:rPr lang="en-US" sz="1050" b="1" spc="160" kern="0" dirty="0">
                <a:solidFill>
                  <a:srgbClr val="5F7192"/>
                </a:solidFill>
                <a:latin typeface="Calibri" pitchFamily="34" charset="0"/>
                <a:ea typeface="Calibri" pitchFamily="34" charset="-122"/>
                <a:cs typeface="Calibri" pitchFamily="34" charset="-120"/>
              </a:rPr>
              <a:t>Player/module-info.java  and  Bullet/module-info.java</a:t>
            </a:r>
            <a:endParaRPr lang="en-US" sz="1050" dirty="0"/>
          </a:p>
        </p:txBody>
      </p:sp>
      <p:sp>
        <p:nvSpPr>
          <p:cNvPr id="16" name="Shape 14"/>
          <p:cNvSpPr/>
          <p:nvPr/>
        </p:nvSpPr>
        <p:spPr>
          <a:xfrm>
            <a:off x="6172200" y="3160776"/>
            <a:ext cx="5486400" cy="2983992"/>
          </a:xfrm>
          <a:prstGeom prst="roundRect">
            <a:avLst>
              <a:gd name="adj" fmla="val 1532"/>
            </a:avLst>
          </a:prstGeom>
          <a:solidFill>
            <a:srgbClr val="0F1729"/>
          </a:solidFill>
          <a:ln w="12700">
            <a:solidFill>
              <a:srgbClr val="2A3552"/>
            </a:solidFill>
            <a:prstDash val="solid"/>
          </a:ln>
        </p:spPr>
      </p:sp>
      <p:sp>
        <p:nvSpPr>
          <p:cNvPr id="17" name="Text 15"/>
          <p:cNvSpPr/>
          <p:nvPr/>
        </p:nvSpPr>
        <p:spPr>
          <a:xfrm>
            <a:off x="6327648" y="3279648"/>
            <a:ext cx="5175504" cy="2746248"/>
          </a:xfrm>
          <a:prstGeom prst="rect">
            <a:avLst/>
          </a:prstGeom>
          <a:noFill/>
          <a:ln/>
        </p:spPr>
        <p:txBody>
          <a:bodyPr wrap="square" lIns="0" tIns="0" rIns="0" bIns="0" rtlCol="0" anchor="t"/>
          <a:lstStyle/>
          <a:p>
            <a:pPr indent="0" marL="0">
              <a:lnSpc>
                <a:spcPts val="1343"/>
              </a:lnSpc>
              <a:buNone/>
            </a:pPr>
            <a:r>
              <a:rPr lang="en-US" sz="945" dirty="0">
                <a:solidFill>
                  <a:srgbClr val="7FB3F5"/>
                </a:solidFill>
                <a:latin typeface="Courier New" pitchFamily="34" charset="0"/>
                <a:ea typeface="Courier New" pitchFamily="34" charset="-122"/>
                <a:cs typeface="Courier New" pitchFamily="34" charset="-120"/>
              </a:rPr>
              <a:t>module Player {</a:t>
            </a:r>
            <a:endParaRPr lang="en-US" sz="945" dirty="0"/>
          </a:p>
          <a:p>
            <a:pPr indent="0" marL="0">
              <a:lnSpc>
                <a:spcPts val="1343"/>
              </a:lnSpc>
              <a:buNone/>
            </a:pPr>
            <a:r>
              <a:rPr lang="en-US" sz="945" dirty="0">
                <a:solidFill>
                  <a:srgbClr val="7FB3F5"/>
                </a:solidFill>
                <a:latin typeface="Courier New" pitchFamily="34" charset="0"/>
                <a:ea typeface="Courier New" pitchFamily="34" charset="-122"/>
                <a:cs typeface="Courier New" pitchFamily="34" charset="-120"/>
              </a:rPr>
              <a:t>    requires Common;</a:t>
            </a:r>
            <a:endParaRPr lang="en-US" sz="945" dirty="0"/>
          </a:p>
          <a:p>
            <a:pPr indent="0" marL="0">
              <a:lnSpc>
                <a:spcPts val="1343"/>
              </a:lnSpc>
              <a:buNone/>
            </a:pPr>
            <a:r>
              <a:rPr lang="en-US" sz="945" dirty="0">
                <a:solidFill>
                  <a:srgbClr val="7FB3F5"/>
                </a:solidFill>
                <a:latin typeface="Courier New" pitchFamily="34" charset="0"/>
                <a:ea typeface="Courier New" pitchFamily="34" charset="-122"/>
                <a:cs typeface="Courier New" pitchFamily="34" charset="-120"/>
              </a:rPr>
              <a:t>    requires CommonBullet;</a:t>
            </a:r>
            <a:endParaRPr lang="en-US" sz="945" dirty="0"/>
          </a:p>
          <a:p>
            <a:pPr indent="0" marL="0">
              <a:lnSpc>
                <a:spcPts val="1343"/>
              </a:lnSpc>
              <a:buNone/>
            </a:pPr>
            <a:r>
              <a:rPr lang="en-US" sz="945" dirty="0">
                <a:solidFill>
                  <a:srgbClr val="7FB3F5"/>
                </a:solidFill>
                <a:latin typeface="Courier New" pitchFamily="34" charset="0"/>
                <a:ea typeface="Courier New" pitchFamily="34" charset="-122"/>
                <a:cs typeface="Courier New" pitchFamily="34" charset="-120"/>
              </a:rPr>
              <a:t>    uses     BulletSPI;                  // consumer</a:t>
            </a:r>
            <a:endParaRPr lang="en-US" sz="945" dirty="0"/>
          </a:p>
          <a:p>
            <a:pPr indent="0" marL="0">
              <a:lnSpc>
                <a:spcPts val="1343"/>
              </a:lnSpc>
              <a:buNone/>
            </a:pPr>
            <a:r>
              <a:rPr lang="en-US" sz="945" dirty="0">
                <a:solidFill>
                  <a:srgbClr val="7FB3F5"/>
                </a:solidFill>
                <a:latin typeface="Courier New" pitchFamily="34" charset="0"/>
                <a:ea typeface="Courier New" pitchFamily="34" charset="-122"/>
                <a:cs typeface="Courier New" pitchFamily="34" charset="-120"/>
              </a:rPr>
              <a:t>    provides IGamePluginService</a:t>
            </a:r>
            <a:endParaRPr lang="en-US" sz="945" dirty="0"/>
          </a:p>
          <a:p>
            <a:pPr indent="0" marL="0">
              <a:lnSpc>
                <a:spcPts val="1343"/>
              </a:lnSpc>
              <a:buNone/>
            </a:pPr>
            <a:r>
              <a:rPr lang="en-US" sz="945" dirty="0">
                <a:solidFill>
                  <a:srgbClr val="D9E3F2"/>
                </a:solidFill>
                <a:latin typeface="Courier New" pitchFamily="34" charset="0"/>
                <a:ea typeface="Courier New" pitchFamily="34" charset="-122"/>
                <a:cs typeface="Courier New" pitchFamily="34" charset="-120"/>
              </a:rPr>
              <a:t>        with ...playersystem.PlayerPlugin;</a:t>
            </a:r>
            <a:endParaRPr lang="en-US" sz="945" dirty="0"/>
          </a:p>
          <a:p>
            <a:pPr indent="0" marL="0">
              <a:lnSpc>
                <a:spcPts val="1343"/>
              </a:lnSpc>
              <a:buNone/>
            </a:pPr>
            <a:r>
              <a:rPr lang="en-US" sz="945" dirty="0">
                <a:solidFill>
                  <a:srgbClr val="7FB3F5"/>
                </a:solidFill>
                <a:latin typeface="Courier New" pitchFamily="34" charset="0"/>
                <a:ea typeface="Courier New" pitchFamily="34" charset="-122"/>
                <a:cs typeface="Courier New" pitchFamily="34" charset="-120"/>
              </a:rPr>
              <a:t>    provides IEntityProcessingService</a:t>
            </a:r>
            <a:endParaRPr lang="en-US" sz="945" dirty="0"/>
          </a:p>
          <a:p>
            <a:pPr indent="0" marL="0">
              <a:lnSpc>
                <a:spcPts val="1343"/>
              </a:lnSpc>
              <a:buNone/>
            </a:pPr>
            <a:r>
              <a:rPr lang="en-US" sz="945" dirty="0">
                <a:solidFill>
                  <a:srgbClr val="D9E3F2"/>
                </a:solidFill>
                <a:latin typeface="Courier New" pitchFamily="34" charset="0"/>
                <a:ea typeface="Courier New" pitchFamily="34" charset="-122"/>
                <a:cs typeface="Courier New" pitchFamily="34" charset="-120"/>
              </a:rPr>
              <a:t>        with ...playersystem.PlayerControlSystem;</a:t>
            </a:r>
            <a:endParaRPr lang="en-US" sz="945" dirty="0"/>
          </a:p>
          <a:p>
            <a:pPr indent="0" marL="0">
              <a:lnSpc>
                <a:spcPts val="1343"/>
              </a:lnSpc>
              <a:buNone/>
            </a:pPr>
            <a:r>
              <a:rPr lang="en-US" sz="945" dirty="0">
                <a:solidFill>
                  <a:srgbClr val="D9E3F2"/>
                </a:solidFill>
                <a:latin typeface="Courier New" pitchFamily="34" charset="0"/>
                <a:ea typeface="Courier New" pitchFamily="34" charset="-122"/>
                <a:cs typeface="Courier New" pitchFamily="34" charset="-120"/>
              </a:rPr>
              <a:t>}</a:t>
            </a:r>
            <a:endParaRPr lang="en-US" sz="945" dirty="0"/>
          </a:p>
          <a:p>
            <a:pPr indent="0" marL="0">
              <a:lnSpc>
                <a:spcPts val="1343"/>
              </a:lnSpc>
              <a:buNone/>
            </a:pPr>
            <a:r>
              <a:rPr lang="en-US" sz="945" dirty="0">
                <a:solidFill>
                  <a:srgbClr val="D9E3F2"/>
                </a:solidFill>
                <a:latin typeface="Courier New" pitchFamily="34" charset="0"/>
                <a:ea typeface="Courier New" pitchFamily="34" charset="-122"/>
                <a:cs typeface="Courier New" pitchFamily="34" charset="-120"/>
              </a:rPr>
              <a:t> </a:t>
            </a:r>
            <a:endParaRPr lang="en-US" sz="945" dirty="0"/>
          </a:p>
          <a:p>
            <a:pPr indent="0" marL="0">
              <a:lnSpc>
                <a:spcPts val="1343"/>
              </a:lnSpc>
              <a:buNone/>
            </a:pPr>
            <a:r>
              <a:rPr lang="en-US" sz="945" dirty="0">
                <a:solidFill>
                  <a:srgbClr val="7FB3F5"/>
                </a:solidFill>
                <a:latin typeface="Courier New" pitchFamily="34" charset="0"/>
                <a:ea typeface="Courier New" pitchFamily="34" charset="-122"/>
                <a:cs typeface="Courier New" pitchFamily="34" charset="-120"/>
              </a:rPr>
              <a:t>module Bullet {</a:t>
            </a:r>
            <a:endParaRPr lang="en-US" sz="945" dirty="0"/>
          </a:p>
          <a:p>
            <a:pPr indent="0" marL="0">
              <a:lnSpc>
                <a:spcPts val="1343"/>
              </a:lnSpc>
              <a:buNone/>
            </a:pPr>
            <a:r>
              <a:rPr lang="en-US" sz="945" dirty="0">
                <a:solidFill>
                  <a:srgbClr val="7FB3F5"/>
                </a:solidFill>
                <a:latin typeface="Courier New" pitchFamily="34" charset="0"/>
                <a:ea typeface="Courier New" pitchFamily="34" charset="-122"/>
                <a:cs typeface="Courier New" pitchFamily="34" charset="-120"/>
              </a:rPr>
              <a:t>    requires Common;</a:t>
            </a:r>
            <a:endParaRPr lang="en-US" sz="945" dirty="0"/>
          </a:p>
          <a:p>
            <a:pPr indent="0" marL="0">
              <a:lnSpc>
                <a:spcPts val="1343"/>
              </a:lnSpc>
              <a:buNone/>
            </a:pPr>
            <a:r>
              <a:rPr lang="en-US" sz="945" dirty="0">
                <a:solidFill>
                  <a:srgbClr val="7FB3F5"/>
                </a:solidFill>
                <a:latin typeface="Courier New" pitchFamily="34" charset="0"/>
                <a:ea typeface="Courier New" pitchFamily="34" charset="-122"/>
                <a:cs typeface="Courier New" pitchFamily="34" charset="-120"/>
              </a:rPr>
              <a:t>    requires CommonBullet;</a:t>
            </a:r>
            <a:endParaRPr lang="en-US" sz="945" dirty="0"/>
          </a:p>
          <a:p>
            <a:pPr indent="0" marL="0">
              <a:lnSpc>
                <a:spcPts val="1343"/>
              </a:lnSpc>
              <a:buNone/>
            </a:pPr>
            <a:r>
              <a:rPr lang="en-US" sz="945" dirty="0">
                <a:solidFill>
                  <a:srgbClr val="7FB3F5"/>
                </a:solidFill>
                <a:latin typeface="Courier New" pitchFamily="34" charset="0"/>
                <a:ea typeface="Courier New" pitchFamily="34" charset="-122"/>
                <a:cs typeface="Courier New" pitchFamily="34" charset="-120"/>
              </a:rPr>
              <a:t>    provides BulletSPI                   // producer</a:t>
            </a:r>
            <a:endParaRPr lang="en-US" sz="945" dirty="0"/>
          </a:p>
          <a:p>
            <a:pPr indent="0" marL="0">
              <a:lnSpc>
                <a:spcPts val="1343"/>
              </a:lnSpc>
              <a:buNone/>
            </a:pPr>
            <a:r>
              <a:rPr lang="en-US" sz="945" dirty="0">
                <a:solidFill>
                  <a:srgbClr val="D9E3F2"/>
                </a:solidFill>
                <a:latin typeface="Courier New" pitchFamily="34" charset="0"/>
                <a:ea typeface="Courier New" pitchFamily="34" charset="-122"/>
                <a:cs typeface="Courier New" pitchFamily="34" charset="-120"/>
              </a:rPr>
              <a:t>        with ...bulletsystem.BulletControlSystem;</a:t>
            </a:r>
            <a:endParaRPr lang="en-US" sz="945" dirty="0"/>
          </a:p>
          <a:p>
            <a:pPr indent="0" marL="0">
              <a:lnSpc>
                <a:spcPts val="1343"/>
              </a:lnSpc>
              <a:buNone/>
            </a:pPr>
            <a:r>
              <a:rPr lang="en-US" sz="945" dirty="0">
                <a:solidFill>
                  <a:srgbClr val="D9E3F2"/>
                </a:solidFill>
                <a:latin typeface="Courier New" pitchFamily="34" charset="0"/>
                <a:ea typeface="Courier New" pitchFamily="34" charset="-122"/>
                <a:cs typeface="Courier New" pitchFamily="34" charset="-120"/>
              </a:rPr>
              <a:t>}</a:t>
            </a:r>
            <a:endParaRPr lang="en-US" sz="945"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10896"/>
            <a:ext cx="548640" cy="548640"/>
          </a:xfrm>
          <a:prstGeom prst="ellipse">
            <a:avLst/>
          </a:prstGeom>
          <a:solidFill>
            <a:srgbClr val="18213D"/>
          </a:solidFill>
          <a:ln/>
        </p:spPr>
      </p:sp>
      <p:sp>
        <p:nvSpPr>
          <p:cNvPr id="3" name="Text 1"/>
          <p:cNvSpPr/>
          <p:nvPr/>
        </p:nvSpPr>
        <p:spPr>
          <a:xfrm>
            <a:off x="502920" y="310896"/>
            <a:ext cx="548640" cy="548640"/>
          </a:xfrm>
          <a:prstGeom prst="rect">
            <a:avLst/>
          </a:prstGeom>
          <a:noFill/>
          <a:ln/>
        </p:spPr>
        <p:txBody>
          <a:bodyPr wrap="square" lIns="0" tIns="0" rIns="0" bIns="0" rtlCol="0" anchor="ctr"/>
          <a:lstStyle/>
          <a:p>
            <a:pPr algn="ctr" indent="0" marL="0">
              <a:buNone/>
            </a:pPr>
            <a:r>
              <a:rPr lang="en-US" sz="2100" b="1" dirty="0">
                <a:solidFill>
                  <a:srgbClr val="F5A623"/>
                </a:solidFill>
                <a:latin typeface="Cambria" pitchFamily="34" charset="0"/>
                <a:ea typeface="Cambria" pitchFamily="34" charset="-122"/>
                <a:cs typeface="Cambria" pitchFamily="34" charset="-120"/>
              </a:rPr>
              <a:t>6</a:t>
            </a:r>
            <a:endParaRPr lang="en-US" sz="2100" dirty="0"/>
          </a:p>
        </p:txBody>
      </p:sp>
      <p:sp>
        <p:nvSpPr>
          <p:cNvPr id="4" name="Text 2"/>
          <p:cNvSpPr/>
          <p:nvPr/>
        </p:nvSpPr>
        <p:spPr>
          <a:xfrm>
            <a:off x="1234440" y="329184"/>
            <a:ext cx="5943600" cy="237744"/>
          </a:xfrm>
          <a:prstGeom prst="rect">
            <a:avLst/>
          </a:prstGeom>
          <a:noFill/>
          <a:ln/>
        </p:spPr>
        <p:txBody>
          <a:bodyPr wrap="square" lIns="0" tIns="0" rIns="0" bIns="0" rtlCol="0" anchor="ctr"/>
          <a:lstStyle/>
          <a:p>
            <a:pPr indent="0" marL="0">
              <a:buNone/>
            </a:pPr>
            <a:r>
              <a:rPr lang="en-US" sz="1150" b="1" spc="220" kern="0" dirty="0">
                <a:solidFill>
                  <a:srgbClr val="5F7192"/>
                </a:solidFill>
                <a:latin typeface="Calibri" pitchFamily="34" charset="0"/>
                <a:ea typeface="Calibri" pitchFamily="34" charset="-122"/>
                <a:cs typeface="Calibri" pitchFamily="34" charset="-120"/>
              </a:rPr>
              <a:t>JPMSLAB 3</a:t>
            </a:r>
            <a:endParaRPr lang="en-US" sz="1150" dirty="0"/>
          </a:p>
        </p:txBody>
      </p:sp>
      <p:sp>
        <p:nvSpPr>
          <p:cNvPr id="5" name="Text 3"/>
          <p:cNvSpPr/>
          <p:nvPr/>
        </p:nvSpPr>
        <p:spPr>
          <a:xfrm>
            <a:off x="1234440" y="548640"/>
            <a:ext cx="10424160" cy="457200"/>
          </a:xfrm>
          <a:prstGeom prst="rect">
            <a:avLst/>
          </a:prstGeom>
          <a:noFill/>
          <a:ln/>
        </p:spPr>
        <p:txBody>
          <a:bodyPr wrap="square" lIns="0" tIns="0" rIns="0" bIns="0" rtlCol="0" anchor="ctr"/>
          <a:lstStyle/>
          <a:p>
            <a:pPr indent="0" marL="0">
              <a:buNone/>
            </a:pPr>
            <a:r>
              <a:rPr lang="en-US" sz="2900" b="1" dirty="0">
                <a:solidFill>
                  <a:srgbClr val="18213D"/>
                </a:solidFill>
                <a:latin typeface="Cambria" pitchFamily="34" charset="0"/>
                <a:ea typeface="Cambria" pitchFamily="34" charset="-122"/>
                <a:cs typeface="Cambria" pitchFamily="34" charset="-120"/>
              </a:rPr>
              <a:t>Split packages and module layers</a:t>
            </a:r>
            <a:endParaRPr lang="en-US" sz="2900" dirty="0"/>
          </a:p>
        </p:txBody>
      </p:sp>
      <p:sp>
        <p:nvSpPr>
          <p:cNvPr id="6" name="Shape 4"/>
          <p:cNvSpPr/>
          <p:nvPr/>
        </p:nvSpPr>
        <p:spPr>
          <a:xfrm>
            <a:off x="502920" y="1261872"/>
            <a:ext cx="5349240" cy="1874520"/>
          </a:xfrm>
          <a:prstGeom prst="roundRect">
            <a:avLst>
              <a:gd name="adj" fmla="val 2927"/>
            </a:avLst>
          </a:prstGeom>
          <a:solidFill>
            <a:srgbClr val="F1F5FB"/>
          </a:solidFill>
          <a:ln w="12700">
            <a:solidFill>
              <a:srgbClr val="DEE7F3"/>
            </a:solidFill>
            <a:prstDash val="solid"/>
          </a:ln>
          <a:effectLst>
            <a:outerShdw sx="100000" sy="100000" kx="0" ky="0" algn="bl" rotWithShape="0" blurRad="127000" dist="25400" dir="5400000">
              <a:srgbClr val="8FA3C4">
                <a:alpha val="28000"/>
              </a:srgbClr>
            </a:outerShdw>
          </a:effectLst>
        </p:spPr>
      </p:sp>
      <p:sp>
        <p:nvSpPr>
          <p:cNvPr id="7" name="Text 5"/>
          <p:cNvSpPr/>
          <p:nvPr/>
        </p:nvSpPr>
        <p:spPr>
          <a:xfrm>
            <a:off x="758952" y="1426464"/>
            <a:ext cx="4837176" cy="237744"/>
          </a:xfrm>
          <a:prstGeom prst="rect">
            <a:avLst/>
          </a:prstGeom>
          <a:noFill/>
          <a:ln/>
        </p:spPr>
        <p:txBody>
          <a:bodyPr wrap="square" lIns="0" tIns="0" rIns="0" bIns="0" rtlCol="0" anchor="ctr"/>
          <a:lstStyle/>
          <a:p>
            <a:pPr indent="0" marL="0">
              <a:buNone/>
            </a:pPr>
            <a:r>
              <a:rPr lang="en-US" sz="1050" b="1" spc="180" kern="0" dirty="0">
                <a:solidFill>
                  <a:srgbClr val="3A5A8C"/>
                </a:solidFill>
                <a:latin typeface="Calibri" pitchFamily="34" charset="0"/>
                <a:ea typeface="Calibri" pitchFamily="34" charset="-122"/>
                <a:cs typeface="Calibri" pitchFamily="34" charset="-120"/>
              </a:rPr>
              <a:t>1  ·  WHAT THE LAB ASKED FOR</a:t>
            </a:r>
            <a:endParaRPr lang="en-US" sz="1050" dirty="0"/>
          </a:p>
        </p:txBody>
      </p:sp>
      <p:sp>
        <p:nvSpPr>
          <p:cNvPr id="8" name="Text 6"/>
          <p:cNvSpPr/>
          <p:nvPr/>
        </p:nvSpPr>
        <p:spPr>
          <a:xfrm>
            <a:off x="758952" y="1728216"/>
            <a:ext cx="4837176" cy="1353312"/>
          </a:xfrm>
          <a:prstGeom prst="rect">
            <a:avLst/>
          </a:prstGeom>
          <a:noFill/>
          <a:ln/>
        </p:spPr>
        <p:txBody>
          <a:bodyPr wrap="square" lIns="0" tIns="0" rIns="0" bIns="0" rtlCol="0" anchor="t"/>
          <a:lstStyle/>
          <a:p>
            <a:pPr marL="342900" indent="-342900">
              <a:lnSpc>
                <a:spcPts val="1584"/>
              </a:lnSpc>
              <a:spcAft>
                <a:spcPts val="600"/>
              </a:spcAft>
              <a:buSzPct val="100000"/>
              <a:buChar char="•"/>
            </a:pPr>
            <a:r>
              <a:rPr lang="en-US" sz="1200" dirty="0">
                <a:solidFill>
                  <a:srgbClr val="18213D"/>
                </a:solidFill>
                <a:latin typeface="Calibri" pitchFamily="34" charset="0"/>
                <a:ea typeface="Calibri" pitchFamily="34" charset="-122"/>
                <a:cs typeface="Calibri" pitchFamily="34" charset="-120"/>
              </a:rPr>
              <a:t>Rename two classes in two different modules to the same name and see what happens</a:t>
            </a:r>
            <a:endParaRPr lang="en-US" sz="1200" dirty="0"/>
          </a:p>
          <a:p>
            <a:pPr marL="342900" indent="-342900">
              <a:lnSpc>
                <a:spcPts val="1584"/>
              </a:lnSpc>
              <a:spcAft>
                <a:spcPts val="600"/>
              </a:spcAft>
              <a:buSzPct val="100000"/>
              <a:buChar char="•"/>
            </a:pPr>
            <a:r>
              <a:rPr lang="en-US" sz="1200" dirty="0">
                <a:solidFill>
                  <a:srgbClr val="18213D"/>
                </a:solidFill>
                <a:latin typeface="Calibri" pitchFamily="34" charset="0"/>
                <a:ea typeface="Calibri" pitchFamily="34" charset="-122"/>
                <a:cs typeface="Calibri" pitchFamily="34" charset="-120"/>
              </a:rPr>
              <a:t>Resolve the split package by implementing a JPMS Module Layer</a:t>
            </a:r>
            <a:endParaRPr lang="en-US" sz="1200" dirty="0"/>
          </a:p>
          <a:p>
            <a:pPr marL="342900" indent="-342900">
              <a:lnSpc>
                <a:spcPts val="1584"/>
              </a:lnSpc>
              <a:spcAft>
                <a:spcPts val="600"/>
              </a:spcAft>
              <a:buSzPct val="100000"/>
              <a:buChar char="•"/>
            </a:pPr>
            <a:r>
              <a:rPr lang="en-US" sz="1200" dirty="0">
                <a:solidFill>
                  <a:srgbClr val="18213D"/>
                </a:solidFill>
                <a:latin typeface="Calibri" pitchFamily="34" charset="0"/>
                <a:ea typeface="Calibri" pitchFamily="34" charset="-122"/>
                <a:cs typeface="Calibri" pitchFamily="34" charset="-120"/>
              </a:rPr>
              <a:t>Create a plugins folder in the project root and move a module there</a:t>
            </a:r>
            <a:endParaRPr lang="en-US" sz="1200" dirty="0"/>
          </a:p>
          <a:p>
            <a:pPr marL="342900" indent="-342900">
              <a:lnSpc>
                <a:spcPts val="1584"/>
              </a:lnSpc>
              <a:spcAft>
                <a:spcPts val="600"/>
              </a:spcAft>
              <a:buSzPct val="100000"/>
              <a:buChar char="•"/>
            </a:pPr>
            <a:r>
              <a:rPr lang="en-US" sz="1200" dirty="0">
                <a:solidFill>
                  <a:srgbClr val="18213D"/>
                </a:solidFill>
                <a:latin typeface="Calibri" pitchFamily="34" charset="0"/>
                <a:ea typeface="Calibri" pitchFamily="34" charset="-122"/>
                <a:cs typeface="Calibri" pitchFamily="34" charset="-120"/>
              </a:rPr>
              <a:t>Use the ModuleLayer API together with the JDK ServiceLoader</a:t>
            </a:r>
            <a:endParaRPr lang="en-US" sz="1200" dirty="0"/>
          </a:p>
        </p:txBody>
      </p:sp>
      <p:sp>
        <p:nvSpPr>
          <p:cNvPr id="9" name="Shape 7"/>
          <p:cNvSpPr/>
          <p:nvPr/>
        </p:nvSpPr>
        <p:spPr>
          <a:xfrm>
            <a:off x="502920" y="3282696"/>
            <a:ext cx="5349240" cy="2478024"/>
          </a:xfrm>
          <a:prstGeom prst="roundRect">
            <a:avLst>
              <a:gd name="adj" fmla="val 2214"/>
            </a:avLst>
          </a:prstGeom>
          <a:solidFill>
            <a:srgbClr val="FDF3E0"/>
          </a:solidFill>
          <a:ln w="12700">
            <a:solidFill>
              <a:srgbClr val="F2DCB4"/>
            </a:solidFill>
            <a:prstDash val="solid"/>
          </a:ln>
          <a:effectLst>
            <a:outerShdw sx="100000" sy="100000" kx="0" ky="0" algn="bl" rotWithShape="0" blurRad="127000" dist="25400" dir="5400000">
              <a:srgbClr val="8FA3C4">
                <a:alpha val="28000"/>
              </a:srgbClr>
            </a:outerShdw>
          </a:effectLst>
        </p:spPr>
      </p:sp>
      <p:sp>
        <p:nvSpPr>
          <p:cNvPr id="10" name="Text 8"/>
          <p:cNvSpPr/>
          <p:nvPr/>
        </p:nvSpPr>
        <p:spPr>
          <a:xfrm>
            <a:off x="758952" y="3447288"/>
            <a:ext cx="4837176" cy="237744"/>
          </a:xfrm>
          <a:prstGeom prst="rect">
            <a:avLst/>
          </a:prstGeom>
          <a:noFill/>
          <a:ln/>
        </p:spPr>
        <p:txBody>
          <a:bodyPr wrap="square" lIns="0" tIns="0" rIns="0" bIns="0" rtlCol="0" anchor="ctr"/>
          <a:lstStyle/>
          <a:p>
            <a:pPr indent="0" marL="0">
              <a:buNone/>
            </a:pPr>
            <a:r>
              <a:rPr lang="en-US" sz="1050" b="1" spc="180" kern="0" dirty="0">
                <a:solidFill>
                  <a:srgbClr val="B07A18"/>
                </a:solidFill>
                <a:latin typeface="Calibri" pitchFamily="34" charset="0"/>
                <a:ea typeface="Calibri" pitchFamily="34" charset="-122"/>
                <a:cs typeface="Calibri" pitchFamily="34" charset="-120"/>
              </a:rPr>
              <a:t>2  ·  HOW I IMPLEMENTED IT</a:t>
            </a:r>
            <a:endParaRPr lang="en-US" sz="1050" dirty="0"/>
          </a:p>
        </p:txBody>
      </p:sp>
      <p:sp>
        <p:nvSpPr>
          <p:cNvPr id="11" name="Text 9"/>
          <p:cNvSpPr/>
          <p:nvPr/>
        </p:nvSpPr>
        <p:spPr>
          <a:xfrm>
            <a:off x="758952" y="3749040"/>
            <a:ext cx="4837176" cy="1956816"/>
          </a:xfrm>
          <a:prstGeom prst="rect">
            <a:avLst/>
          </a:prstGeom>
          <a:noFill/>
          <a:ln/>
        </p:spPr>
        <p:txBody>
          <a:bodyPr wrap="square" lIns="0" tIns="0" rIns="0" bIns="0" rtlCol="0" anchor="t"/>
          <a:lstStyle/>
          <a:p>
            <a:pPr marL="342900" indent="-342900">
              <a:lnSpc>
                <a:spcPts val="1584"/>
              </a:lnSpc>
              <a:spcAft>
                <a:spcPts val="600"/>
              </a:spcAft>
              <a:buSzPct val="100000"/>
              <a:buChar char="•"/>
            </a:pPr>
            <a:r>
              <a:rPr lang="en-US" sz="1200" dirty="0">
                <a:solidFill>
                  <a:srgbClr val="18213D"/>
                </a:solidFill>
                <a:latin typeface="Calibri" pitchFamily="34" charset="0"/>
                <a:ea typeface="Calibri" pitchFamily="34" charset="-122"/>
                <a:cs typeface="Calibri" pitchFamily="34" charset="-120"/>
              </a:rPr>
              <a:t>docs/jpms-lab3-demo/ — moduleA and moduleB both export a package named shared, each with its own shared.Greeter</a:t>
            </a:r>
            <a:endParaRPr lang="en-US" sz="1200" dirty="0"/>
          </a:p>
          <a:p>
            <a:pPr marL="342900" indent="-342900">
              <a:lnSpc>
                <a:spcPts val="1584"/>
              </a:lnSpc>
              <a:spcAft>
                <a:spcPts val="600"/>
              </a:spcAft>
              <a:buSzPct val="100000"/>
              <a:buChar char="•"/>
            </a:pPr>
            <a:r>
              <a:rPr lang="en-US" sz="1200" dirty="0">
                <a:solidFill>
                  <a:srgbClr val="18213D"/>
                </a:solidFill>
                <a:latin typeface="Calibri" pitchFamily="34" charset="0"/>
                <a:ea typeface="Calibri" pitchFamily="34" charset="-122"/>
                <a:cs typeface="Calibri" pitchFamily="34" charset="-120"/>
              </a:rPr>
              <a:t>Loading both under one loader fails: LayerInstantiationException, package shared in more than one module</a:t>
            </a:r>
            <a:endParaRPr lang="en-US" sz="1200" dirty="0"/>
          </a:p>
          <a:p>
            <a:pPr marL="342900" indent="-342900">
              <a:lnSpc>
                <a:spcPts val="1584"/>
              </a:lnSpc>
              <a:spcAft>
                <a:spcPts val="600"/>
              </a:spcAft>
              <a:buSzPct val="100000"/>
              <a:buChar char="•"/>
            </a:pPr>
            <a:r>
              <a:rPr lang="en-US" sz="1200" dirty="0">
                <a:solidFill>
                  <a:srgbClr val="18213D"/>
                </a:solidFill>
                <a:latin typeface="Calibri" pitchFamily="34" charset="0"/>
                <a:ea typeface="Calibri" pitchFamily="34" charset="-122"/>
                <a:cs typeface="Calibri" pitchFamily="34" charset="-120"/>
              </a:rPr>
              <a:t>Resolving them into two separate ModuleLayers makes both load cleanly</a:t>
            </a:r>
            <a:endParaRPr lang="en-US" sz="1200" dirty="0"/>
          </a:p>
          <a:p>
            <a:pPr marL="342900" indent="-342900">
              <a:lnSpc>
                <a:spcPts val="1584"/>
              </a:lnSpc>
              <a:spcAft>
                <a:spcPts val="600"/>
              </a:spcAft>
              <a:buSzPct val="100000"/>
              <a:buChar char="•"/>
            </a:pPr>
            <a:r>
              <a:rPr lang="en-US" sz="1200" dirty="0">
                <a:solidFill>
                  <a:srgbClr val="18213D"/>
                </a:solidFill>
                <a:latin typeface="Calibri" pitchFamily="34" charset="0"/>
                <a:ea typeface="Calibri" pitchFamily="34" charset="-122"/>
                <a:cs typeface="Calibri" pitchFamily="34" charset="-120"/>
              </a:rPr>
              <a:t>The real game uses the same API: plugins/ resolves into its own child layer inside ServiceLocator</a:t>
            </a:r>
            <a:endParaRPr lang="en-US" sz="1200" dirty="0"/>
          </a:p>
        </p:txBody>
      </p:sp>
      <p:sp>
        <p:nvSpPr>
          <p:cNvPr id="12" name="Shape 10"/>
          <p:cNvSpPr/>
          <p:nvPr/>
        </p:nvSpPr>
        <p:spPr>
          <a:xfrm>
            <a:off x="6172200" y="1261872"/>
            <a:ext cx="5486400" cy="1687830"/>
          </a:xfrm>
          <a:prstGeom prst="roundRect">
            <a:avLst>
              <a:gd name="adj" fmla="val 3251"/>
            </a:avLst>
          </a:prstGeom>
          <a:solidFill>
            <a:srgbClr val="F1F5FB"/>
          </a:solidFill>
          <a:ln w="12700">
            <a:solidFill>
              <a:srgbClr val="DEE7F3"/>
            </a:solidFill>
            <a:prstDash val="solid"/>
          </a:ln>
          <a:effectLst>
            <a:outerShdw sx="100000" sy="100000" kx="0" ky="0" algn="bl" rotWithShape="0" blurRad="127000" dist="25400" dir="5400000">
              <a:srgbClr val="8FA3C4">
                <a:alpha val="28000"/>
              </a:srgbClr>
            </a:outerShdw>
          </a:effectLst>
        </p:spPr>
      </p:sp>
      <p:sp>
        <p:nvSpPr>
          <p:cNvPr id="13" name="Text 11"/>
          <p:cNvSpPr/>
          <p:nvPr/>
        </p:nvSpPr>
        <p:spPr>
          <a:xfrm>
            <a:off x="6428232" y="1426464"/>
            <a:ext cx="4974336" cy="237744"/>
          </a:xfrm>
          <a:prstGeom prst="rect">
            <a:avLst/>
          </a:prstGeom>
          <a:noFill/>
          <a:ln/>
        </p:spPr>
        <p:txBody>
          <a:bodyPr wrap="square" lIns="0" tIns="0" rIns="0" bIns="0" rtlCol="0" anchor="ctr"/>
          <a:lstStyle/>
          <a:p>
            <a:pPr indent="0" marL="0">
              <a:buNone/>
            </a:pPr>
            <a:r>
              <a:rPr lang="en-US" sz="1050" b="1" spc="180" kern="0" dirty="0">
                <a:solidFill>
                  <a:srgbClr val="3A5A8C"/>
                </a:solidFill>
                <a:latin typeface="Calibri" pitchFamily="34" charset="0"/>
                <a:ea typeface="Calibri" pitchFamily="34" charset="-122"/>
                <a:cs typeface="Calibri" pitchFamily="34" charset="-120"/>
              </a:rPr>
              <a:t>3  ·  HOW IT WORKS</a:t>
            </a:r>
            <a:endParaRPr lang="en-US" sz="1050" dirty="0"/>
          </a:p>
        </p:txBody>
      </p:sp>
      <p:sp>
        <p:nvSpPr>
          <p:cNvPr id="14" name="Text 12"/>
          <p:cNvSpPr/>
          <p:nvPr/>
        </p:nvSpPr>
        <p:spPr>
          <a:xfrm>
            <a:off x="6428232" y="1728216"/>
            <a:ext cx="4974336" cy="1139190"/>
          </a:xfrm>
          <a:prstGeom prst="rect">
            <a:avLst/>
          </a:prstGeom>
          <a:noFill/>
          <a:ln/>
        </p:spPr>
        <p:txBody>
          <a:bodyPr wrap="square" lIns="0" tIns="0" rIns="0" bIns="0" rtlCol="0" anchor="t"/>
          <a:lstStyle/>
          <a:p>
            <a:pPr indent="0" marL="0">
              <a:lnSpc>
                <a:spcPts val="1650"/>
              </a:lnSpc>
              <a:buNone/>
            </a:pPr>
            <a:r>
              <a:rPr lang="en-US" sz="1200" dirty="0">
                <a:solidFill>
                  <a:srgbClr val="18213D"/>
                </a:solidFill>
                <a:latin typeface="Calibri" pitchFamily="34" charset="0"/>
                <a:ea typeface="Calibri" pitchFamily="34" charset="-122"/>
                <a:cs typeface="Calibri" pitchFamily="34" charset="-120"/>
              </a:rPr>
              <a:t>Two modules that export the same package cannot share a class loader. Configuration.resolve alone does not catch it — the failure only appears when the modules are actually defined together. Giving each its own ModuleLayer gives each its own loader, so the two Greeter classes never have to coexist in one namespace.</a:t>
            </a:r>
            <a:endParaRPr lang="en-US" sz="1200" dirty="0"/>
          </a:p>
        </p:txBody>
      </p:sp>
      <p:sp>
        <p:nvSpPr>
          <p:cNvPr id="15" name="Text 13"/>
          <p:cNvSpPr/>
          <p:nvPr/>
        </p:nvSpPr>
        <p:spPr>
          <a:xfrm>
            <a:off x="6172200" y="3096006"/>
            <a:ext cx="5486400" cy="237744"/>
          </a:xfrm>
          <a:prstGeom prst="rect">
            <a:avLst/>
          </a:prstGeom>
          <a:noFill/>
          <a:ln/>
        </p:spPr>
        <p:txBody>
          <a:bodyPr wrap="square" lIns="0" tIns="0" rIns="0" bIns="0" rtlCol="0" anchor="ctr"/>
          <a:lstStyle/>
          <a:p>
            <a:pPr indent="0" marL="0">
              <a:buNone/>
            </a:pPr>
            <a:r>
              <a:rPr lang="en-US" sz="1050" b="1" spc="160" kern="0" dirty="0">
                <a:solidFill>
                  <a:srgbClr val="5F7192"/>
                </a:solidFill>
                <a:latin typeface="Calibri" pitchFamily="34" charset="0"/>
                <a:ea typeface="Calibri" pitchFamily="34" charset="-122"/>
                <a:cs typeface="Calibri" pitchFamily="34" charset="-120"/>
              </a:rPr>
              <a:t>Common/util/ServiceLocator.java  ·  building the child layer</a:t>
            </a:r>
            <a:endParaRPr lang="en-US" sz="1050" dirty="0"/>
          </a:p>
        </p:txBody>
      </p:sp>
      <p:sp>
        <p:nvSpPr>
          <p:cNvPr id="16" name="Shape 14"/>
          <p:cNvSpPr/>
          <p:nvPr/>
        </p:nvSpPr>
        <p:spPr>
          <a:xfrm>
            <a:off x="6172200" y="3370326"/>
            <a:ext cx="5486400" cy="2774442"/>
          </a:xfrm>
          <a:prstGeom prst="roundRect">
            <a:avLst>
              <a:gd name="adj" fmla="val 1648"/>
            </a:avLst>
          </a:prstGeom>
          <a:solidFill>
            <a:srgbClr val="0F1729"/>
          </a:solidFill>
          <a:ln w="12700">
            <a:solidFill>
              <a:srgbClr val="2A3552"/>
            </a:solidFill>
            <a:prstDash val="solid"/>
          </a:ln>
        </p:spPr>
      </p:sp>
      <p:sp>
        <p:nvSpPr>
          <p:cNvPr id="17" name="Text 15"/>
          <p:cNvSpPr/>
          <p:nvPr/>
        </p:nvSpPr>
        <p:spPr>
          <a:xfrm>
            <a:off x="6327648" y="3489198"/>
            <a:ext cx="5175504" cy="2536698"/>
          </a:xfrm>
          <a:prstGeom prst="rect">
            <a:avLst/>
          </a:prstGeom>
          <a:noFill/>
          <a:ln/>
        </p:spPr>
        <p:txBody>
          <a:bodyPr wrap="square" lIns="0" tIns="0" rIns="0" bIns="0" rtlCol="0" anchor="t"/>
          <a:lstStyle/>
          <a:p>
            <a:pPr indent="0" marL="0">
              <a:lnSpc>
                <a:spcPts val="1416"/>
              </a:lnSpc>
              <a:buNone/>
            </a:pPr>
            <a:r>
              <a:rPr lang="en-US" sz="997" dirty="0">
                <a:solidFill>
                  <a:srgbClr val="D9E3F2"/>
                </a:solidFill>
                <a:latin typeface="Courier New" pitchFamily="34" charset="0"/>
                <a:ea typeface="Courier New" pitchFamily="34" charset="-122"/>
                <a:cs typeface="Courier New" pitchFamily="34" charset="-120"/>
              </a:rPr>
              <a:t>ModuleFinder finder =</a:t>
            </a:r>
            <a:endParaRPr lang="en-US" sz="997" dirty="0"/>
          </a:p>
          <a:p>
            <a:pPr indent="0" marL="0">
              <a:lnSpc>
                <a:spcPts val="1416"/>
              </a:lnSpc>
              <a:buNone/>
            </a:pPr>
            <a:r>
              <a:rPr lang="en-US" sz="997" dirty="0">
                <a:solidFill>
                  <a:srgbClr val="D9E3F2"/>
                </a:solidFill>
                <a:latin typeface="Courier New" pitchFamily="34" charset="0"/>
                <a:ea typeface="Courier New" pitchFamily="34" charset="-122"/>
                <a:cs typeface="Courier New" pitchFamily="34" charset="-120"/>
              </a:rPr>
              <a:t>    ModuleFinder.of(Paths.get("plugins"));</a:t>
            </a:r>
            <a:endParaRPr lang="en-US" sz="997" dirty="0"/>
          </a:p>
          <a:p>
            <a:pPr indent="0" marL="0">
              <a:lnSpc>
                <a:spcPts val="1416"/>
              </a:lnSpc>
              <a:buNone/>
            </a:pPr>
            <a:r>
              <a:rPr lang="en-US" sz="997" dirty="0">
                <a:solidFill>
                  <a:srgbClr val="D9E3F2"/>
                </a:solidFill>
                <a:latin typeface="Courier New" pitchFamily="34" charset="0"/>
                <a:ea typeface="Courier New" pitchFamily="34" charset="-122"/>
                <a:cs typeface="Courier New" pitchFamily="34" charset="-120"/>
              </a:rPr>
              <a:t> </a:t>
            </a:r>
            <a:endParaRPr lang="en-US" sz="997" dirty="0"/>
          </a:p>
          <a:p>
            <a:pPr indent="0" marL="0">
              <a:lnSpc>
                <a:spcPts val="1416"/>
              </a:lnSpc>
              <a:buNone/>
            </a:pPr>
            <a:r>
              <a:rPr lang="en-US" sz="997" dirty="0">
                <a:solidFill>
                  <a:srgbClr val="D9E3F2"/>
                </a:solidFill>
                <a:latin typeface="Courier New" pitchFamily="34" charset="0"/>
                <a:ea typeface="Courier New" pitchFamily="34" charset="-122"/>
                <a:cs typeface="Courier New" pitchFamily="34" charset="-120"/>
              </a:rPr>
              <a:t>List&lt;String&gt; plugins = finder.findAll().stream()</a:t>
            </a:r>
            <a:endParaRPr lang="en-US" sz="997" dirty="0"/>
          </a:p>
          <a:p>
            <a:pPr indent="0" marL="0">
              <a:lnSpc>
                <a:spcPts val="1416"/>
              </a:lnSpc>
              <a:buNone/>
            </a:pPr>
            <a:r>
              <a:rPr lang="en-US" sz="997" dirty="0">
                <a:solidFill>
                  <a:srgbClr val="D9E3F2"/>
                </a:solidFill>
                <a:latin typeface="Courier New" pitchFamily="34" charset="0"/>
                <a:ea typeface="Courier New" pitchFamily="34" charset="-122"/>
                <a:cs typeface="Courier New" pitchFamily="34" charset="-120"/>
              </a:rPr>
              <a:t>    .map(ModuleReference::descriptor)</a:t>
            </a:r>
            <a:endParaRPr lang="en-US" sz="997" dirty="0"/>
          </a:p>
          <a:p>
            <a:pPr indent="0" marL="0">
              <a:lnSpc>
                <a:spcPts val="1416"/>
              </a:lnSpc>
              <a:buNone/>
            </a:pPr>
            <a:r>
              <a:rPr lang="en-US" sz="997" dirty="0">
                <a:solidFill>
                  <a:srgbClr val="D9E3F2"/>
                </a:solidFill>
                <a:latin typeface="Courier New" pitchFamily="34" charset="0"/>
                <a:ea typeface="Courier New" pitchFamily="34" charset="-122"/>
                <a:cs typeface="Courier New" pitchFamily="34" charset="-120"/>
              </a:rPr>
              <a:t>    .map(ModuleDescriptor::name)</a:t>
            </a:r>
            <a:endParaRPr lang="en-US" sz="997" dirty="0"/>
          </a:p>
          <a:p>
            <a:pPr indent="0" marL="0">
              <a:lnSpc>
                <a:spcPts val="1416"/>
              </a:lnSpc>
              <a:buNone/>
            </a:pPr>
            <a:r>
              <a:rPr lang="en-US" sz="997" dirty="0">
                <a:solidFill>
                  <a:srgbClr val="D9E3F2"/>
                </a:solidFill>
                <a:latin typeface="Courier New" pitchFamily="34" charset="0"/>
                <a:ea typeface="Courier New" pitchFamily="34" charset="-122"/>
                <a:cs typeface="Courier New" pitchFamily="34" charset="-120"/>
              </a:rPr>
              <a:t>    .collect(Collectors.toList());</a:t>
            </a:r>
            <a:endParaRPr lang="en-US" sz="997" dirty="0"/>
          </a:p>
          <a:p>
            <a:pPr indent="0" marL="0">
              <a:lnSpc>
                <a:spcPts val="1416"/>
              </a:lnSpc>
              <a:buNone/>
            </a:pPr>
            <a:r>
              <a:rPr lang="en-US" sz="997" dirty="0">
                <a:solidFill>
                  <a:srgbClr val="D9E3F2"/>
                </a:solidFill>
                <a:latin typeface="Courier New" pitchFamily="34" charset="0"/>
                <a:ea typeface="Courier New" pitchFamily="34" charset="-122"/>
                <a:cs typeface="Courier New" pitchFamily="34" charset="-120"/>
              </a:rPr>
              <a:t> </a:t>
            </a:r>
            <a:endParaRPr lang="en-US" sz="997" dirty="0"/>
          </a:p>
          <a:p>
            <a:pPr indent="0" marL="0">
              <a:lnSpc>
                <a:spcPts val="1416"/>
              </a:lnSpc>
              <a:buNone/>
            </a:pPr>
            <a:r>
              <a:rPr lang="en-US" sz="997" dirty="0">
                <a:solidFill>
                  <a:srgbClr val="D9E3F2"/>
                </a:solidFill>
                <a:latin typeface="Courier New" pitchFamily="34" charset="0"/>
                <a:ea typeface="Courier New" pitchFamily="34" charset="-122"/>
                <a:cs typeface="Courier New" pitchFamily="34" charset="-120"/>
              </a:rPr>
              <a:t>Configuration cfg = ModuleLayer.boot()</a:t>
            </a:r>
            <a:endParaRPr lang="en-US" sz="997" dirty="0"/>
          </a:p>
          <a:p>
            <a:pPr indent="0" marL="0">
              <a:lnSpc>
                <a:spcPts val="1416"/>
              </a:lnSpc>
              <a:buNone/>
            </a:pPr>
            <a:r>
              <a:rPr lang="en-US" sz="997" dirty="0">
                <a:solidFill>
                  <a:srgbClr val="D9E3F2"/>
                </a:solidFill>
                <a:latin typeface="Courier New" pitchFamily="34" charset="0"/>
                <a:ea typeface="Courier New" pitchFamily="34" charset="-122"/>
                <a:cs typeface="Courier New" pitchFamily="34" charset="-120"/>
              </a:rPr>
              <a:t>    .configuration()</a:t>
            </a:r>
            <a:endParaRPr lang="en-US" sz="997" dirty="0"/>
          </a:p>
          <a:p>
            <a:pPr indent="0" marL="0">
              <a:lnSpc>
                <a:spcPts val="1416"/>
              </a:lnSpc>
              <a:buNone/>
            </a:pPr>
            <a:r>
              <a:rPr lang="en-US" sz="997" dirty="0">
                <a:solidFill>
                  <a:srgbClr val="D9E3F2"/>
                </a:solidFill>
                <a:latin typeface="Courier New" pitchFamily="34" charset="0"/>
                <a:ea typeface="Courier New" pitchFamily="34" charset="-122"/>
                <a:cs typeface="Courier New" pitchFamily="34" charset="-120"/>
              </a:rPr>
              <a:t>    .resolve(finder, ModuleFinder.of(), plugins);</a:t>
            </a:r>
            <a:endParaRPr lang="en-US" sz="997" dirty="0"/>
          </a:p>
          <a:p>
            <a:pPr indent="0" marL="0">
              <a:lnSpc>
                <a:spcPts val="1416"/>
              </a:lnSpc>
              <a:buNone/>
            </a:pPr>
            <a:r>
              <a:rPr lang="en-US" sz="997" dirty="0">
                <a:solidFill>
                  <a:srgbClr val="D9E3F2"/>
                </a:solidFill>
                <a:latin typeface="Courier New" pitchFamily="34" charset="0"/>
                <a:ea typeface="Courier New" pitchFamily="34" charset="-122"/>
                <a:cs typeface="Courier New" pitchFamily="34" charset="-120"/>
              </a:rPr>
              <a:t> </a:t>
            </a:r>
            <a:endParaRPr lang="en-US" sz="997" dirty="0"/>
          </a:p>
          <a:p>
            <a:pPr indent="0" marL="0">
              <a:lnSpc>
                <a:spcPts val="1416"/>
              </a:lnSpc>
              <a:buNone/>
            </a:pPr>
            <a:r>
              <a:rPr lang="en-US" sz="997" dirty="0">
                <a:solidFill>
                  <a:srgbClr val="D9E3F2"/>
                </a:solidFill>
                <a:latin typeface="Courier New" pitchFamily="34" charset="0"/>
                <a:ea typeface="Courier New" pitchFamily="34" charset="-122"/>
                <a:cs typeface="Courier New" pitchFamily="34" charset="-120"/>
              </a:rPr>
              <a:t>layer = ModuleLayer.boot()</a:t>
            </a:r>
            <a:endParaRPr lang="en-US" sz="997" dirty="0"/>
          </a:p>
          <a:p>
            <a:pPr indent="0" marL="0">
              <a:lnSpc>
                <a:spcPts val="1416"/>
              </a:lnSpc>
              <a:buNone/>
            </a:pPr>
            <a:r>
              <a:rPr lang="en-US" sz="997" dirty="0">
                <a:solidFill>
                  <a:srgbClr val="D9E3F2"/>
                </a:solidFill>
                <a:latin typeface="Courier New" pitchFamily="34" charset="0"/>
                <a:ea typeface="Courier New" pitchFamily="34" charset="-122"/>
                <a:cs typeface="Courier New" pitchFamily="34" charset="-120"/>
              </a:rPr>
              <a:t>    .defineModulesWithOneLoader(cfg, systemLoader);</a:t>
            </a:r>
            <a:endParaRPr lang="en-US" sz="997"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10896"/>
            <a:ext cx="548640" cy="548640"/>
          </a:xfrm>
          <a:prstGeom prst="ellipse">
            <a:avLst/>
          </a:prstGeom>
          <a:solidFill>
            <a:srgbClr val="18213D"/>
          </a:solidFill>
          <a:ln/>
        </p:spPr>
      </p:sp>
      <p:sp>
        <p:nvSpPr>
          <p:cNvPr id="3" name="Text 1"/>
          <p:cNvSpPr/>
          <p:nvPr/>
        </p:nvSpPr>
        <p:spPr>
          <a:xfrm>
            <a:off x="502920" y="310896"/>
            <a:ext cx="548640" cy="548640"/>
          </a:xfrm>
          <a:prstGeom prst="rect">
            <a:avLst/>
          </a:prstGeom>
          <a:noFill/>
          <a:ln/>
        </p:spPr>
        <p:txBody>
          <a:bodyPr wrap="square" lIns="0" tIns="0" rIns="0" bIns="0" rtlCol="0" anchor="ctr"/>
          <a:lstStyle/>
          <a:p>
            <a:pPr algn="ctr" indent="0" marL="0">
              <a:buNone/>
            </a:pPr>
            <a:r>
              <a:rPr lang="en-US" sz="2100" b="1" dirty="0">
                <a:solidFill>
                  <a:srgbClr val="F5A623"/>
                </a:solidFill>
                <a:latin typeface="Cambria" pitchFamily="34" charset="0"/>
                <a:ea typeface="Cambria" pitchFamily="34" charset="-122"/>
                <a:cs typeface="Cambria" pitchFamily="34" charset="-120"/>
              </a:rPr>
              <a:t>7</a:t>
            </a:r>
            <a:endParaRPr lang="en-US" sz="2100" dirty="0"/>
          </a:p>
        </p:txBody>
      </p:sp>
      <p:sp>
        <p:nvSpPr>
          <p:cNvPr id="4" name="Text 2"/>
          <p:cNvSpPr/>
          <p:nvPr/>
        </p:nvSpPr>
        <p:spPr>
          <a:xfrm>
            <a:off x="1234440" y="329184"/>
            <a:ext cx="5943600" cy="237744"/>
          </a:xfrm>
          <a:prstGeom prst="rect">
            <a:avLst/>
          </a:prstGeom>
          <a:noFill/>
          <a:ln/>
        </p:spPr>
        <p:txBody>
          <a:bodyPr wrap="square" lIns="0" tIns="0" rIns="0" bIns="0" rtlCol="0" anchor="ctr"/>
          <a:lstStyle/>
          <a:p>
            <a:pPr indent="0" marL="0">
              <a:buNone/>
            </a:pPr>
            <a:r>
              <a:rPr lang="en-US" sz="1150" b="1" spc="220" kern="0" dirty="0">
                <a:solidFill>
                  <a:srgbClr val="5F7192"/>
                </a:solidFill>
                <a:latin typeface="Calibri" pitchFamily="34" charset="0"/>
                <a:ea typeface="Calibri" pitchFamily="34" charset="-122"/>
                <a:cs typeface="Calibri" pitchFamily="34" charset="-120"/>
              </a:rPr>
              <a:t>SPRINGLAB</a:t>
            </a:r>
            <a:endParaRPr lang="en-US" sz="1150" dirty="0"/>
          </a:p>
        </p:txBody>
      </p:sp>
      <p:sp>
        <p:nvSpPr>
          <p:cNvPr id="5" name="Text 3"/>
          <p:cNvSpPr/>
          <p:nvPr/>
        </p:nvSpPr>
        <p:spPr>
          <a:xfrm>
            <a:off x="1234440" y="548640"/>
            <a:ext cx="10424160" cy="457200"/>
          </a:xfrm>
          <a:prstGeom prst="rect">
            <a:avLst/>
          </a:prstGeom>
          <a:noFill/>
          <a:ln/>
        </p:spPr>
        <p:txBody>
          <a:bodyPr wrap="square" lIns="0" tIns="0" rIns="0" bIns="0" rtlCol="0" anchor="ctr"/>
          <a:lstStyle/>
          <a:p>
            <a:pPr indent="0" marL="0">
              <a:buNone/>
            </a:pPr>
            <a:r>
              <a:rPr lang="en-US" sz="2900" b="1" dirty="0">
                <a:solidFill>
                  <a:srgbClr val="18213D"/>
                </a:solidFill>
                <a:latin typeface="Cambria" pitchFamily="34" charset="0"/>
                <a:ea typeface="Cambria" pitchFamily="34" charset="-122"/>
                <a:cs typeface="Cambria" pitchFamily="34" charset="-120"/>
              </a:rPr>
              <a:t>Spring dependency injection in Core</a:t>
            </a:r>
            <a:endParaRPr lang="en-US" sz="2900" dirty="0"/>
          </a:p>
        </p:txBody>
      </p:sp>
      <p:sp>
        <p:nvSpPr>
          <p:cNvPr id="6" name="Shape 4"/>
          <p:cNvSpPr/>
          <p:nvPr/>
        </p:nvSpPr>
        <p:spPr>
          <a:xfrm>
            <a:off x="502920" y="1261872"/>
            <a:ext cx="5349240" cy="1798320"/>
          </a:xfrm>
          <a:prstGeom prst="roundRect">
            <a:avLst>
              <a:gd name="adj" fmla="val 3051"/>
            </a:avLst>
          </a:prstGeom>
          <a:solidFill>
            <a:srgbClr val="F1F5FB"/>
          </a:solidFill>
          <a:ln w="12700">
            <a:solidFill>
              <a:srgbClr val="DEE7F3"/>
            </a:solidFill>
            <a:prstDash val="solid"/>
          </a:ln>
          <a:effectLst>
            <a:outerShdw sx="100000" sy="100000" kx="0" ky="0" algn="bl" rotWithShape="0" blurRad="127000" dist="25400" dir="5400000">
              <a:srgbClr val="8FA3C4">
                <a:alpha val="28000"/>
              </a:srgbClr>
            </a:outerShdw>
          </a:effectLst>
        </p:spPr>
      </p:sp>
      <p:sp>
        <p:nvSpPr>
          <p:cNvPr id="7" name="Text 5"/>
          <p:cNvSpPr/>
          <p:nvPr/>
        </p:nvSpPr>
        <p:spPr>
          <a:xfrm>
            <a:off x="758952" y="1426464"/>
            <a:ext cx="4837176" cy="237744"/>
          </a:xfrm>
          <a:prstGeom prst="rect">
            <a:avLst/>
          </a:prstGeom>
          <a:noFill/>
          <a:ln/>
        </p:spPr>
        <p:txBody>
          <a:bodyPr wrap="square" lIns="0" tIns="0" rIns="0" bIns="0" rtlCol="0" anchor="ctr"/>
          <a:lstStyle/>
          <a:p>
            <a:pPr indent="0" marL="0">
              <a:buNone/>
            </a:pPr>
            <a:r>
              <a:rPr lang="en-US" sz="1050" b="1" spc="180" kern="0" dirty="0">
                <a:solidFill>
                  <a:srgbClr val="3A5A8C"/>
                </a:solidFill>
                <a:latin typeface="Calibri" pitchFamily="34" charset="0"/>
                <a:ea typeface="Calibri" pitchFamily="34" charset="-122"/>
                <a:cs typeface="Calibri" pitchFamily="34" charset="-120"/>
              </a:rPr>
              <a:t>1  ·  WHAT THE LAB ASKED FOR</a:t>
            </a:r>
            <a:endParaRPr lang="en-US" sz="1050" dirty="0"/>
          </a:p>
        </p:txBody>
      </p:sp>
      <p:sp>
        <p:nvSpPr>
          <p:cNvPr id="8" name="Text 6"/>
          <p:cNvSpPr/>
          <p:nvPr/>
        </p:nvSpPr>
        <p:spPr>
          <a:xfrm>
            <a:off x="758952" y="1728216"/>
            <a:ext cx="4837176" cy="1277112"/>
          </a:xfrm>
          <a:prstGeom prst="rect">
            <a:avLst/>
          </a:prstGeom>
          <a:noFill/>
          <a:ln/>
        </p:spPr>
        <p:txBody>
          <a:bodyPr wrap="square" lIns="0" tIns="0" rIns="0" bIns="0" rtlCol="0" anchor="t"/>
          <a:lstStyle/>
          <a:p>
            <a:pPr marL="342900" indent="-342900">
              <a:lnSpc>
                <a:spcPts val="1584"/>
              </a:lnSpc>
              <a:spcAft>
                <a:spcPts val="600"/>
              </a:spcAft>
              <a:buSzPct val="100000"/>
              <a:buChar char="•"/>
            </a:pPr>
            <a:r>
              <a:rPr lang="en-US" sz="1200" dirty="0">
                <a:solidFill>
                  <a:srgbClr val="18213D"/>
                </a:solidFill>
                <a:latin typeface="Calibri" pitchFamily="34" charset="0"/>
                <a:ea typeface="Calibri" pitchFamily="34" charset="-122"/>
                <a:cs typeface="Calibri" pitchFamily="34" charset="-120"/>
              </a:rPr>
              <a:t>Implement the Core component using the Spring container and the DI component model</a:t>
            </a:r>
            <a:endParaRPr lang="en-US" sz="1200" dirty="0"/>
          </a:p>
          <a:p>
            <a:pPr marL="342900" indent="-342900">
              <a:lnSpc>
                <a:spcPts val="1584"/>
              </a:lnSpc>
              <a:spcAft>
                <a:spcPts val="600"/>
              </a:spcAft>
              <a:buSzPct val="100000"/>
              <a:buChar char="•"/>
            </a:pPr>
            <a:r>
              <a:rPr lang="en-US" sz="1200" dirty="0">
                <a:solidFill>
                  <a:srgbClr val="18213D"/>
                </a:solidFill>
                <a:latin typeface="Calibri" pitchFamily="34" charset="0"/>
                <a:ea typeface="Calibri" pitchFamily="34" charset="-122"/>
                <a:cs typeface="Calibri" pitchFamily="34" charset="-120"/>
              </a:rPr>
              <a:t>Combine JPMS with the Spring runtime container</a:t>
            </a:r>
            <a:endParaRPr lang="en-US" sz="1200" dirty="0"/>
          </a:p>
          <a:p>
            <a:pPr marL="342900" indent="-342900">
              <a:lnSpc>
                <a:spcPts val="1584"/>
              </a:lnSpc>
              <a:spcAft>
                <a:spcPts val="600"/>
              </a:spcAft>
              <a:buSzPct val="100000"/>
              <a:buChar char="•"/>
            </a:pPr>
            <a:r>
              <a:rPr lang="en-US" sz="1200" dirty="0">
                <a:solidFill>
                  <a:srgbClr val="18213D"/>
                </a:solidFill>
                <a:latin typeface="Calibri" pitchFamily="34" charset="0"/>
                <a:ea typeface="Calibri" pitchFamily="34" charset="-122"/>
                <a:cs typeface="Calibri" pitchFamily="34" charset="-120"/>
              </a:rPr>
              <a:t>Instantiate Game and let Spring inject the entity processors and game plugin services</a:t>
            </a:r>
            <a:endParaRPr lang="en-US" sz="1200" dirty="0"/>
          </a:p>
        </p:txBody>
      </p:sp>
      <p:sp>
        <p:nvSpPr>
          <p:cNvPr id="9" name="Shape 7"/>
          <p:cNvSpPr/>
          <p:nvPr/>
        </p:nvSpPr>
        <p:spPr>
          <a:xfrm>
            <a:off x="502920" y="3206496"/>
            <a:ext cx="5349240" cy="2276856"/>
          </a:xfrm>
          <a:prstGeom prst="roundRect">
            <a:avLst>
              <a:gd name="adj" fmla="val 2410"/>
            </a:avLst>
          </a:prstGeom>
          <a:solidFill>
            <a:srgbClr val="FDF3E0"/>
          </a:solidFill>
          <a:ln w="12700">
            <a:solidFill>
              <a:srgbClr val="F2DCB4"/>
            </a:solidFill>
            <a:prstDash val="solid"/>
          </a:ln>
          <a:effectLst>
            <a:outerShdw sx="100000" sy="100000" kx="0" ky="0" algn="bl" rotWithShape="0" blurRad="127000" dist="25400" dir="5400000">
              <a:srgbClr val="8FA3C4">
                <a:alpha val="28000"/>
              </a:srgbClr>
            </a:outerShdw>
          </a:effectLst>
        </p:spPr>
      </p:sp>
      <p:sp>
        <p:nvSpPr>
          <p:cNvPr id="10" name="Text 8"/>
          <p:cNvSpPr/>
          <p:nvPr/>
        </p:nvSpPr>
        <p:spPr>
          <a:xfrm>
            <a:off x="758952" y="3371088"/>
            <a:ext cx="4837176" cy="237744"/>
          </a:xfrm>
          <a:prstGeom prst="rect">
            <a:avLst/>
          </a:prstGeom>
          <a:noFill/>
          <a:ln/>
        </p:spPr>
        <p:txBody>
          <a:bodyPr wrap="square" lIns="0" tIns="0" rIns="0" bIns="0" rtlCol="0" anchor="ctr"/>
          <a:lstStyle/>
          <a:p>
            <a:pPr indent="0" marL="0">
              <a:buNone/>
            </a:pPr>
            <a:r>
              <a:rPr lang="en-US" sz="1050" b="1" spc="180" kern="0" dirty="0">
                <a:solidFill>
                  <a:srgbClr val="B07A18"/>
                </a:solidFill>
                <a:latin typeface="Calibri" pitchFamily="34" charset="0"/>
                <a:ea typeface="Calibri" pitchFamily="34" charset="-122"/>
                <a:cs typeface="Calibri" pitchFamily="34" charset="-120"/>
              </a:rPr>
              <a:t>2  ·  HOW I IMPLEMENTED IT</a:t>
            </a:r>
            <a:endParaRPr lang="en-US" sz="1050" dirty="0"/>
          </a:p>
        </p:txBody>
      </p:sp>
      <p:sp>
        <p:nvSpPr>
          <p:cNvPr id="11" name="Text 9"/>
          <p:cNvSpPr/>
          <p:nvPr/>
        </p:nvSpPr>
        <p:spPr>
          <a:xfrm>
            <a:off x="758952" y="3672840"/>
            <a:ext cx="4837176" cy="1755648"/>
          </a:xfrm>
          <a:prstGeom prst="rect">
            <a:avLst/>
          </a:prstGeom>
          <a:noFill/>
          <a:ln/>
        </p:spPr>
        <p:txBody>
          <a:bodyPr wrap="square" lIns="0" tIns="0" rIns="0" bIns="0" rtlCol="0" anchor="t"/>
          <a:lstStyle/>
          <a:p>
            <a:pPr marL="342900" indent="-342900">
              <a:lnSpc>
                <a:spcPts val="1584"/>
              </a:lnSpc>
              <a:spcAft>
                <a:spcPts val="600"/>
              </a:spcAft>
              <a:buSzPct val="100000"/>
              <a:buChar char="•"/>
            </a:pPr>
            <a:r>
              <a:rPr lang="en-US" sz="1200" dirty="0">
                <a:solidFill>
                  <a:srgbClr val="18213D"/>
                </a:solidFill>
                <a:latin typeface="Calibri" pitchFamily="34" charset="0"/>
                <a:ea typeface="Calibri" pitchFamily="34" charset="-122"/>
                <a:cs typeface="Calibri" pitchFamily="34" charset="-120"/>
              </a:rPr>
              <a:t>Core/ModuleConfig.java is annotated @Configuration and declares five @Bean methods</a:t>
            </a:r>
            <a:endParaRPr lang="en-US" sz="1200" dirty="0"/>
          </a:p>
          <a:p>
            <a:pPr marL="342900" indent="-342900">
              <a:lnSpc>
                <a:spcPts val="1584"/>
              </a:lnSpc>
              <a:spcAft>
                <a:spcPts val="600"/>
              </a:spcAft>
              <a:buSzPct val="100000"/>
              <a:buChar char="•"/>
            </a:pPr>
            <a:r>
              <a:rPr lang="en-US" sz="1200" dirty="0">
                <a:solidFill>
                  <a:srgbClr val="18213D"/>
                </a:solidFill>
                <a:latin typeface="Calibri" pitchFamily="34" charset="0"/>
                <a:ea typeface="Calibri" pitchFamily="34" charset="-122"/>
                <a:cs typeface="Calibri" pitchFamily="34" charset="-120"/>
              </a:rPr>
              <a:t>Three beans return the plugin lists that ServiceLocator discovered</a:t>
            </a:r>
            <a:endParaRPr lang="en-US" sz="1200" dirty="0"/>
          </a:p>
          <a:p>
            <a:pPr marL="342900" indent="-342900">
              <a:lnSpc>
                <a:spcPts val="1584"/>
              </a:lnSpc>
              <a:spcAft>
                <a:spcPts val="600"/>
              </a:spcAft>
              <a:buSzPct val="100000"/>
              <a:buChar char="•"/>
            </a:pPr>
            <a:r>
              <a:rPr lang="en-US" sz="1200" dirty="0">
                <a:solidFill>
                  <a:srgbClr val="18213D"/>
                </a:solidFill>
                <a:latin typeface="Calibri" pitchFamily="34" charset="0"/>
                <a:ea typeface="Calibri" pitchFamily="34" charset="-122"/>
                <a:cs typeface="Calibri" pitchFamily="34" charset="-120"/>
              </a:rPr>
              <a:t>The game() bean constructs Game with those three lists plus the ScoreClient</a:t>
            </a:r>
            <a:endParaRPr lang="en-US" sz="1200" dirty="0"/>
          </a:p>
          <a:p>
            <a:pPr marL="342900" indent="-342900">
              <a:lnSpc>
                <a:spcPts val="1584"/>
              </a:lnSpc>
              <a:spcAft>
                <a:spcPts val="600"/>
              </a:spcAft>
              <a:buSzPct val="100000"/>
              <a:buChar char="•"/>
            </a:pPr>
            <a:r>
              <a:rPr lang="en-US" sz="1200" dirty="0">
                <a:solidFill>
                  <a:srgbClr val="18213D"/>
                </a:solidFill>
                <a:latin typeface="Calibri" pitchFamily="34" charset="0"/>
                <a:ea typeface="Calibri" pitchFamily="34" charset="-122"/>
                <a:cs typeface="Calibri" pitchFamily="34" charset="-120"/>
              </a:rPr>
              <a:t>Main.java creates an AnnotationConfigApplicationContext over ModuleConfig and asks it for the Game bean</a:t>
            </a:r>
            <a:endParaRPr lang="en-US" sz="1200" dirty="0"/>
          </a:p>
        </p:txBody>
      </p:sp>
      <p:sp>
        <p:nvSpPr>
          <p:cNvPr id="12" name="Shape 10"/>
          <p:cNvSpPr/>
          <p:nvPr/>
        </p:nvSpPr>
        <p:spPr>
          <a:xfrm>
            <a:off x="6172200" y="1261872"/>
            <a:ext cx="5486400" cy="1478280"/>
          </a:xfrm>
          <a:prstGeom prst="roundRect">
            <a:avLst>
              <a:gd name="adj" fmla="val 3711"/>
            </a:avLst>
          </a:prstGeom>
          <a:solidFill>
            <a:srgbClr val="F1F5FB"/>
          </a:solidFill>
          <a:ln w="12700">
            <a:solidFill>
              <a:srgbClr val="DEE7F3"/>
            </a:solidFill>
            <a:prstDash val="solid"/>
          </a:ln>
          <a:effectLst>
            <a:outerShdw sx="100000" sy="100000" kx="0" ky="0" algn="bl" rotWithShape="0" blurRad="127000" dist="25400" dir="5400000">
              <a:srgbClr val="8FA3C4">
                <a:alpha val="28000"/>
              </a:srgbClr>
            </a:outerShdw>
          </a:effectLst>
        </p:spPr>
      </p:sp>
      <p:sp>
        <p:nvSpPr>
          <p:cNvPr id="13" name="Text 11"/>
          <p:cNvSpPr/>
          <p:nvPr/>
        </p:nvSpPr>
        <p:spPr>
          <a:xfrm>
            <a:off x="6428232" y="1426464"/>
            <a:ext cx="4974336" cy="237744"/>
          </a:xfrm>
          <a:prstGeom prst="rect">
            <a:avLst/>
          </a:prstGeom>
          <a:noFill/>
          <a:ln/>
        </p:spPr>
        <p:txBody>
          <a:bodyPr wrap="square" lIns="0" tIns="0" rIns="0" bIns="0" rtlCol="0" anchor="ctr"/>
          <a:lstStyle/>
          <a:p>
            <a:pPr indent="0" marL="0">
              <a:buNone/>
            </a:pPr>
            <a:r>
              <a:rPr lang="en-US" sz="1050" b="1" spc="180" kern="0" dirty="0">
                <a:solidFill>
                  <a:srgbClr val="3A5A8C"/>
                </a:solidFill>
                <a:latin typeface="Calibri" pitchFamily="34" charset="0"/>
                <a:ea typeface="Calibri" pitchFamily="34" charset="-122"/>
                <a:cs typeface="Calibri" pitchFamily="34" charset="-120"/>
              </a:rPr>
              <a:t>3  ·  HOW IT WORKS</a:t>
            </a:r>
            <a:endParaRPr lang="en-US" sz="1050" dirty="0"/>
          </a:p>
        </p:txBody>
      </p:sp>
      <p:sp>
        <p:nvSpPr>
          <p:cNvPr id="14" name="Text 12"/>
          <p:cNvSpPr/>
          <p:nvPr/>
        </p:nvSpPr>
        <p:spPr>
          <a:xfrm>
            <a:off x="6428232" y="1728216"/>
            <a:ext cx="4974336" cy="929640"/>
          </a:xfrm>
          <a:prstGeom prst="rect">
            <a:avLst/>
          </a:prstGeom>
          <a:noFill/>
          <a:ln/>
        </p:spPr>
        <p:txBody>
          <a:bodyPr wrap="square" lIns="0" tIns="0" rIns="0" bIns="0" rtlCol="0" anchor="t"/>
          <a:lstStyle/>
          <a:p>
            <a:pPr indent="0" marL="0">
              <a:lnSpc>
                <a:spcPts val="1650"/>
              </a:lnSpc>
              <a:buNone/>
            </a:pPr>
            <a:r>
              <a:rPr lang="en-US" sz="1200" dirty="0">
                <a:solidFill>
                  <a:srgbClr val="18213D"/>
                </a:solidFill>
                <a:latin typeface="Calibri" pitchFamily="34" charset="0"/>
                <a:ea typeface="Calibri" pitchFamily="34" charset="-122"/>
                <a:cs typeface="Calibri" pitchFamily="34" charset="-120"/>
              </a:rPr>
              <a:t>Two mechanisms hand off to each other and neither knows about the other. JPMS finds the plugins through ServiceLocator; Spring turns those plain lists into beans and passes them into Game's constructor. JPMS supplies reliable configuration, Spring supplies the runtime wiring.</a:t>
            </a:r>
            <a:endParaRPr lang="en-US" sz="1200" dirty="0"/>
          </a:p>
        </p:txBody>
      </p:sp>
      <p:sp>
        <p:nvSpPr>
          <p:cNvPr id="15" name="Text 13"/>
          <p:cNvSpPr/>
          <p:nvPr/>
        </p:nvSpPr>
        <p:spPr>
          <a:xfrm>
            <a:off x="6172200" y="2886456"/>
            <a:ext cx="5486400" cy="237744"/>
          </a:xfrm>
          <a:prstGeom prst="rect">
            <a:avLst/>
          </a:prstGeom>
          <a:noFill/>
          <a:ln/>
        </p:spPr>
        <p:txBody>
          <a:bodyPr wrap="square" lIns="0" tIns="0" rIns="0" bIns="0" rtlCol="0" anchor="ctr"/>
          <a:lstStyle/>
          <a:p>
            <a:pPr indent="0" marL="0">
              <a:buNone/>
            </a:pPr>
            <a:r>
              <a:rPr lang="en-US" sz="1050" b="1" spc="160" kern="0" dirty="0">
                <a:solidFill>
                  <a:srgbClr val="5F7192"/>
                </a:solidFill>
                <a:latin typeface="Calibri" pitchFamily="34" charset="0"/>
                <a:ea typeface="Calibri" pitchFamily="34" charset="-122"/>
                <a:cs typeface="Calibri" pitchFamily="34" charset="-120"/>
              </a:rPr>
              <a:t>Core/src/main/java/.../main/ModuleConfig.java</a:t>
            </a:r>
            <a:endParaRPr lang="en-US" sz="1050" dirty="0"/>
          </a:p>
        </p:txBody>
      </p:sp>
      <p:sp>
        <p:nvSpPr>
          <p:cNvPr id="16" name="Shape 14"/>
          <p:cNvSpPr/>
          <p:nvPr/>
        </p:nvSpPr>
        <p:spPr>
          <a:xfrm>
            <a:off x="6172200" y="3160776"/>
            <a:ext cx="5486400" cy="2983992"/>
          </a:xfrm>
          <a:prstGeom prst="roundRect">
            <a:avLst>
              <a:gd name="adj" fmla="val 1532"/>
            </a:avLst>
          </a:prstGeom>
          <a:solidFill>
            <a:srgbClr val="0F1729"/>
          </a:solidFill>
          <a:ln w="12700">
            <a:solidFill>
              <a:srgbClr val="2A3552"/>
            </a:solidFill>
            <a:prstDash val="solid"/>
          </a:ln>
        </p:spPr>
      </p:sp>
      <p:sp>
        <p:nvSpPr>
          <p:cNvPr id="17" name="Text 15"/>
          <p:cNvSpPr/>
          <p:nvPr/>
        </p:nvSpPr>
        <p:spPr>
          <a:xfrm>
            <a:off x="6327648" y="3279648"/>
            <a:ext cx="5175504" cy="2746248"/>
          </a:xfrm>
          <a:prstGeom prst="rect">
            <a:avLst/>
          </a:prstGeom>
          <a:noFill/>
          <a:ln/>
        </p:spPr>
        <p:txBody>
          <a:bodyPr wrap="square" lIns="0" tIns="0" rIns="0" bIns="0" rtlCol="0" anchor="t"/>
          <a:lstStyle/>
          <a:p>
            <a:pPr indent="0" marL="0">
              <a:lnSpc>
                <a:spcPts val="1264"/>
              </a:lnSpc>
              <a:buNone/>
            </a:pPr>
            <a:r>
              <a:rPr lang="en-US" sz="890" dirty="0">
                <a:solidFill>
                  <a:srgbClr val="F5A623"/>
                </a:solidFill>
                <a:latin typeface="Courier New" pitchFamily="34" charset="0"/>
                <a:ea typeface="Courier New" pitchFamily="34" charset="-122"/>
                <a:cs typeface="Courier New" pitchFamily="34" charset="-120"/>
              </a:rPr>
              <a:t>@Configuration</a:t>
            </a:r>
            <a:endParaRPr lang="en-US" sz="890" dirty="0"/>
          </a:p>
          <a:p>
            <a:pPr indent="0" marL="0">
              <a:lnSpc>
                <a:spcPts val="1264"/>
              </a:lnSpc>
              <a:buNone/>
            </a:pPr>
            <a:r>
              <a:rPr lang="en-US" sz="890" dirty="0">
                <a:solidFill>
                  <a:srgbClr val="D9E3F2"/>
                </a:solidFill>
                <a:latin typeface="Courier New" pitchFamily="34" charset="0"/>
                <a:ea typeface="Courier New" pitchFamily="34" charset="-122"/>
                <a:cs typeface="Courier New" pitchFamily="34" charset="-120"/>
              </a:rPr>
              <a:t>class ModuleConfig {</a:t>
            </a:r>
            <a:endParaRPr lang="en-US" sz="890" dirty="0"/>
          </a:p>
          <a:p>
            <a:pPr indent="0" marL="0">
              <a:lnSpc>
                <a:spcPts val="1264"/>
              </a:lnSpc>
              <a:buNone/>
            </a:pPr>
            <a:r>
              <a:rPr lang="en-US" sz="890" dirty="0">
                <a:solidFill>
                  <a:srgbClr val="D9E3F2"/>
                </a:solidFill>
                <a:latin typeface="Courier New" pitchFamily="34" charset="0"/>
                <a:ea typeface="Courier New" pitchFamily="34" charset="-122"/>
                <a:cs typeface="Courier New" pitchFamily="34" charset="-120"/>
              </a:rPr>
              <a:t> </a:t>
            </a:r>
            <a:endParaRPr lang="en-US" sz="890" dirty="0"/>
          </a:p>
          <a:p>
            <a:pPr indent="0" marL="0">
              <a:lnSpc>
                <a:spcPts val="1264"/>
              </a:lnSpc>
              <a:buNone/>
            </a:pPr>
            <a:r>
              <a:rPr lang="en-US" sz="890" dirty="0">
                <a:solidFill>
                  <a:srgbClr val="F5A623"/>
                </a:solidFill>
                <a:latin typeface="Courier New" pitchFamily="34" charset="0"/>
                <a:ea typeface="Courier New" pitchFamily="34" charset="-122"/>
                <a:cs typeface="Courier New" pitchFamily="34" charset="-120"/>
              </a:rPr>
              <a:t>    @Bean</a:t>
            </a:r>
            <a:endParaRPr lang="en-US" sz="890" dirty="0"/>
          </a:p>
          <a:p>
            <a:pPr indent="0" marL="0">
              <a:lnSpc>
                <a:spcPts val="1264"/>
              </a:lnSpc>
              <a:buNone/>
            </a:pPr>
            <a:r>
              <a:rPr lang="en-US" sz="890" dirty="0">
                <a:solidFill>
                  <a:srgbClr val="D9E3F2"/>
                </a:solidFill>
                <a:latin typeface="Courier New" pitchFamily="34" charset="0"/>
                <a:ea typeface="Courier New" pitchFamily="34" charset="-122"/>
                <a:cs typeface="Courier New" pitchFamily="34" charset="-120"/>
              </a:rPr>
              <a:t>    public Game game() {</a:t>
            </a:r>
            <a:endParaRPr lang="en-US" sz="890" dirty="0"/>
          </a:p>
          <a:p>
            <a:pPr indent="0" marL="0">
              <a:lnSpc>
                <a:spcPts val="1264"/>
              </a:lnSpc>
              <a:buNone/>
            </a:pPr>
            <a:r>
              <a:rPr lang="en-US" sz="890" dirty="0">
                <a:solidFill>
                  <a:srgbClr val="D9E3F2"/>
                </a:solidFill>
                <a:latin typeface="Courier New" pitchFamily="34" charset="0"/>
                <a:ea typeface="Courier New" pitchFamily="34" charset="-122"/>
                <a:cs typeface="Courier New" pitchFamily="34" charset="-120"/>
              </a:rPr>
              <a:t>        return new Game(gamePluginServices(),</a:t>
            </a:r>
            <a:endParaRPr lang="en-US" sz="890" dirty="0"/>
          </a:p>
          <a:p>
            <a:pPr indent="0" marL="0">
              <a:lnSpc>
                <a:spcPts val="1264"/>
              </a:lnSpc>
              <a:buNone/>
            </a:pPr>
            <a:r>
              <a:rPr lang="en-US" sz="890" dirty="0">
                <a:solidFill>
                  <a:srgbClr val="D9E3F2"/>
                </a:solidFill>
                <a:latin typeface="Courier New" pitchFamily="34" charset="0"/>
                <a:ea typeface="Courier New" pitchFamily="34" charset="-122"/>
                <a:cs typeface="Courier New" pitchFamily="34" charset="-120"/>
              </a:rPr>
              <a:t>                        entityProcessingServiceList(),</a:t>
            </a:r>
            <a:endParaRPr lang="en-US" sz="890" dirty="0"/>
          </a:p>
          <a:p>
            <a:pPr indent="0" marL="0">
              <a:lnSpc>
                <a:spcPts val="1264"/>
              </a:lnSpc>
              <a:buNone/>
            </a:pPr>
            <a:r>
              <a:rPr lang="en-US" sz="890" dirty="0">
                <a:solidFill>
                  <a:srgbClr val="D9E3F2"/>
                </a:solidFill>
                <a:latin typeface="Courier New" pitchFamily="34" charset="0"/>
                <a:ea typeface="Courier New" pitchFamily="34" charset="-122"/>
                <a:cs typeface="Courier New" pitchFamily="34" charset="-120"/>
              </a:rPr>
              <a:t>                        postEntityProcessingServices(),</a:t>
            </a:r>
            <a:endParaRPr lang="en-US" sz="890" dirty="0"/>
          </a:p>
          <a:p>
            <a:pPr indent="0" marL="0">
              <a:lnSpc>
                <a:spcPts val="1264"/>
              </a:lnSpc>
              <a:buNone/>
            </a:pPr>
            <a:r>
              <a:rPr lang="en-US" sz="890" dirty="0">
                <a:solidFill>
                  <a:srgbClr val="D9E3F2"/>
                </a:solidFill>
                <a:latin typeface="Courier New" pitchFamily="34" charset="0"/>
                <a:ea typeface="Courier New" pitchFamily="34" charset="-122"/>
                <a:cs typeface="Courier New" pitchFamily="34" charset="-120"/>
              </a:rPr>
              <a:t>                        scoreClient());</a:t>
            </a:r>
            <a:endParaRPr lang="en-US" sz="890" dirty="0"/>
          </a:p>
          <a:p>
            <a:pPr indent="0" marL="0">
              <a:lnSpc>
                <a:spcPts val="1264"/>
              </a:lnSpc>
              <a:buNone/>
            </a:pPr>
            <a:r>
              <a:rPr lang="en-US" sz="890" dirty="0">
                <a:solidFill>
                  <a:srgbClr val="D9E3F2"/>
                </a:solidFill>
                <a:latin typeface="Courier New" pitchFamily="34" charset="0"/>
                <a:ea typeface="Courier New" pitchFamily="34" charset="-122"/>
                <a:cs typeface="Courier New" pitchFamily="34" charset="-120"/>
              </a:rPr>
              <a:t>    }</a:t>
            </a:r>
            <a:endParaRPr lang="en-US" sz="890" dirty="0"/>
          </a:p>
          <a:p>
            <a:pPr indent="0" marL="0">
              <a:lnSpc>
                <a:spcPts val="1264"/>
              </a:lnSpc>
              <a:buNone/>
            </a:pPr>
            <a:r>
              <a:rPr lang="en-US" sz="890" dirty="0">
                <a:solidFill>
                  <a:srgbClr val="D9E3F2"/>
                </a:solidFill>
                <a:latin typeface="Courier New" pitchFamily="34" charset="0"/>
                <a:ea typeface="Courier New" pitchFamily="34" charset="-122"/>
                <a:cs typeface="Courier New" pitchFamily="34" charset="-120"/>
              </a:rPr>
              <a:t> </a:t>
            </a:r>
            <a:endParaRPr lang="en-US" sz="890" dirty="0"/>
          </a:p>
          <a:p>
            <a:pPr indent="0" marL="0">
              <a:lnSpc>
                <a:spcPts val="1264"/>
              </a:lnSpc>
              <a:buNone/>
            </a:pPr>
            <a:r>
              <a:rPr lang="en-US" sz="890" dirty="0">
                <a:solidFill>
                  <a:srgbClr val="F5A623"/>
                </a:solidFill>
                <a:latin typeface="Courier New" pitchFamily="34" charset="0"/>
                <a:ea typeface="Courier New" pitchFamily="34" charset="-122"/>
                <a:cs typeface="Courier New" pitchFamily="34" charset="-120"/>
              </a:rPr>
              <a:t>    @Bean</a:t>
            </a:r>
            <a:endParaRPr lang="en-US" sz="890" dirty="0"/>
          </a:p>
          <a:p>
            <a:pPr indent="0" marL="0">
              <a:lnSpc>
                <a:spcPts val="1264"/>
              </a:lnSpc>
              <a:buNone/>
            </a:pPr>
            <a:r>
              <a:rPr lang="en-US" sz="890" dirty="0">
                <a:solidFill>
                  <a:srgbClr val="D9E3F2"/>
                </a:solidFill>
                <a:latin typeface="Courier New" pitchFamily="34" charset="0"/>
                <a:ea typeface="Courier New" pitchFamily="34" charset="-122"/>
                <a:cs typeface="Courier New" pitchFamily="34" charset="-120"/>
              </a:rPr>
              <a:t>    public List&lt;IGamePluginService&gt; gamePluginServices() {</a:t>
            </a:r>
            <a:endParaRPr lang="en-US" sz="890" dirty="0"/>
          </a:p>
          <a:p>
            <a:pPr indent="0" marL="0">
              <a:lnSpc>
                <a:spcPts val="1264"/>
              </a:lnSpc>
              <a:buNone/>
            </a:pPr>
            <a:r>
              <a:rPr lang="en-US" sz="890" dirty="0">
                <a:solidFill>
                  <a:srgbClr val="D9E3F2"/>
                </a:solidFill>
                <a:latin typeface="Courier New" pitchFamily="34" charset="0"/>
                <a:ea typeface="Courier New" pitchFamily="34" charset="-122"/>
                <a:cs typeface="Courier New" pitchFamily="34" charset="-120"/>
              </a:rPr>
              <a:t>        return ServiceLocator.INSTANCE</a:t>
            </a:r>
            <a:endParaRPr lang="en-US" sz="890" dirty="0"/>
          </a:p>
          <a:p>
            <a:pPr indent="0" marL="0">
              <a:lnSpc>
                <a:spcPts val="1264"/>
              </a:lnSpc>
              <a:buNone/>
            </a:pPr>
            <a:r>
              <a:rPr lang="en-US" sz="890" dirty="0">
                <a:solidFill>
                  <a:srgbClr val="D9E3F2"/>
                </a:solidFill>
                <a:latin typeface="Courier New" pitchFamily="34" charset="0"/>
                <a:ea typeface="Courier New" pitchFamily="34" charset="-122"/>
                <a:cs typeface="Courier New" pitchFamily="34" charset="-120"/>
              </a:rPr>
              <a:t>            .locateAll(IGamePluginService.class);</a:t>
            </a:r>
            <a:endParaRPr lang="en-US" sz="890" dirty="0"/>
          </a:p>
          <a:p>
            <a:pPr indent="0" marL="0">
              <a:lnSpc>
                <a:spcPts val="1264"/>
              </a:lnSpc>
              <a:buNone/>
            </a:pPr>
            <a:r>
              <a:rPr lang="en-US" sz="890" dirty="0">
                <a:solidFill>
                  <a:srgbClr val="D9E3F2"/>
                </a:solidFill>
                <a:latin typeface="Courier New" pitchFamily="34" charset="0"/>
                <a:ea typeface="Courier New" pitchFamily="34" charset="-122"/>
                <a:cs typeface="Courier New" pitchFamily="34" charset="-120"/>
              </a:rPr>
              <a:t>    }</a:t>
            </a:r>
            <a:endParaRPr lang="en-US" sz="890" dirty="0"/>
          </a:p>
          <a:p>
            <a:pPr indent="0" marL="0">
              <a:lnSpc>
                <a:spcPts val="1264"/>
              </a:lnSpc>
              <a:buNone/>
            </a:pPr>
            <a:r>
              <a:rPr lang="en-US" sz="890" dirty="0">
                <a:solidFill>
                  <a:srgbClr val="D9E3F2"/>
                </a:solidFill>
                <a:latin typeface="Courier New" pitchFamily="34" charset="0"/>
                <a:ea typeface="Courier New" pitchFamily="34" charset="-122"/>
                <a:cs typeface="Courier New" pitchFamily="34" charset="-120"/>
              </a:rPr>
              <a:t>}</a:t>
            </a:r>
            <a:endParaRPr lang="en-US" sz="89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10896"/>
            <a:ext cx="548640" cy="548640"/>
          </a:xfrm>
          <a:prstGeom prst="ellipse">
            <a:avLst/>
          </a:prstGeom>
          <a:solidFill>
            <a:srgbClr val="18213D"/>
          </a:solidFill>
          <a:ln/>
        </p:spPr>
      </p:sp>
      <p:sp>
        <p:nvSpPr>
          <p:cNvPr id="3" name="Text 1"/>
          <p:cNvSpPr/>
          <p:nvPr/>
        </p:nvSpPr>
        <p:spPr>
          <a:xfrm>
            <a:off x="502920" y="310896"/>
            <a:ext cx="548640" cy="548640"/>
          </a:xfrm>
          <a:prstGeom prst="rect">
            <a:avLst/>
          </a:prstGeom>
          <a:noFill/>
          <a:ln/>
        </p:spPr>
        <p:txBody>
          <a:bodyPr wrap="square" lIns="0" tIns="0" rIns="0" bIns="0" rtlCol="0" anchor="ctr"/>
          <a:lstStyle/>
          <a:p>
            <a:pPr algn="ctr" indent="0" marL="0">
              <a:buNone/>
            </a:pPr>
            <a:r>
              <a:rPr lang="en-US" sz="2100" b="1" dirty="0">
                <a:solidFill>
                  <a:srgbClr val="F5A623"/>
                </a:solidFill>
                <a:latin typeface="Cambria" pitchFamily="34" charset="0"/>
                <a:ea typeface="Cambria" pitchFamily="34" charset="-122"/>
                <a:cs typeface="Cambria" pitchFamily="34" charset="-120"/>
              </a:rPr>
              <a:t>8</a:t>
            </a:r>
            <a:endParaRPr lang="en-US" sz="2100" dirty="0"/>
          </a:p>
        </p:txBody>
      </p:sp>
      <p:sp>
        <p:nvSpPr>
          <p:cNvPr id="4" name="Text 2"/>
          <p:cNvSpPr/>
          <p:nvPr/>
        </p:nvSpPr>
        <p:spPr>
          <a:xfrm>
            <a:off x="1234440" y="329184"/>
            <a:ext cx="5943600" cy="237744"/>
          </a:xfrm>
          <a:prstGeom prst="rect">
            <a:avLst/>
          </a:prstGeom>
          <a:noFill/>
          <a:ln/>
        </p:spPr>
        <p:txBody>
          <a:bodyPr wrap="square" lIns="0" tIns="0" rIns="0" bIns="0" rtlCol="0" anchor="ctr"/>
          <a:lstStyle/>
          <a:p>
            <a:pPr indent="0" marL="0">
              <a:buNone/>
            </a:pPr>
            <a:r>
              <a:rPr lang="en-US" sz="1150" b="1" spc="220" kern="0" dirty="0">
                <a:solidFill>
                  <a:srgbClr val="5F7192"/>
                </a:solidFill>
                <a:latin typeface="Calibri" pitchFamily="34" charset="0"/>
                <a:ea typeface="Calibri" pitchFamily="34" charset="-122"/>
                <a:cs typeface="Calibri" pitchFamily="34" charset="-120"/>
              </a:rPr>
              <a:t>MICROSERVICELAB</a:t>
            </a:r>
            <a:endParaRPr lang="en-US" sz="1150" dirty="0"/>
          </a:p>
        </p:txBody>
      </p:sp>
      <p:sp>
        <p:nvSpPr>
          <p:cNvPr id="5" name="Text 3"/>
          <p:cNvSpPr/>
          <p:nvPr/>
        </p:nvSpPr>
        <p:spPr>
          <a:xfrm>
            <a:off x="1234440" y="548640"/>
            <a:ext cx="10424160" cy="457200"/>
          </a:xfrm>
          <a:prstGeom prst="rect">
            <a:avLst/>
          </a:prstGeom>
          <a:noFill/>
          <a:ln/>
        </p:spPr>
        <p:txBody>
          <a:bodyPr wrap="square" lIns="0" tIns="0" rIns="0" bIns="0" rtlCol="0" anchor="ctr"/>
          <a:lstStyle/>
          <a:p>
            <a:pPr indent="0" marL="0">
              <a:buNone/>
            </a:pPr>
            <a:r>
              <a:rPr lang="en-US" sz="2900" b="1" dirty="0">
                <a:solidFill>
                  <a:srgbClr val="18213D"/>
                </a:solidFill>
                <a:latin typeface="Cambria" pitchFamily="34" charset="0"/>
                <a:ea typeface="Cambria" pitchFamily="34" charset="-122"/>
                <a:cs typeface="Cambria" pitchFamily="34" charset="-120"/>
              </a:rPr>
              <a:t>The Spring Boot scoring service</a:t>
            </a:r>
            <a:endParaRPr lang="en-US" sz="2900" dirty="0"/>
          </a:p>
        </p:txBody>
      </p:sp>
      <p:sp>
        <p:nvSpPr>
          <p:cNvPr id="6" name="Shape 4"/>
          <p:cNvSpPr/>
          <p:nvPr/>
        </p:nvSpPr>
        <p:spPr>
          <a:xfrm>
            <a:off x="502920" y="1261872"/>
            <a:ext cx="5349240" cy="1520952"/>
          </a:xfrm>
          <a:prstGeom prst="roundRect">
            <a:avLst>
              <a:gd name="adj" fmla="val 3607"/>
            </a:avLst>
          </a:prstGeom>
          <a:solidFill>
            <a:srgbClr val="F1F5FB"/>
          </a:solidFill>
          <a:ln w="12700">
            <a:solidFill>
              <a:srgbClr val="DEE7F3"/>
            </a:solidFill>
            <a:prstDash val="solid"/>
          </a:ln>
          <a:effectLst>
            <a:outerShdw sx="100000" sy="100000" kx="0" ky="0" algn="bl" rotWithShape="0" blurRad="127000" dist="25400" dir="5400000">
              <a:srgbClr val="8FA3C4">
                <a:alpha val="28000"/>
              </a:srgbClr>
            </a:outerShdw>
          </a:effectLst>
        </p:spPr>
      </p:sp>
      <p:sp>
        <p:nvSpPr>
          <p:cNvPr id="7" name="Text 5"/>
          <p:cNvSpPr/>
          <p:nvPr/>
        </p:nvSpPr>
        <p:spPr>
          <a:xfrm>
            <a:off x="758952" y="1426464"/>
            <a:ext cx="4837176" cy="237744"/>
          </a:xfrm>
          <a:prstGeom prst="rect">
            <a:avLst/>
          </a:prstGeom>
          <a:noFill/>
          <a:ln/>
        </p:spPr>
        <p:txBody>
          <a:bodyPr wrap="square" lIns="0" tIns="0" rIns="0" bIns="0" rtlCol="0" anchor="ctr"/>
          <a:lstStyle/>
          <a:p>
            <a:pPr indent="0" marL="0">
              <a:buNone/>
            </a:pPr>
            <a:r>
              <a:rPr lang="en-US" sz="1050" b="1" spc="180" kern="0" dirty="0">
                <a:solidFill>
                  <a:srgbClr val="3A5A8C"/>
                </a:solidFill>
                <a:latin typeface="Calibri" pitchFamily="34" charset="0"/>
                <a:ea typeface="Calibri" pitchFamily="34" charset="-122"/>
                <a:cs typeface="Calibri" pitchFamily="34" charset="-120"/>
              </a:rPr>
              <a:t>1  ·  WHAT THE LAB ASKED FOR</a:t>
            </a:r>
            <a:endParaRPr lang="en-US" sz="1050" dirty="0"/>
          </a:p>
        </p:txBody>
      </p:sp>
      <p:sp>
        <p:nvSpPr>
          <p:cNvPr id="8" name="Text 6"/>
          <p:cNvSpPr/>
          <p:nvPr/>
        </p:nvSpPr>
        <p:spPr>
          <a:xfrm>
            <a:off x="758952" y="1728216"/>
            <a:ext cx="4837176" cy="999744"/>
          </a:xfrm>
          <a:prstGeom prst="rect">
            <a:avLst/>
          </a:prstGeom>
          <a:noFill/>
          <a:ln/>
        </p:spPr>
        <p:txBody>
          <a:bodyPr wrap="square" lIns="0" tIns="0" rIns="0" bIns="0" rtlCol="0" anchor="t"/>
          <a:lstStyle/>
          <a:p>
            <a:pPr marL="342900" indent="-342900">
              <a:lnSpc>
                <a:spcPts val="1584"/>
              </a:lnSpc>
              <a:spcAft>
                <a:spcPts val="600"/>
              </a:spcAft>
              <a:buSzPct val="100000"/>
              <a:buChar char="•"/>
            </a:pPr>
            <a:r>
              <a:rPr lang="en-US" sz="1200" dirty="0">
                <a:solidFill>
                  <a:srgbClr val="18213D"/>
                </a:solidFill>
                <a:latin typeface="Calibri" pitchFamily="34" charset="0"/>
                <a:ea typeface="Calibri" pitchFamily="34" charset="-122"/>
                <a:cs typeface="Calibri" pitchFamily="34" charset="-120"/>
              </a:rPr>
              <a:t>Create a Maven module for a scoring system based on the Spring MicroService guide</a:t>
            </a:r>
            <a:endParaRPr lang="en-US" sz="1200" dirty="0"/>
          </a:p>
          <a:p>
            <a:pPr marL="342900" indent="-342900">
              <a:lnSpc>
                <a:spcPts val="1584"/>
              </a:lnSpc>
              <a:spcAft>
                <a:spcPts val="600"/>
              </a:spcAft>
              <a:buSzPct val="100000"/>
              <a:buChar char="•"/>
            </a:pPr>
            <a:r>
              <a:rPr lang="en-US" sz="1200" dirty="0">
                <a:solidFill>
                  <a:srgbClr val="18213D"/>
                </a:solidFill>
                <a:latin typeface="Calibri" pitchFamily="34" charset="0"/>
                <a:ea typeface="Calibri" pitchFamily="34" charset="-122"/>
                <a:cs typeface="Calibri" pitchFamily="34" charset="-120"/>
              </a:rPr>
              <a:t>Integrate the scoring microservice into the game using the Spring RestTemplate</a:t>
            </a:r>
            <a:endParaRPr lang="en-US" sz="1200" dirty="0"/>
          </a:p>
        </p:txBody>
      </p:sp>
      <p:sp>
        <p:nvSpPr>
          <p:cNvPr id="9" name="Shape 7"/>
          <p:cNvSpPr/>
          <p:nvPr/>
        </p:nvSpPr>
        <p:spPr>
          <a:xfrm>
            <a:off x="502920" y="2929128"/>
            <a:ext cx="5349240" cy="2478024"/>
          </a:xfrm>
          <a:prstGeom prst="roundRect">
            <a:avLst>
              <a:gd name="adj" fmla="val 2214"/>
            </a:avLst>
          </a:prstGeom>
          <a:solidFill>
            <a:srgbClr val="FDF3E0"/>
          </a:solidFill>
          <a:ln w="12700">
            <a:solidFill>
              <a:srgbClr val="F2DCB4"/>
            </a:solidFill>
            <a:prstDash val="solid"/>
          </a:ln>
          <a:effectLst>
            <a:outerShdw sx="100000" sy="100000" kx="0" ky="0" algn="bl" rotWithShape="0" blurRad="127000" dist="25400" dir="5400000">
              <a:srgbClr val="8FA3C4">
                <a:alpha val="28000"/>
              </a:srgbClr>
            </a:outerShdw>
          </a:effectLst>
        </p:spPr>
      </p:sp>
      <p:sp>
        <p:nvSpPr>
          <p:cNvPr id="10" name="Text 8"/>
          <p:cNvSpPr/>
          <p:nvPr/>
        </p:nvSpPr>
        <p:spPr>
          <a:xfrm>
            <a:off x="758952" y="3093720"/>
            <a:ext cx="4837176" cy="237744"/>
          </a:xfrm>
          <a:prstGeom prst="rect">
            <a:avLst/>
          </a:prstGeom>
          <a:noFill/>
          <a:ln/>
        </p:spPr>
        <p:txBody>
          <a:bodyPr wrap="square" lIns="0" tIns="0" rIns="0" bIns="0" rtlCol="0" anchor="ctr"/>
          <a:lstStyle/>
          <a:p>
            <a:pPr indent="0" marL="0">
              <a:buNone/>
            </a:pPr>
            <a:r>
              <a:rPr lang="en-US" sz="1050" b="1" spc="180" kern="0" dirty="0">
                <a:solidFill>
                  <a:srgbClr val="B07A18"/>
                </a:solidFill>
                <a:latin typeface="Calibri" pitchFamily="34" charset="0"/>
                <a:ea typeface="Calibri" pitchFamily="34" charset="-122"/>
                <a:cs typeface="Calibri" pitchFamily="34" charset="-120"/>
              </a:rPr>
              <a:t>2  ·  HOW I IMPLEMENTED IT</a:t>
            </a:r>
            <a:endParaRPr lang="en-US" sz="1050" dirty="0"/>
          </a:p>
        </p:txBody>
      </p:sp>
      <p:sp>
        <p:nvSpPr>
          <p:cNvPr id="11" name="Text 9"/>
          <p:cNvSpPr/>
          <p:nvPr/>
        </p:nvSpPr>
        <p:spPr>
          <a:xfrm>
            <a:off x="758952" y="3395472"/>
            <a:ext cx="4837176" cy="1956816"/>
          </a:xfrm>
          <a:prstGeom prst="rect">
            <a:avLst/>
          </a:prstGeom>
          <a:noFill/>
          <a:ln/>
        </p:spPr>
        <p:txBody>
          <a:bodyPr wrap="square" lIns="0" tIns="0" rIns="0" bIns="0" rtlCol="0" anchor="t"/>
          <a:lstStyle/>
          <a:p>
            <a:pPr marL="342900" indent="-342900">
              <a:lnSpc>
                <a:spcPts val="1584"/>
              </a:lnSpc>
              <a:spcAft>
                <a:spcPts val="600"/>
              </a:spcAft>
              <a:buSzPct val="100000"/>
              <a:buChar char="•"/>
            </a:pPr>
            <a:r>
              <a:rPr lang="en-US" sz="1200" dirty="0">
                <a:solidFill>
                  <a:srgbClr val="18213D"/>
                </a:solidFill>
                <a:latin typeface="Calibri" pitchFamily="34" charset="0"/>
                <a:ea typeface="Calibri" pitchFamily="34" charset="-122"/>
                <a:cs typeface="Calibri" pitchFamily="34" charset="-120"/>
              </a:rPr>
              <a:t>Scoring/ is a standalone Spring Boot module with its own pom.xml, packaged as an executable jar on port 8081</a:t>
            </a:r>
            <a:endParaRPr lang="en-US" sz="1200" dirty="0"/>
          </a:p>
          <a:p>
            <a:pPr marL="342900" indent="-342900">
              <a:lnSpc>
                <a:spcPts val="1584"/>
              </a:lnSpc>
              <a:spcAft>
                <a:spcPts val="600"/>
              </a:spcAft>
              <a:buSzPct val="100000"/>
              <a:buChar char="•"/>
            </a:pPr>
            <a:r>
              <a:rPr lang="en-US" sz="1200" dirty="0">
                <a:solidFill>
                  <a:srgbClr val="18213D"/>
                </a:solidFill>
                <a:latin typeface="Calibri" pitchFamily="34" charset="0"/>
                <a:ea typeface="Calibri" pitchFamily="34" charset="-122"/>
                <a:cs typeface="Calibri" pitchFamily="34" charset="-120"/>
              </a:rPr>
              <a:t>ScoreController exposes GET /api/score, POST /api/score and POST /api/score/reset</a:t>
            </a:r>
            <a:endParaRPr lang="en-US" sz="1200" dirty="0"/>
          </a:p>
          <a:p>
            <a:pPr marL="342900" indent="-342900">
              <a:lnSpc>
                <a:spcPts val="1584"/>
              </a:lnSpc>
              <a:spcAft>
                <a:spcPts val="600"/>
              </a:spcAft>
              <a:buSzPct val="100000"/>
              <a:buChar char="•"/>
            </a:pPr>
            <a:r>
              <a:rPr lang="en-US" sz="1200" dirty="0">
                <a:solidFill>
                  <a:srgbClr val="18213D"/>
                </a:solidFill>
                <a:latin typeface="Calibri" pitchFamily="34" charset="0"/>
                <a:ea typeface="Calibri" pitchFamily="34" charset="-122"/>
                <a:cs typeface="Calibri" pitchFamily="34" charset="-120"/>
              </a:rPr>
              <a:t>The score is held in an AtomicInteger so concurrent requests are safe</a:t>
            </a:r>
            <a:endParaRPr lang="en-US" sz="1200" dirty="0"/>
          </a:p>
          <a:p>
            <a:pPr marL="342900" indent="-342900">
              <a:lnSpc>
                <a:spcPts val="1584"/>
              </a:lnSpc>
              <a:spcAft>
                <a:spcPts val="600"/>
              </a:spcAft>
              <a:buSzPct val="100000"/>
              <a:buChar char="•"/>
            </a:pPr>
            <a:r>
              <a:rPr lang="en-US" sz="1200" dirty="0">
                <a:solidFill>
                  <a:srgbClr val="18213D"/>
                </a:solidFill>
                <a:latin typeface="Calibri" pitchFamily="34" charset="0"/>
                <a:ea typeface="Calibri" pitchFamily="34" charset="-122"/>
                <a:cs typeface="Calibri" pitchFamily="34" charset="-120"/>
              </a:rPr>
              <a:t>Core/ScoreClient.java pushes the score with RestTemplate every time it changes</a:t>
            </a:r>
            <a:endParaRPr lang="en-US" sz="1200" dirty="0"/>
          </a:p>
        </p:txBody>
      </p:sp>
      <p:sp>
        <p:nvSpPr>
          <p:cNvPr id="12" name="Shape 10"/>
          <p:cNvSpPr/>
          <p:nvPr/>
        </p:nvSpPr>
        <p:spPr>
          <a:xfrm>
            <a:off x="6172200" y="1261872"/>
            <a:ext cx="5486400" cy="1897380"/>
          </a:xfrm>
          <a:prstGeom prst="roundRect">
            <a:avLst>
              <a:gd name="adj" fmla="val 2892"/>
            </a:avLst>
          </a:prstGeom>
          <a:solidFill>
            <a:srgbClr val="F1F5FB"/>
          </a:solidFill>
          <a:ln w="12700">
            <a:solidFill>
              <a:srgbClr val="DEE7F3"/>
            </a:solidFill>
            <a:prstDash val="solid"/>
          </a:ln>
          <a:effectLst>
            <a:outerShdw sx="100000" sy="100000" kx="0" ky="0" algn="bl" rotWithShape="0" blurRad="127000" dist="25400" dir="5400000">
              <a:srgbClr val="8FA3C4">
                <a:alpha val="28000"/>
              </a:srgbClr>
            </a:outerShdw>
          </a:effectLst>
        </p:spPr>
      </p:sp>
      <p:sp>
        <p:nvSpPr>
          <p:cNvPr id="13" name="Text 11"/>
          <p:cNvSpPr/>
          <p:nvPr/>
        </p:nvSpPr>
        <p:spPr>
          <a:xfrm>
            <a:off x="6428232" y="1426464"/>
            <a:ext cx="4974336" cy="237744"/>
          </a:xfrm>
          <a:prstGeom prst="rect">
            <a:avLst/>
          </a:prstGeom>
          <a:noFill/>
          <a:ln/>
        </p:spPr>
        <p:txBody>
          <a:bodyPr wrap="square" lIns="0" tIns="0" rIns="0" bIns="0" rtlCol="0" anchor="ctr"/>
          <a:lstStyle/>
          <a:p>
            <a:pPr indent="0" marL="0">
              <a:buNone/>
            </a:pPr>
            <a:r>
              <a:rPr lang="en-US" sz="1050" b="1" spc="180" kern="0" dirty="0">
                <a:solidFill>
                  <a:srgbClr val="3A5A8C"/>
                </a:solidFill>
                <a:latin typeface="Calibri" pitchFamily="34" charset="0"/>
                <a:ea typeface="Calibri" pitchFamily="34" charset="-122"/>
                <a:cs typeface="Calibri" pitchFamily="34" charset="-120"/>
              </a:rPr>
              <a:t>3  ·  HOW IT WORKS</a:t>
            </a:r>
            <a:endParaRPr lang="en-US" sz="1050" dirty="0"/>
          </a:p>
        </p:txBody>
      </p:sp>
      <p:sp>
        <p:nvSpPr>
          <p:cNvPr id="14" name="Text 12"/>
          <p:cNvSpPr/>
          <p:nvPr/>
        </p:nvSpPr>
        <p:spPr>
          <a:xfrm>
            <a:off x="6428232" y="1728216"/>
            <a:ext cx="4974336" cy="1348740"/>
          </a:xfrm>
          <a:prstGeom prst="rect">
            <a:avLst/>
          </a:prstGeom>
          <a:noFill/>
          <a:ln/>
        </p:spPr>
        <p:txBody>
          <a:bodyPr wrap="square" lIns="0" tIns="0" rIns="0" bIns="0" rtlCol="0" anchor="t"/>
          <a:lstStyle/>
          <a:p>
            <a:pPr indent="0" marL="0">
              <a:lnSpc>
                <a:spcPts val="1650"/>
              </a:lnSpc>
              <a:buNone/>
            </a:pPr>
            <a:r>
              <a:rPr lang="en-US" sz="1200" dirty="0">
                <a:solidFill>
                  <a:srgbClr val="18213D"/>
                </a:solidFill>
                <a:latin typeface="Calibri" pitchFamily="34" charset="0"/>
                <a:ea typeface="Calibri" pitchFamily="34" charset="-122"/>
                <a:cs typeface="Calibri" pitchFamily="34" charset="-120"/>
              </a:rPr>
              <a:t>The game keeps a local ScoreState and compares it each frame against the last value it pushed. Only a genuine change triggers an HTTP POST, so the service is not hammered at sixty frames a second. If the service is down, Game.pushScoreIfChanged() catches RestClientException, logs once, and backs off 180 frames — about three seconds — before retrying.</a:t>
            </a:r>
            <a:endParaRPr lang="en-US" sz="1200" dirty="0"/>
          </a:p>
        </p:txBody>
      </p:sp>
      <p:sp>
        <p:nvSpPr>
          <p:cNvPr id="15" name="Text 13"/>
          <p:cNvSpPr/>
          <p:nvPr/>
        </p:nvSpPr>
        <p:spPr>
          <a:xfrm>
            <a:off x="6172200" y="3305556"/>
            <a:ext cx="5486400" cy="237744"/>
          </a:xfrm>
          <a:prstGeom prst="rect">
            <a:avLst/>
          </a:prstGeom>
          <a:noFill/>
          <a:ln/>
        </p:spPr>
        <p:txBody>
          <a:bodyPr wrap="square" lIns="0" tIns="0" rIns="0" bIns="0" rtlCol="0" anchor="ctr"/>
          <a:lstStyle/>
          <a:p>
            <a:pPr indent="0" marL="0">
              <a:buNone/>
            </a:pPr>
            <a:r>
              <a:rPr lang="en-US" sz="1050" b="1" spc="160" kern="0" dirty="0">
                <a:solidFill>
                  <a:srgbClr val="5F7192"/>
                </a:solidFill>
                <a:latin typeface="Calibri" pitchFamily="34" charset="0"/>
                <a:ea typeface="Calibri" pitchFamily="34" charset="-122"/>
                <a:cs typeface="Calibri" pitchFamily="34" charset="-120"/>
              </a:rPr>
              <a:t>Scoring/ScoreController.java  ·  Core/ScoreClient.java</a:t>
            </a:r>
            <a:endParaRPr lang="en-US" sz="1050" dirty="0"/>
          </a:p>
        </p:txBody>
      </p:sp>
      <p:sp>
        <p:nvSpPr>
          <p:cNvPr id="16" name="Shape 14"/>
          <p:cNvSpPr/>
          <p:nvPr/>
        </p:nvSpPr>
        <p:spPr>
          <a:xfrm>
            <a:off x="6172200" y="3579876"/>
            <a:ext cx="5486400" cy="2564892"/>
          </a:xfrm>
          <a:prstGeom prst="roundRect">
            <a:avLst>
              <a:gd name="adj" fmla="val 1783"/>
            </a:avLst>
          </a:prstGeom>
          <a:solidFill>
            <a:srgbClr val="0F1729"/>
          </a:solidFill>
          <a:ln w="12700">
            <a:solidFill>
              <a:srgbClr val="2A3552"/>
            </a:solidFill>
            <a:prstDash val="solid"/>
          </a:ln>
        </p:spPr>
      </p:sp>
      <p:sp>
        <p:nvSpPr>
          <p:cNvPr id="17" name="Text 15"/>
          <p:cNvSpPr/>
          <p:nvPr/>
        </p:nvSpPr>
        <p:spPr>
          <a:xfrm>
            <a:off x="6327648" y="3698748"/>
            <a:ext cx="5175504" cy="2327148"/>
          </a:xfrm>
          <a:prstGeom prst="rect">
            <a:avLst/>
          </a:prstGeom>
          <a:noFill/>
          <a:ln/>
        </p:spPr>
        <p:txBody>
          <a:bodyPr wrap="square" lIns="0" tIns="0" rIns="0" bIns="0" rtlCol="0" anchor="t"/>
          <a:lstStyle/>
          <a:p>
            <a:pPr indent="0" marL="0">
              <a:lnSpc>
                <a:spcPts val="1212"/>
              </a:lnSpc>
              <a:buNone/>
            </a:pPr>
            <a:r>
              <a:rPr lang="en-US" sz="854" dirty="0">
                <a:solidFill>
                  <a:srgbClr val="F5A623"/>
                </a:solidFill>
                <a:latin typeface="Courier New" pitchFamily="34" charset="0"/>
                <a:ea typeface="Courier New" pitchFamily="34" charset="-122"/>
                <a:cs typeface="Courier New" pitchFamily="34" charset="-120"/>
              </a:rPr>
              <a:t>@RestController</a:t>
            </a:r>
            <a:endParaRPr lang="en-US" sz="854" dirty="0"/>
          </a:p>
          <a:p>
            <a:pPr indent="0" marL="0">
              <a:lnSpc>
                <a:spcPts val="1212"/>
              </a:lnSpc>
              <a:buNone/>
            </a:pPr>
            <a:r>
              <a:rPr lang="en-US" sz="854" dirty="0">
                <a:solidFill>
                  <a:srgbClr val="F5A623"/>
                </a:solidFill>
                <a:latin typeface="Courier New" pitchFamily="34" charset="0"/>
                <a:ea typeface="Courier New" pitchFamily="34" charset="-122"/>
                <a:cs typeface="Courier New" pitchFamily="34" charset="-120"/>
              </a:rPr>
              <a:t>@RequestMapping("/api/score")</a:t>
            </a:r>
            <a:endParaRPr lang="en-US" sz="854" dirty="0"/>
          </a:p>
          <a:p>
            <a:pPr indent="0" marL="0">
              <a:lnSpc>
                <a:spcPts val="1212"/>
              </a:lnSpc>
              <a:buNone/>
            </a:pPr>
            <a:r>
              <a:rPr lang="en-US" sz="854" dirty="0">
                <a:solidFill>
                  <a:srgbClr val="D9E3F2"/>
                </a:solidFill>
                <a:latin typeface="Courier New" pitchFamily="34" charset="0"/>
                <a:ea typeface="Courier New" pitchFamily="34" charset="-122"/>
                <a:cs typeface="Courier New" pitchFamily="34" charset="-120"/>
              </a:rPr>
              <a:t>public class ScoreController {</a:t>
            </a:r>
            <a:endParaRPr lang="en-US" sz="854" dirty="0"/>
          </a:p>
          <a:p>
            <a:pPr indent="0" marL="0">
              <a:lnSpc>
                <a:spcPts val="1212"/>
              </a:lnSpc>
              <a:buNone/>
            </a:pPr>
            <a:r>
              <a:rPr lang="en-US" sz="854" dirty="0">
                <a:solidFill>
                  <a:srgbClr val="D9E3F2"/>
                </a:solidFill>
                <a:latin typeface="Courier New" pitchFamily="34" charset="0"/>
                <a:ea typeface="Courier New" pitchFamily="34" charset="-122"/>
                <a:cs typeface="Courier New" pitchFamily="34" charset="-120"/>
              </a:rPr>
              <a:t>    private final AtomicInteger score =</a:t>
            </a:r>
            <a:endParaRPr lang="en-US" sz="854" dirty="0"/>
          </a:p>
          <a:p>
            <a:pPr indent="0" marL="0">
              <a:lnSpc>
                <a:spcPts val="1212"/>
              </a:lnSpc>
              <a:buNone/>
            </a:pPr>
            <a:r>
              <a:rPr lang="en-US" sz="854" dirty="0">
                <a:solidFill>
                  <a:srgbClr val="D9E3F2"/>
                </a:solidFill>
                <a:latin typeface="Courier New" pitchFamily="34" charset="0"/>
                <a:ea typeface="Courier New" pitchFamily="34" charset="-122"/>
                <a:cs typeface="Courier New" pitchFamily="34" charset="-120"/>
              </a:rPr>
              <a:t>        new AtomicInteger(0);</a:t>
            </a:r>
            <a:endParaRPr lang="en-US" sz="854" dirty="0"/>
          </a:p>
          <a:p>
            <a:pPr indent="0" marL="0">
              <a:lnSpc>
                <a:spcPts val="1212"/>
              </a:lnSpc>
              <a:buNone/>
            </a:pPr>
            <a:r>
              <a:rPr lang="en-US" sz="854" dirty="0">
                <a:solidFill>
                  <a:srgbClr val="D9E3F2"/>
                </a:solidFill>
                <a:latin typeface="Courier New" pitchFamily="34" charset="0"/>
                <a:ea typeface="Courier New" pitchFamily="34" charset="-122"/>
                <a:cs typeface="Courier New" pitchFamily="34" charset="-120"/>
              </a:rPr>
              <a:t> </a:t>
            </a:r>
            <a:endParaRPr lang="en-US" sz="854" dirty="0"/>
          </a:p>
          <a:p>
            <a:pPr indent="0" marL="0">
              <a:lnSpc>
                <a:spcPts val="1212"/>
              </a:lnSpc>
              <a:buNone/>
            </a:pPr>
            <a:r>
              <a:rPr lang="en-US" sz="854" dirty="0">
                <a:solidFill>
                  <a:srgbClr val="F5A623"/>
                </a:solidFill>
                <a:latin typeface="Courier New" pitchFamily="34" charset="0"/>
                <a:ea typeface="Courier New" pitchFamily="34" charset="-122"/>
                <a:cs typeface="Courier New" pitchFamily="34" charset="-120"/>
              </a:rPr>
              <a:t>    @GetMapping</a:t>
            </a:r>
            <a:endParaRPr lang="en-US" sz="854" dirty="0"/>
          </a:p>
          <a:p>
            <a:pPr indent="0" marL="0">
              <a:lnSpc>
                <a:spcPts val="1212"/>
              </a:lnSpc>
              <a:buNone/>
            </a:pPr>
            <a:r>
              <a:rPr lang="en-US" sz="854" dirty="0">
                <a:solidFill>
                  <a:srgbClr val="D9E3F2"/>
                </a:solidFill>
                <a:latin typeface="Courier New" pitchFamily="34" charset="0"/>
                <a:ea typeface="Courier New" pitchFamily="34" charset="-122"/>
                <a:cs typeface="Courier New" pitchFamily="34" charset="-120"/>
              </a:rPr>
              <a:t>    public ScoreResponse getScore() {</a:t>
            </a:r>
            <a:endParaRPr lang="en-US" sz="854" dirty="0"/>
          </a:p>
          <a:p>
            <a:pPr indent="0" marL="0">
              <a:lnSpc>
                <a:spcPts val="1212"/>
              </a:lnSpc>
              <a:buNone/>
            </a:pPr>
            <a:r>
              <a:rPr lang="en-US" sz="854" dirty="0">
                <a:solidFill>
                  <a:srgbClr val="D9E3F2"/>
                </a:solidFill>
                <a:latin typeface="Courier New" pitchFamily="34" charset="0"/>
                <a:ea typeface="Courier New" pitchFamily="34" charset="-122"/>
                <a:cs typeface="Courier New" pitchFamily="34" charset="-120"/>
              </a:rPr>
              <a:t>        return new ScoreResponse(score.get());</a:t>
            </a:r>
            <a:endParaRPr lang="en-US" sz="854" dirty="0"/>
          </a:p>
          <a:p>
            <a:pPr indent="0" marL="0">
              <a:lnSpc>
                <a:spcPts val="1212"/>
              </a:lnSpc>
              <a:buNone/>
            </a:pPr>
            <a:r>
              <a:rPr lang="en-US" sz="854" dirty="0">
                <a:solidFill>
                  <a:srgbClr val="D9E3F2"/>
                </a:solidFill>
                <a:latin typeface="Courier New" pitchFamily="34" charset="0"/>
                <a:ea typeface="Courier New" pitchFamily="34" charset="-122"/>
                <a:cs typeface="Courier New" pitchFamily="34" charset="-120"/>
              </a:rPr>
              <a:t>    }</a:t>
            </a:r>
            <a:endParaRPr lang="en-US" sz="854" dirty="0"/>
          </a:p>
          <a:p>
            <a:pPr indent="0" marL="0">
              <a:lnSpc>
                <a:spcPts val="1212"/>
              </a:lnSpc>
              <a:buNone/>
            </a:pPr>
            <a:r>
              <a:rPr lang="en-US" sz="854" dirty="0">
                <a:solidFill>
                  <a:srgbClr val="D9E3F2"/>
                </a:solidFill>
                <a:latin typeface="Courier New" pitchFamily="34" charset="0"/>
                <a:ea typeface="Courier New" pitchFamily="34" charset="-122"/>
                <a:cs typeface="Courier New" pitchFamily="34" charset="-120"/>
              </a:rPr>
              <a:t>}</a:t>
            </a:r>
            <a:endParaRPr lang="en-US" sz="854" dirty="0"/>
          </a:p>
          <a:p>
            <a:pPr indent="0" marL="0">
              <a:lnSpc>
                <a:spcPts val="1212"/>
              </a:lnSpc>
              <a:buNone/>
            </a:pPr>
            <a:r>
              <a:rPr lang="en-US" sz="854" dirty="0">
                <a:solidFill>
                  <a:srgbClr val="D9E3F2"/>
                </a:solidFill>
                <a:latin typeface="Courier New" pitchFamily="34" charset="0"/>
                <a:ea typeface="Courier New" pitchFamily="34" charset="-122"/>
                <a:cs typeface="Courier New" pitchFamily="34" charset="-120"/>
              </a:rPr>
              <a:t> </a:t>
            </a:r>
            <a:endParaRPr lang="en-US" sz="854" dirty="0"/>
          </a:p>
          <a:p>
            <a:pPr indent="0" marL="0">
              <a:lnSpc>
                <a:spcPts val="1212"/>
              </a:lnSpc>
              <a:buNone/>
            </a:pPr>
            <a:r>
              <a:rPr lang="en-US" sz="854" dirty="0">
                <a:solidFill>
                  <a:srgbClr val="76899F"/>
                </a:solidFill>
                <a:latin typeface="Courier New" pitchFamily="34" charset="0"/>
                <a:ea typeface="Courier New" pitchFamily="34" charset="-122"/>
                <a:cs typeface="Courier New" pitchFamily="34" charset="-120"/>
              </a:rPr>
              <a:t>// Core side — pushed only when the value changed</a:t>
            </a:r>
            <a:endParaRPr lang="en-US" sz="854" dirty="0"/>
          </a:p>
          <a:p>
            <a:pPr indent="0" marL="0">
              <a:lnSpc>
                <a:spcPts val="1212"/>
              </a:lnSpc>
              <a:buNone/>
            </a:pPr>
            <a:r>
              <a:rPr lang="en-US" sz="854" dirty="0">
                <a:solidFill>
                  <a:srgbClr val="D9E3F2"/>
                </a:solidFill>
                <a:latin typeface="Courier New" pitchFamily="34" charset="0"/>
                <a:ea typeface="Courier New" pitchFamily="34" charset="-122"/>
                <a:cs typeface="Courier New" pitchFamily="34" charset="-120"/>
              </a:rPr>
              <a:t>restTemplate.postForObject(url,</a:t>
            </a:r>
            <a:endParaRPr lang="en-US" sz="854" dirty="0"/>
          </a:p>
          <a:p>
            <a:pPr indent="0" marL="0">
              <a:lnSpc>
                <a:spcPts val="1212"/>
              </a:lnSpc>
              <a:buNone/>
            </a:pPr>
            <a:r>
              <a:rPr lang="en-US" sz="854" dirty="0">
                <a:solidFill>
                  <a:srgbClr val="D9E3F2"/>
                </a:solidFill>
                <a:latin typeface="Courier New" pitchFamily="34" charset="0"/>
                <a:ea typeface="Courier New" pitchFamily="34" charset="-122"/>
                <a:cs typeface="Courier New" pitchFamily="34" charset="-120"/>
              </a:rPr>
              <a:t>    new ScoreUpdateRequest(current), ScoreResponse.class);</a:t>
            </a:r>
            <a:endParaRPr lang="en-US" sz="854"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10896"/>
            <a:ext cx="548640" cy="548640"/>
          </a:xfrm>
          <a:prstGeom prst="ellipse">
            <a:avLst/>
          </a:prstGeom>
          <a:solidFill>
            <a:srgbClr val="18213D"/>
          </a:solidFill>
          <a:ln/>
        </p:spPr>
      </p:sp>
      <p:sp>
        <p:nvSpPr>
          <p:cNvPr id="3" name="Text 1"/>
          <p:cNvSpPr/>
          <p:nvPr/>
        </p:nvSpPr>
        <p:spPr>
          <a:xfrm>
            <a:off x="502920" y="310896"/>
            <a:ext cx="548640" cy="548640"/>
          </a:xfrm>
          <a:prstGeom prst="rect">
            <a:avLst/>
          </a:prstGeom>
          <a:noFill/>
          <a:ln/>
        </p:spPr>
        <p:txBody>
          <a:bodyPr wrap="square" lIns="0" tIns="0" rIns="0" bIns="0" rtlCol="0" anchor="ctr"/>
          <a:lstStyle/>
          <a:p>
            <a:pPr algn="ctr" indent="0" marL="0">
              <a:buNone/>
            </a:pPr>
            <a:r>
              <a:rPr lang="en-US" sz="2100" b="1" dirty="0">
                <a:solidFill>
                  <a:srgbClr val="F5A623"/>
                </a:solidFill>
                <a:latin typeface="Cambria" pitchFamily="34" charset="0"/>
                <a:ea typeface="Cambria" pitchFamily="34" charset="-122"/>
                <a:cs typeface="Cambria" pitchFamily="34" charset="-120"/>
              </a:rPr>
              <a:t>9</a:t>
            </a:r>
            <a:endParaRPr lang="en-US" sz="2100" dirty="0"/>
          </a:p>
        </p:txBody>
      </p:sp>
      <p:sp>
        <p:nvSpPr>
          <p:cNvPr id="4" name="Text 2"/>
          <p:cNvSpPr/>
          <p:nvPr/>
        </p:nvSpPr>
        <p:spPr>
          <a:xfrm>
            <a:off x="1234440" y="329184"/>
            <a:ext cx="5943600" cy="237744"/>
          </a:xfrm>
          <a:prstGeom prst="rect">
            <a:avLst/>
          </a:prstGeom>
          <a:noFill/>
          <a:ln/>
        </p:spPr>
        <p:txBody>
          <a:bodyPr wrap="square" lIns="0" tIns="0" rIns="0" bIns="0" rtlCol="0" anchor="ctr"/>
          <a:lstStyle/>
          <a:p>
            <a:pPr indent="0" marL="0">
              <a:buNone/>
            </a:pPr>
            <a:r>
              <a:rPr lang="en-US" sz="1150" b="1" spc="220" kern="0" dirty="0">
                <a:solidFill>
                  <a:srgbClr val="5F7192"/>
                </a:solidFill>
                <a:latin typeface="Calibri" pitchFamily="34" charset="0"/>
                <a:ea typeface="Calibri" pitchFamily="34" charset="-122"/>
                <a:cs typeface="Calibri" pitchFamily="34" charset="-120"/>
              </a:rPr>
              <a:t>TESTLAB</a:t>
            </a:r>
            <a:endParaRPr lang="en-US" sz="1150" dirty="0"/>
          </a:p>
        </p:txBody>
      </p:sp>
      <p:sp>
        <p:nvSpPr>
          <p:cNvPr id="5" name="Text 3"/>
          <p:cNvSpPr/>
          <p:nvPr/>
        </p:nvSpPr>
        <p:spPr>
          <a:xfrm>
            <a:off x="1234440" y="548640"/>
            <a:ext cx="10424160" cy="457200"/>
          </a:xfrm>
          <a:prstGeom prst="rect">
            <a:avLst/>
          </a:prstGeom>
          <a:noFill/>
          <a:ln/>
        </p:spPr>
        <p:txBody>
          <a:bodyPr wrap="square" lIns="0" tIns="0" rIns="0" bIns="0" rtlCol="0" anchor="ctr"/>
          <a:lstStyle/>
          <a:p>
            <a:pPr indent="0" marL="0">
              <a:buNone/>
            </a:pPr>
            <a:r>
              <a:rPr lang="en-US" sz="2900" b="1" dirty="0">
                <a:solidFill>
                  <a:srgbClr val="18213D"/>
                </a:solidFill>
                <a:latin typeface="Cambria" pitchFamily="34" charset="0"/>
                <a:ea typeface="Cambria" pitchFamily="34" charset="-122"/>
                <a:cs typeface="Cambria" pitchFamily="34" charset="-120"/>
              </a:rPr>
              <a:t>Unit testing the components</a:t>
            </a:r>
            <a:endParaRPr lang="en-US" sz="2900" dirty="0"/>
          </a:p>
        </p:txBody>
      </p:sp>
      <p:sp>
        <p:nvSpPr>
          <p:cNvPr id="6" name="Shape 4"/>
          <p:cNvSpPr/>
          <p:nvPr/>
        </p:nvSpPr>
        <p:spPr>
          <a:xfrm>
            <a:off x="502920" y="1261872"/>
            <a:ext cx="5349240" cy="1520952"/>
          </a:xfrm>
          <a:prstGeom prst="roundRect">
            <a:avLst>
              <a:gd name="adj" fmla="val 3607"/>
            </a:avLst>
          </a:prstGeom>
          <a:solidFill>
            <a:srgbClr val="F1F5FB"/>
          </a:solidFill>
          <a:ln w="12700">
            <a:solidFill>
              <a:srgbClr val="DEE7F3"/>
            </a:solidFill>
            <a:prstDash val="solid"/>
          </a:ln>
          <a:effectLst>
            <a:outerShdw sx="100000" sy="100000" kx="0" ky="0" algn="bl" rotWithShape="0" blurRad="127000" dist="25400" dir="5400000">
              <a:srgbClr val="8FA3C4">
                <a:alpha val="28000"/>
              </a:srgbClr>
            </a:outerShdw>
          </a:effectLst>
        </p:spPr>
      </p:sp>
      <p:sp>
        <p:nvSpPr>
          <p:cNvPr id="7" name="Text 5"/>
          <p:cNvSpPr/>
          <p:nvPr/>
        </p:nvSpPr>
        <p:spPr>
          <a:xfrm>
            <a:off x="758952" y="1426464"/>
            <a:ext cx="4837176" cy="237744"/>
          </a:xfrm>
          <a:prstGeom prst="rect">
            <a:avLst/>
          </a:prstGeom>
          <a:noFill/>
          <a:ln/>
        </p:spPr>
        <p:txBody>
          <a:bodyPr wrap="square" lIns="0" tIns="0" rIns="0" bIns="0" rtlCol="0" anchor="ctr"/>
          <a:lstStyle/>
          <a:p>
            <a:pPr indent="0" marL="0">
              <a:buNone/>
            </a:pPr>
            <a:r>
              <a:rPr lang="en-US" sz="1050" b="1" spc="180" kern="0" dirty="0">
                <a:solidFill>
                  <a:srgbClr val="3A5A8C"/>
                </a:solidFill>
                <a:latin typeface="Calibri" pitchFamily="34" charset="0"/>
                <a:ea typeface="Calibri" pitchFamily="34" charset="-122"/>
                <a:cs typeface="Calibri" pitchFamily="34" charset="-120"/>
              </a:rPr>
              <a:t>1  ·  WHAT THE LAB ASKED FOR</a:t>
            </a:r>
            <a:endParaRPr lang="en-US" sz="1050" dirty="0"/>
          </a:p>
        </p:txBody>
      </p:sp>
      <p:sp>
        <p:nvSpPr>
          <p:cNvPr id="8" name="Text 6"/>
          <p:cNvSpPr/>
          <p:nvPr/>
        </p:nvSpPr>
        <p:spPr>
          <a:xfrm>
            <a:off x="758952" y="1728216"/>
            <a:ext cx="4837176" cy="999744"/>
          </a:xfrm>
          <a:prstGeom prst="rect">
            <a:avLst/>
          </a:prstGeom>
          <a:noFill/>
          <a:ln/>
        </p:spPr>
        <p:txBody>
          <a:bodyPr wrap="square" lIns="0" tIns="0" rIns="0" bIns="0" rtlCol="0" anchor="t"/>
          <a:lstStyle/>
          <a:p>
            <a:pPr marL="342900" indent="-342900">
              <a:lnSpc>
                <a:spcPts val="1584"/>
              </a:lnSpc>
              <a:spcAft>
                <a:spcPts val="600"/>
              </a:spcAft>
              <a:buSzPct val="100000"/>
              <a:buChar char="•"/>
            </a:pPr>
            <a:r>
              <a:rPr lang="en-US" sz="1200" dirty="0">
                <a:solidFill>
                  <a:srgbClr val="18213D"/>
                </a:solidFill>
                <a:latin typeface="Calibri" pitchFamily="34" charset="0"/>
                <a:ea typeface="Calibri" pitchFamily="34" charset="-122"/>
                <a:cs typeface="Calibri" pitchFamily="34" charset="-120"/>
              </a:rPr>
              <a:t>Read the JUnit getting-started material; use Mockito where dependencies need stubbing</a:t>
            </a:r>
            <a:endParaRPr lang="en-US" sz="1200" dirty="0"/>
          </a:p>
          <a:p>
            <a:pPr marL="342900" indent="-342900">
              <a:lnSpc>
                <a:spcPts val="1584"/>
              </a:lnSpc>
              <a:spcAft>
                <a:spcPts val="600"/>
              </a:spcAft>
              <a:buSzPct val="100000"/>
              <a:buChar char="•"/>
            </a:pPr>
            <a:r>
              <a:rPr lang="en-US" sz="1200" dirty="0">
                <a:solidFill>
                  <a:srgbClr val="18213D"/>
                </a:solidFill>
                <a:latin typeface="Calibri" pitchFamily="34" charset="0"/>
                <a:ea typeface="Calibri" pitchFamily="34" charset="-122"/>
                <a:cs typeface="Calibri" pitchFamily="34" charset="-120"/>
              </a:rPr>
              <a:t>Write a unit test for one of the components — for example moving the player ship, or collision detection</a:t>
            </a:r>
            <a:endParaRPr lang="en-US" sz="1200" dirty="0"/>
          </a:p>
        </p:txBody>
      </p:sp>
      <p:sp>
        <p:nvSpPr>
          <p:cNvPr id="9" name="Shape 7"/>
          <p:cNvSpPr/>
          <p:nvPr/>
        </p:nvSpPr>
        <p:spPr>
          <a:xfrm>
            <a:off x="502920" y="2929128"/>
            <a:ext cx="5349240" cy="2075688"/>
          </a:xfrm>
          <a:prstGeom prst="roundRect">
            <a:avLst>
              <a:gd name="adj" fmla="val 2643"/>
            </a:avLst>
          </a:prstGeom>
          <a:solidFill>
            <a:srgbClr val="FDF3E0"/>
          </a:solidFill>
          <a:ln w="12700">
            <a:solidFill>
              <a:srgbClr val="F2DCB4"/>
            </a:solidFill>
            <a:prstDash val="solid"/>
          </a:ln>
          <a:effectLst>
            <a:outerShdw sx="100000" sy="100000" kx="0" ky="0" algn="bl" rotWithShape="0" blurRad="127000" dist="25400" dir="5400000">
              <a:srgbClr val="8FA3C4">
                <a:alpha val="28000"/>
              </a:srgbClr>
            </a:outerShdw>
          </a:effectLst>
        </p:spPr>
      </p:sp>
      <p:sp>
        <p:nvSpPr>
          <p:cNvPr id="10" name="Text 8"/>
          <p:cNvSpPr/>
          <p:nvPr/>
        </p:nvSpPr>
        <p:spPr>
          <a:xfrm>
            <a:off x="758952" y="3093720"/>
            <a:ext cx="4837176" cy="237744"/>
          </a:xfrm>
          <a:prstGeom prst="rect">
            <a:avLst/>
          </a:prstGeom>
          <a:noFill/>
          <a:ln/>
        </p:spPr>
        <p:txBody>
          <a:bodyPr wrap="square" lIns="0" tIns="0" rIns="0" bIns="0" rtlCol="0" anchor="ctr"/>
          <a:lstStyle/>
          <a:p>
            <a:pPr indent="0" marL="0">
              <a:buNone/>
            </a:pPr>
            <a:r>
              <a:rPr lang="en-US" sz="1050" b="1" spc="180" kern="0" dirty="0">
                <a:solidFill>
                  <a:srgbClr val="B07A18"/>
                </a:solidFill>
                <a:latin typeface="Calibri" pitchFamily="34" charset="0"/>
                <a:ea typeface="Calibri" pitchFamily="34" charset="-122"/>
                <a:cs typeface="Calibri" pitchFamily="34" charset="-120"/>
              </a:rPr>
              <a:t>2  ·  HOW I IMPLEMENTED IT</a:t>
            </a:r>
            <a:endParaRPr lang="en-US" sz="1050" dirty="0"/>
          </a:p>
        </p:txBody>
      </p:sp>
      <p:sp>
        <p:nvSpPr>
          <p:cNvPr id="11" name="Text 9"/>
          <p:cNvSpPr/>
          <p:nvPr/>
        </p:nvSpPr>
        <p:spPr>
          <a:xfrm>
            <a:off x="758952" y="3395472"/>
            <a:ext cx="4837176" cy="1554480"/>
          </a:xfrm>
          <a:prstGeom prst="rect">
            <a:avLst/>
          </a:prstGeom>
          <a:noFill/>
          <a:ln/>
        </p:spPr>
        <p:txBody>
          <a:bodyPr wrap="square" lIns="0" tIns="0" rIns="0" bIns="0" rtlCol="0" anchor="t"/>
          <a:lstStyle/>
          <a:p>
            <a:pPr marL="342900" indent="-342900">
              <a:lnSpc>
                <a:spcPts val="1584"/>
              </a:lnSpc>
              <a:spcAft>
                <a:spcPts val="600"/>
              </a:spcAft>
              <a:buSzPct val="100000"/>
              <a:buChar char="•"/>
            </a:pPr>
            <a:r>
              <a:rPr lang="en-US" sz="1200" dirty="0">
                <a:solidFill>
                  <a:srgbClr val="18213D"/>
                </a:solidFill>
                <a:latin typeface="Calibri" pitchFamily="34" charset="0"/>
                <a:ea typeface="Calibri" pitchFamily="34" charset="-122"/>
                <a:cs typeface="Calibri" pitchFamily="34" charset="-120"/>
              </a:rPr>
              <a:t>CollisionDetectorTest — Pythagoras maths, the 3-4-5 triangle case, and multi-hit destruction</a:t>
            </a:r>
            <a:endParaRPr lang="en-US" sz="1200" dirty="0"/>
          </a:p>
          <a:p>
            <a:pPr marL="342900" indent="-342900">
              <a:lnSpc>
                <a:spcPts val="1584"/>
              </a:lnSpc>
              <a:spcAft>
                <a:spcPts val="600"/>
              </a:spcAft>
              <a:buSzPct val="100000"/>
              <a:buChar char="•"/>
            </a:pPr>
            <a:r>
              <a:rPr lang="en-US" sz="1200" dirty="0">
                <a:solidFill>
                  <a:srgbClr val="18213D"/>
                </a:solidFill>
                <a:latin typeface="Calibri" pitchFamily="34" charset="0"/>
                <a:ea typeface="Calibri" pitchFamily="34" charset="-122"/>
                <a:cs typeface="Calibri" pitchFamily="34" charset="-120"/>
              </a:rPr>
              <a:t>PlayerControlSystemTest — input handling and movement, with Mockito</a:t>
            </a:r>
            <a:endParaRPr lang="en-US" sz="1200" dirty="0"/>
          </a:p>
          <a:p>
            <a:pPr marL="342900" indent="-342900">
              <a:lnSpc>
                <a:spcPts val="1584"/>
              </a:lnSpc>
              <a:spcAft>
                <a:spcPts val="600"/>
              </a:spcAft>
              <a:buSzPct val="100000"/>
              <a:buChar char="•"/>
            </a:pPr>
            <a:r>
              <a:rPr lang="en-US" sz="1200" dirty="0">
                <a:solidFill>
                  <a:srgbClr val="18213D"/>
                </a:solidFill>
                <a:latin typeface="Calibri" pitchFamily="34" charset="0"/>
                <a:ea typeface="Calibri" pitchFamily="34" charset="-122"/>
                <a:cs typeface="Calibri" pitchFamily="34" charset="-120"/>
              </a:rPr>
              <a:t>PlayerStateTest, EntityTest and AsteroidSizeTest cover state and enum behaviour</a:t>
            </a:r>
            <a:endParaRPr lang="en-US" sz="1200" dirty="0"/>
          </a:p>
          <a:p>
            <a:pPr marL="342900" indent="-342900">
              <a:lnSpc>
                <a:spcPts val="1584"/>
              </a:lnSpc>
              <a:spcAft>
                <a:spcPts val="600"/>
              </a:spcAft>
              <a:buSzPct val="100000"/>
              <a:buChar char="•"/>
            </a:pPr>
            <a:r>
              <a:rPr lang="en-US" sz="1200" dirty="0">
                <a:solidFill>
                  <a:srgbClr val="18213D"/>
                </a:solidFill>
                <a:latin typeface="Calibri" pitchFamily="34" charset="0"/>
                <a:ea typeface="Calibri" pitchFamily="34" charset="-122"/>
                <a:cs typeface="Calibri" pitchFamily="34" charset="-120"/>
              </a:rPr>
              <a:t>Five test classes and 21 tests in total, run by mvn test across four modules — all passing</a:t>
            </a:r>
            <a:endParaRPr lang="en-US" sz="1200" dirty="0"/>
          </a:p>
        </p:txBody>
      </p:sp>
      <p:sp>
        <p:nvSpPr>
          <p:cNvPr id="12" name="Shape 10"/>
          <p:cNvSpPr/>
          <p:nvPr/>
        </p:nvSpPr>
        <p:spPr>
          <a:xfrm>
            <a:off x="6172200" y="1261872"/>
            <a:ext cx="5486400" cy="1687830"/>
          </a:xfrm>
          <a:prstGeom prst="roundRect">
            <a:avLst>
              <a:gd name="adj" fmla="val 3251"/>
            </a:avLst>
          </a:prstGeom>
          <a:solidFill>
            <a:srgbClr val="F1F5FB"/>
          </a:solidFill>
          <a:ln w="12700">
            <a:solidFill>
              <a:srgbClr val="DEE7F3"/>
            </a:solidFill>
            <a:prstDash val="solid"/>
          </a:ln>
          <a:effectLst>
            <a:outerShdw sx="100000" sy="100000" kx="0" ky="0" algn="bl" rotWithShape="0" blurRad="127000" dist="25400" dir="5400000">
              <a:srgbClr val="8FA3C4">
                <a:alpha val="28000"/>
              </a:srgbClr>
            </a:outerShdw>
          </a:effectLst>
        </p:spPr>
      </p:sp>
      <p:sp>
        <p:nvSpPr>
          <p:cNvPr id="13" name="Text 11"/>
          <p:cNvSpPr/>
          <p:nvPr/>
        </p:nvSpPr>
        <p:spPr>
          <a:xfrm>
            <a:off x="6428232" y="1426464"/>
            <a:ext cx="4974336" cy="237744"/>
          </a:xfrm>
          <a:prstGeom prst="rect">
            <a:avLst/>
          </a:prstGeom>
          <a:noFill/>
          <a:ln/>
        </p:spPr>
        <p:txBody>
          <a:bodyPr wrap="square" lIns="0" tIns="0" rIns="0" bIns="0" rtlCol="0" anchor="ctr"/>
          <a:lstStyle/>
          <a:p>
            <a:pPr indent="0" marL="0">
              <a:buNone/>
            </a:pPr>
            <a:r>
              <a:rPr lang="en-US" sz="1050" b="1" spc="180" kern="0" dirty="0">
                <a:solidFill>
                  <a:srgbClr val="3A5A8C"/>
                </a:solidFill>
                <a:latin typeface="Calibri" pitchFamily="34" charset="0"/>
                <a:ea typeface="Calibri" pitchFamily="34" charset="-122"/>
                <a:cs typeface="Calibri" pitchFamily="34" charset="-120"/>
              </a:rPr>
              <a:t>3  ·  HOW IT WORKS</a:t>
            </a:r>
            <a:endParaRPr lang="en-US" sz="1050" dirty="0"/>
          </a:p>
        </p:txBody>
      </p:sp>
      <p:sp>
        <p:nvSpPr>
          <p:cNvPr id="14" name="Text 12"/>
          <p:cNvSpPr/>
          <p:nvPr/>
        </p:nvSpPr>
        <p:spPr>
          <a:xfrm>
            <a:off x="6428232" y="1728216"/>
            <a:ext cx="4974336" cy="1139190"/>
          </a:xfrm>
          <a:prstGeom prst="rect">
            <a:avLst/>
          </a:prstGeom>
          <a:noFill/>
          <a:ln/>
        </p:spPr>
        <p:txBody>
          <a:bodyPr wrap="square" lIns="0" tIns="0" rIns="0" bIns="0" rtlCol="0" anchor="t"/>
          <a:lstStyle/>
          <a:p>
            <a:pPr indent="0" marL="0">
              <a:lnSpc>
                <a:spcPts val="1650"/>
              </a:lnSpc>
              <a:buNone/>
            </a:pPr>
            <a:r>
              <a:rPr lang="en-US" sz="1200" dirty="0">
                <a:solidFill>
                  <a:srgbClr val="18213D"/>
                </a:solidFill>
                <a:latin typeface="Calibri" pitchFamily="34" charset="0"/>
                <a:ea typeface="Calibri" pitchFamily="34" charset="-122"/>
                <a:cs typeface="Calibri" pitchFamily="34" charset="-120"/>
              </a:rPr>
              <a:t>The collision tests use both styles the lab describes. State-based: build a real World, fire three bullets, assert the enemy survives two and dies on the third. Interaction-based: replace World with a Mockito mock and verify removeEntity was called exactly twice — once per side of the collision.</a:t>
            </a:r>
            <a:endParaRPr lang="en-US" sz="1200" dirty="0"/>
          </a:p>
        </p:txBody>
      </p:sp>
      <p:sp>
        <p:nvSpPr>
          <p:cNvPr id="15" name="Text 13"/>
          <p:cNvSpPr/>
          <p:nvPr/>
        </p:nvSpPr>
        <p:spPr>
          <a:xfrm>
            <a:off x="6172200" y="3096006"/>
            <a:ext cx="5486400" cy="237744"/>
          </a:xfrm>
          <a:prstGeom prst="rect">
            <a:avLst/>
          </a:prstGeom>
          <a:noFill/>
          <a:ln/>
        </p:spPr>
        <p:txBody>
          <a:bodyPr wrap="square" lIns="0" tIns="0" rIns="0" bIns="0" rtlCol="0" anchor="ctr"/>
          <a:lstStyle/>
          <a:p>
            <a:pPr indent="0" marL="0">
              <a:buNone/>
            </a:pPr>
            <a:r>
              <a:rPr lang="en-US" sz="1050" b="1" spc="160" kern="0" dirty="0">
                <a:solidFill>
                  <a:srgbClr val="5F7192"/>
                </a:solidFill>
                <a:latin typeface="Calibri" pitchFamily="34" charset="0"/>
                <a:ea typeface="Calibri" pitchFamily="34" charset="-122"/>
                <a:cs typeface="Calibri" pitchFamily="34" charset="-120"/>
              </a:rPr>
              <a:t>Collision/src/test/.../CollisionDetectorTest.java</a:t>
            </a:r>
            <a:endParaRPr lang="en-US" sz="1050" dirty="0"/>
          </a:p>
        </p:txBody>
      </p:sp>
      <p:sp>
        <p:nvSpPr>
          <p:cNvPr id="16" name="Shape 14"/>
          <p:cNvSpPr/>
          <p:nvPr/>
        </p:nvSpPr>
        <p:spPr>
          <a:xfrm>
            <a:off x="6172200" y="3370326"/>
            <a:ext cx="5486400" cy="2774442"/>
          </a:xfrm>
          <a:prstGeom prst="roundRect">
            <a:avLst>
              <a:gd name="adj" fmla="val 1648"/>
            </a:avLst>
          </a:prstGeom>
          <a:solidFill>
            <a:srgbClr val="0F1729"/>
          </a:solidFill>
          <a:ln w="12700">
            <a:solidFill>
              <a:srgbClr val="2A3552"/>
            </a:solidFill>
            <a:prstDash val="solid"/>
          </a:ln>
        </p:spPr>
      </p:sp>
      <p:sp>
        <p:nvSpPr>
          <p:cNvPr id="17" name="Text 15"/>
          <p:cNvSpPr/>
          <p:nvPr/>
        </p:nvSpPr>
        <p:spPr>
          <a:xfrm>
            <a:off x="6327648" y="3489198"/>
            <a:ext cx="5175504" cy="2536698"/>
          </a:xfrm>
          <a:prstGeom prst="rect">
            <a:avLst/>
          </a:prstGeom>
          <a:noFill/>
          <a:ln/>
        </p:spPr>
        <p:txBody>
          <a:bodyPr wrap="square" lIns="0" tIns="0" rIns="0" bIns="0" rtlCol="0" anchor="t"/>
          <a:lstStyle/>
          <a:p>
            <a:pPr indent="0" marL="0">
              <a:lnSpc>
                <a:spcPts val="1239"/>
              </a:lnSpc>
              <a:buNone/>
            </a:pPr>
            <a:r>
              <a:rPr lang="en-US" sz="873" dirty="0">
                <a:solidFill>
                  <a:srgbClr val="F5A623"/>
                </a:solidFill>
                <a:latin typeface="Courier New" pitchFamily="34" charset="0"/>
                <a:ea typeface="Courier New" pitchFamily="34" charset="-122"/>
                <a:cs typeface="Courier New" pitchFamily="34" charset="-120"/>
              </a:rPr>
              <a:t>@Test</a:t>
            </a:r>
            <a:endParaRPr lang="en-US" sz="873" dirty="0"/>
          </a:p>
          <a:p>
            <a:pPr indent="0" marL="0">
              <a:lnSpc>
                <a:spcPts val="1239"/>
              </a:lnSpc>
              <a:buNone/>
            </a:pPr>
            <a:r>
              <a:rPr lang="en-US" sz="873" dirty="0">
                <a:solidFill>
                  <a:srgbClr val="D9E3F2"/>
                </a:solidFill>
                <a:latin typeface="Courier New" pitchFamily="34" charset="0"/>
                <a:ea typeface="Courier New" pitchFamily="34" charset="-122"/>
                <a:cs typeface="Courier New" pitchFamily="34" charset="-120"/>
              </a:rPr>
              <a:t>void enemyIsDestroyedOnlyAfterThreeBulletHits() {</a:t>
            </a:r>
            <a:endParaRPr lang="en-US" sz="873" dirty="0"/>
          </a:p>
          <a:p>
            <a:pPr indent="0" marL="0">
              <a:lnSpc>
                <a:spcPts val="1239"/>
              </a:lnSpc>
              <a:buNone/>
            </a:pPr>
            <a:r>
              <a:rPr lang="en-US" sz="873" dirty="0">
                <a:solidFill>
                  <a:srgbClr val="D9E3F2"/>
                </a:solidFill>
                <a:latin typeface="Courier New" pitchFamily="34" charset="0"/>
                <a:ea typeface="Courier New" pitchFamily="34" charset="-122"/>
                <a:cs typeface="Courier New" pitchFamily="34" charset="-120"/>
              </a:rPr>
              <a:t>    Entity enemy = entityAt(100, 100, 8, ENEMY);</a:t>
            </a:r>
            <a:endParaRPr lang="en-US" sz="873" dirty="0"/>
          </a:p>
          <a:p>
            <a:pPr indent="0" marL="0">
              <a:lnSpc>
                <a:spcPts val="1239"/>
              </a:lnSpc>
              <a:buNone/>
            </a:pPr>
            <a:r>
              <a:rPr lang="en-US" sz="873" dirty="0">
                <a:solidFill>
                  <a:srgbClr val="D9E3F2"/>
                </a:solidFill>
                <a:latin typeface="Courier New" pitchFamily="34" charset="0"/>
                <a:ea typeface="Courier New" pitchFamily="34" charset="-122"/>
                <a:cs typeface="Courier New" pitchFamily="34" charset="-120"/>
              </a:rPr>
              <a:t>    enemy.setMaxHealth(3);</a:t>
            </a:r>
            <a:endParaRPr lang="en-US" sz="873" dirty="0"/>
          </a:p>
          <a:p>
            <a:pPr indent="0" marL="0">
              <a:lnSpc>
                <a:spcPts val="1239"/>
              </a:lnSpc>
              <a:buNone/>
            </a:pPr>
            <a:r>
              <a:rPr lang="en-US" sz="873" dirty="0">
                <a:solidFill>
                  <a:srgbClr val="D9E3F2"/>
                </a:solidFill>
                <a:latin typeface="Courier New" pitchFamily="34" charset="0"/>
                <a:ea typeface="Courier New" pitchFamily="34" charset="-122"/>
                <a:cs typeface="Courier New" pitchFamily="34" charset="-120"/>
              </a:rPr>
              <a:t>    world.addEntity(enemy);</a:t>
            </a:r>
            <a:endParaRPr lang="en-US" sz="873" dirty="0"/>
          </a:p>
          <a:p>
            <a:pPr indent="0" marL="0">
              <a:lnSpc>
                <a:spcPts val="1239"/>
              </a:lnSpc>
              <a:buNone/>
            </a:pPr>
            <a:r>
              <a:rPr lang="en-US" sz="873" dirty="0">
                <a:solidFill>
                  <a:srgbClr val="D9E3F2"/>
                </a:solidFill>
                <a:latin typeface="Courier New" pitchFamily="34" charset="0"/>
                <a:ea typeface="Courier New" pitchFamily="34" charset="-122"/>
                <a:cs typeface="Courier New" pitchFamily="34" charset="-120"/>
              </a:rPr>
              <a:t> </a:t>
            </a:r>
            <a:endParaRPr lang="en-US" sz="873" dirty="0"/>
          </a:p>
          <a:p>
            <a:pPr indent="0" marL="0">
              <a:lnSpc>
                <a:spcPts val="1239"/>
              </a:lnSpc>
              <a:buNone/>
            </a:pPr>
            <a:r>
              <a:rPr lang="en-US" sz="873" dirty="0">
                <a:solidFill>
                  <a:srgbClr val="D9E3F2"/>
                </a:solidFill>
                <a:latin typeface="Courier New" pitchFamily="34" charset="0"/>
                <a:ea typeface="Courier New" pitchFamily="34" charset="-122"/>
                <a:cs typeface="Courier New" pitchFamily="34" charset="-120"/>
              </a:rPr>
              <a:t>    for (int hit = 1; hit &lt;= 2; hit++) {</a:t>
            </a:r>
            <a:endParaRPr lang="en-US" sz="873" dirty="0"/>
          </a:p>
          <a:p>
            <a:pPr indent="0" marL="0">
              <a:lnSpc>
                <a:spcPts val="1239"/>
              </a:lnSpc>
              <a:buNone/>
            </a:pPr>
            <a:r>
              <a:rPr lang="en-US" sz="873" dirty="0">
                <a:solidFill>
                  <a:srgbClr val="D9E3F2"/>
                </a:solidFill>
                <a:latin typeface="Courier New" pitchFamily="34" charset="0"/>
                <a:ea typeface="Courier New" pitchFamily="34" charset="-122"/>
                <a:cs typeface="Courier New" pitchFamily="34" charset="-120"/>
              </a:rPr>
              <a:t>        world.addEntity(bulletAt(100, 100));</a:t>
            </a:r>
            <a:endParaRPr lang="en-US" sz="873" dirty="0"/>
          </a:p>
          <a:p>
            <a:pPr indent="0" marL="0">
              <a:lnSpc>
                <a:spcPts val="1239"/>
              </a:lnSpc>
              <a:buNone/>
            </a:pPr>
            <a:r>
              <a:rPr lang="en-US" sz="873" dirty="0">
                <a:solidFill>
                  <a:srgbClr val="D9E3F2"/>
                </a:solidFill>
                <a:latin typeface="Courier New" pitchFamily="34" charset="0"/>
                <a:ea typeface="Courier New" pitchFamily="34" charset="-122"/>
                <a:cs typeface="Courier New" pitchFamily="34" charset="-120"/>
              </a:rPr>
              <a:t>        detector.process(gameData, world);</a:t>
            </a:r>
            <a:endParaRPr lang="en-US" sz="873" dirty="0"/>
          </a:p>
          <a:p>
            <a:pPr indent="0" marL="0">
              <a:lnSpc>
                <a:spcPts val="1239"/>
              </a:lnSpc>
              <a:buNone/>
            </a:pPr>
            <a:r>
              <a:rPr lang="en-US" sz="873" dirty="0">
                <a:solidFill>
                  <a:srgbClr val="D9E3F2"/>
                </a:solidFill>
                <a:latin typeface="Courier New" pitchFamily="34" charset="0"/>
                <a:ea typeface="Courier New" pitchFamily="34" charset="-122"/>
                <a:cs typeface="Courier New" pitchFamily="34" charset="-120"/>
              </a:rPr>
              <a:t>        assertTrue(world.getEntities().contains(enemy));</a:t>
            </a:r>
            <a:endParaRPr lang="en-US" sz="873" dirty="0"/>
          </a:p>
          <a:p>
            <a:pPr indent="0" marL="0">
              <a:lnSpc>
                <a:spcPts val="1239"/>
              </a:lnSpc>
              <a:buNone/>
            </a:pPr>
            <a:r>
              <a:rPr lang="en-US" sz="873" dirty="0">
                <a:solidFill>
                  <a:srgbClr val="D9E3F2"/>
                </a:solidFill>
                <a:latin typeface="Courier New" pitchFamily="34" charset="0"/>
                <a:ea typeface="Courier New" pitchFamily="34" charset="-122"/>
                <a:cs typeface="Courier New" pitchFamily="34" charset="-120"/>
              </a:rPr>
              <a:t>    }</a:t>
            </a:r>
            <a:endParaRPr lang="en-US" sz="873" dirty="0"/>
          </a:p>
          <a:p>
            <a:pPr indent="0" marL="0">
              <a:lnSpc>
                <a:spcPts val="1239"/>
              </a:lnSpc>
              <a:buNone/>
            </a:pPr>
            <a:r>
              <a:rPr lang="en-US" sz="873" dirty="0">
                <a:solidFill>
                  <a:srgbClr val="D9E3F2"/>
                </a:solidFill>
                <a:latin typeface="Courier New" pitchFamily="34" charset="0"/>
                <a:ea typeface="Courier New" pitchFamily="34" charset="-122"/>
                <a:cs typeface="Courier New" pitchFamily="34" charset="-120"/>
              </a:rPr>
              <a:t> </a:t>
            </a:r>
            <a:endParaRPr lang="en-US" sz="873" dirty="0"/>
          </a:p>
          <a:p>
            <a:pPr indent="0" marL="0">
              <a:lnSpc>
                <a:spcPts val="1239"/>
              </a:lnSpc>
              <a:buNone/>
            </a:pPr>
            <a:r>
              <a:rPr lang="en-US" sz="873" dirty="0">
                <a:solidFill>
                  <a:srgbClr val="D9E3F2"/>
                </a:solidFill>
                <a:latin typeface="Courier New" pitchFamily="34" charset="0"/>
                <a:ea typeface="Courier New" pitchFamily="34" charset="-122"/>
                <a:cs typeface="Courier New" pitchFamily="34" charset="-120"/>
              </a:rPr>
              <a:t>    world.addEntity(bulletAt(100, 100));</a:t>
            </a:r>
            <a:endParaRPr lang="en-US" sz="873" dirty="0"/>
          </a:p>
          <a:p>
            <a:pPr indent="0" marL="0">
              <a:lnSpc>
                <a:spcPts val="1239"/>
              </a:lnSpc>
              <a:buNone/>
            </a:pPr>
            <a:r>
              <a:rPr lang="en-US" sz="873" dirty="0">
                <a:solidFill>
                  <a:srgbClr val="D9E3F2"/>
                </a:solidFill>
                <a:latin typeface="Courier New" pitchFamily="34" charset="0"/>
                <a:ea typeface="Courier New" pitchFamily="34" charset="-122"/>
                <a:cs typeface="Courier New" pitchFamily="34" charset="-120"/>
              </a:rPr>
              <a:t>    detector.process(gameData, world);</a:t>
            </a:r>
            <a:endParaRPr lang="en-US" sz="873" dirty="0"/>
          </a:p>
          <a:p>
            <a:pPr indent="0" marL="0">
              <a:lnSpc>
                <a:spcPts val="1239"/>
              </a:lnSpc>
              <a:buNone/>
            </a:pPr>
            <a:r>
              <a:rPr lang="en-US" sz="873" dirty="0">
                <a:solidFill>
                  <a:srgbClr val="D9E3F2"/>
                </a:solidFill>
                <a:latin typeface="Courier New" pitchFamily="34" charset="0"/>
                <a:ea typeface="Courier New" pitchFamily="34" charset="-122"/>
                <a:cs typeface="Courier New" pitchFamily="34" charset="-120"/>
              </a:rPr>
              <a:t>    assertFalse(world.getEntities().contains(enemy));</a:t>
            </a:r>
            <a:endParaRPr lang="en-US" sz="873" dirty="0"/>
          </a:p>
          <a:p>
            <a:pPr indent="0" marL="0">
              <a:lnSpc>
                <a:spcPts val="1239"/>
              </a:lnSpc>
              <a:buNone/>
            </a:pPr>
            <a:r>
              <a:rPr lang="en-US" sz="873" dirty="0">
                <a:solidFill>
                  <a:srgbClr val="D9E3F2"/>
                </a:solidFill>
                <a:latin typeface="Courier New" pitchFamily="34" charset="0"/>
                <a:ea typeface="Courier New" pitchFamily="34" charset="-122"/>
                <a:cs typeface="Courier New" pitchFamily="34" charset="-120"/>
              </a:rPr>
              <a:t>}</a:t>
            </a:r>
            <a:endParaRPr lang="en-US" sz="873"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457200"/>
            <a:ext cx="8229600" cy="603504"/>
          </a:xfrm>
          <a:prstGeom prst="rect">
            <a:avLst/>
          </a:prstGeom>
          <a:noFill/>
          <a:ln/>
        </p:spPr>
        <p:txBody>
          <a:bodyPr wrap="square" lIns="0" tIns="0" rIns="0" bIns="0" rtlCol="0" anchor="ctr"/>
          <a:lstStyle/>
          <a:p>
            <a:pPr indent="0" marL="0">
              <a:buNone/>
            </a:pPr>
            <a:r>
              <a:rPr lang="en-US" sz="3400" b="1" dirty="0">
                <a:solidFill>
                  <a:srgbClr val="18213D"/>
                </a:solidFill>
                <a:latin typeface="Cambria" pitchFamily="34" charset="0"/>
                <a:ea typeface="Cambria" pitchFamily="34" charset="-122"/>
                <a:cs typeface="Cambria" pitchFamily="34" charset="-120"/>
              </a:rPr>
              <a:t>Running the Game</a:t>
            </a:r>
            <a:endParaRPr lang="en-US" sz="3400" dirty="0"/>
          </a:p>
        </p:txBody>
      </p:sp>
      <p:sp>
        <p:nvSpPr>
          <p:cNvPr id="3" name="Text 1"/>
          <p:cNvSpPr/>
          <p:nvPr/>
        </p:nvSpPr>
        <p:spPr>
          <a:xfrm>
            <a:off x="502920" y="1042416"/>
            <a:ext cx="8229600" cy="310896"/>
          </a:xfrm>
          <a:prstGeom prst="rect">
            <a:avLst/>
          </a:prstGeom>
          <a:noFill/>
          <a:ln/>
        </p:spPr>
        <p:txBody>
          <a:bodyPr wrap="square" lIns="0" tIns="0" rIns="0" bIns="0" rtlCol="0" anchor="ctr"/>
          <a:lstStyle/>
          <a:p>
            <a:pPr indent="0" marL="0">
              <a:buNone/>
            </a:pPr>
            <a:r>
              <a:rPr lang="en-US" sz="1450" dirty="0">
                <a:solidFill>
                  <a:srgbClr val="5F7192"/>
                </a:solidFill>
                <a:latin typeface="Calibri" pitchFamily="34" charset="0"/>
                <a:ea typeface="Calibri" pitchFamily="34" charset="-122"/>
                <a:cs typeface="Calibri" pitchFamily="34" charset="-120"/>
              </a:rPr>
              <a:t>Three commands, two processes</a:t>
            </a:r>
            <a:endParaRPr lang="en-US" sz="1450" dirty="0"/>
          </a:p>
        </p:txBody>
      </p:sp>
      <p:sp>
        <p:nvSpPr>
          <p:cNvPr id="4" name="Shape 2"/>
          <p:cNvSpPr/>
          <p:nvPr/>
        </p:nvSpPr>
        <p:spPr>
          <a:xfrm>
            <a:off x="502920" y="1627632"/>
            <a:ext cx="7223760" cy="987552"/>
          </a:xfrm>
          <a:prstGeom prst="roundRect">
            <a:avLst>
              <a:gd name="adj" fmla="val 5556"/>
            </a:avLst>
          </a:prstGeom>
          <a:solidFill>
            <a:srgbClr val="F1F5FB"/>
          </a:solidFill>
          <a:ln w="12700">
            <a:solidFill>
              <a:srgbClr val="DEE7F3"/>
            </a:solidFill>
            <a:prstDash val="solid"/>
          </a:ln>
          <a:effectLst>
            <a:outerShdw sx="100000" sy="100000" kx="0" ky="0" algn="bl" rotWithShape="0" blurRad="127000" dist="25400" dir="5400000">
              <a:srgbClr val="8FA3C4">
                <a:alpha val="28000"/>
              </a:srgbClr>
            </a:outerShdw>
          </a:effectLst>
        </p:spPr>
      </p:sp>
      <p:sp>
        <p:nvSpPr>
          <p:cNvPr id="5" name="Shape 3"/>
          <p:cNvSpPr/>
          <p:nvPr/>
        </p:nvSpPr>
        <p:spPr>
          <a:xfrm>
            <a:off x="740664" y="1865376"/>
            <a:ext cx="512064" cy="512064"/>
          </a:xfrm>
          <a:prstGeom prst="ellipse">
            <a:avLst/>
          </a:prstGeom>
          <a:solidFill>
            <a:srgbClr val="18213D"/>
          </a:solidFill>
          <a:ln/>
        </p:spPr>
      </p:sp>
      <p:sp>
        <p:nvSpPr>
          <p:cNvPr id="6" name="Text 4"/>
          <p:cNvSpPr/>
          <p:nvPr/>
        </p:nvSpPr>
        <p:spPr>
          <a:xfrm>
            <a:off x="740664" y="1865376"/>
            <a:ext cx="512064" cy="512064"/>
          </a:xfrm>
          <a:prstGeom prst="rect">
            <a:avLst/>
          </a:prstGeom>
          <a:noFill/>
          <a:ln/>
        </p:spPr>
        <p:txBody>
          <a:bodyPr wrap="square" lIns="0" tIns="0" rIns="0" bIns="0" rtlCol="0" anchor="ctr"/>
          <a:lstStyle/>
          <a:p>
            <a:pPr algn="ctr" indent="0" marL="0">
              <a:buNone/>
            </a:pPr>
            <a:r>
              <a:rPr lang="en-US" sz="1800" b="1" dirty="0">
                <a:solidFill>
                  <a:srgbClr val="F5A623"/>
                </a:solidFill>
                <a:latin typeface="Cambria" pitchFamily="34" charset="0"/>
                <a:ea typeface="Cambria" pitchFamily="34" charset="-122"/>
                <a:cs typeface="Cambria" pitchFamily="34" charset="-120"/>
              </a:rPr>
              <a:t>1</a:t>
            </a:r>
            <a:endParaRPr lang="en-US" sz="1800" dirty="0"/>
          </a:p>
        </p:txBody>
      </p:sp>
      <p:sp>
        <p:nvSpPr>
          <p:cNvPr id="7" name="Text 5"/>
          <p:cNvSpPr/>
          <p:nvPr/>
        </p:nvSpPr>
        <p:spPr>
          <a:xfrm>
            <a:off x="1399032" y="1783080"/>
            <a:ext cx="1051560" cy="274320"/>
          </a:xfrm>
          <a:prstGeom prst="rect">
            <a:avLst/>
          </a:prstGeom>
          <a:noFill/>
          <a:ln/>
        </p:spPr>
        <p:txBody>
          <a:bodyPr wrap="square" lIns="0" tIns="0" rIns="0" bIns="0" rtlCol="0" anchor="ctr"/>
          <a:lstStyle/>
          <a:p>
            <a:pPr indent="0" marL="0">
              <a:buNone/>
            </a:pPr>
            <a:r>
              <a:rPr lang="en-US" sz="1500" b="1" dirty="0">
                <a:solidFill>
                  <a:srgbClr val="18213D"/>
                </a:solidFill>
                <a:latin typeface="Cambria" pitchFamily="34" charset="0"/>
                <a:ea typeface="Cambria" pitchFamily="34" charset="-122"/>
                <a:cs typeface="Cambria" pitchFamily="34" charset="-120"/>
              </a:rPr>
              <a:t>Build</a:t>
            </a:r>
            <a:endParaRPr lang="en-US" sz="1500" dirty="0"/>
          </a:p>
        </p:txBody>
      </p:sp>
      <p:sp>
        <p:nvSpPr>
          <p:cNvPr id="8" name="Text 6"/>
          <p:cNvSpPr/>
          <p:nvPr/>
        </p:nvSpPr>
        <p:spPr>
          <a:xfrm>
            <a:off x="2478024" y="1783080"/>
            <a:ext cx="5074920" cy="274320"/>
          </a:xfrm>
          <a:prstGeom prst="rect">
            <a:avLst/>
          </a:prstGeom>
          <a:noFill/>
          <a:ln/>
        </p:spPr>
        <p:txBody>
          <a:bodyPr wrap="square" lIns="0" tIns="0" rIns="0" bIns="0" rtlCol="0" anchor="ctr"/>
          <a:lstStyle/>
          <a:p>
            <a:pPr indent="0" marL="0">
              <a:buNone/>
            </a:pPr>
            <a:r>
              <a:rPr lang="en-US" sz="1050" b="1" dirty="0">
                <a:solidFill>
                  <a:srgbClr val="3A5A8C"/>
                </a:solidFill>
                <a:latin typeface="Courier New" pitchFamily="34" charset="0"/>
                <a:ea typeface="Courier New" pitchFamily="34" charset="-122"/>
                <a:cs typeface="Courier New" pitchFamily="34" charset="-120"/>
              </a:rPr>
              <a:t>mvn clean install</a:t>
            </a:r>
            <a:endParaRPr lang="en-US" sz="1050" dirty="0"/>
          </a:p>
        </p:txBody>
      </p:sp>
      <p:sp>
        <p:nvSpPr>
          <p:cNvPr id="9" name="Text 7"/>
          <p:cNvSpPr/>
          <p:nvPr/>
        </p:nvSpPr>
        <p:spPr>
          <a:xfrm>
            <a:off x="1399032" y="2112264"/>
            <a:ext cx="6126480" cy="384048"/>
          </a:xfrm>
          <a:prstGeom prst="rect">
            <a:avLst/>
          </a:prstGeom>
          <a:noFill/>
          <a:ln/>
        </p:spPr>
        <p:txBody>
          <a:bodyPr wrap="square" lIns="0" tIns="0" rIns="0" bIns="0" rtlCol="0" anchor="t"/>
          <a:lstStyle/>
          <a:p>
            <a:pPr indent="0" marL="0">
              <a:lnSpc>
                <a:spcPts val="1500"/>
              </a:lnSpc>
              <a:buNone/>
            </a:pPr>
            <a:r>
              <a:rPr lang="en-US" sz="1150" dirty="0">
                <a:solidFill>
                  <a:srgbClr val="5F7192"/>
                </a:solidFill>
                <a:latin typeface="Calibri" pitchFamily="34" charset="0"/>
                <a:ea typeface="Calibri" pitchFamily="34" charset="-122"/>
                <a:cs typeface="Calibri" pitchFamily="34" charset="-120"/>
              </a:rPr>
              <a:t>Compiles and tests every module, then copies the jars into mods-mvn/ and plugins/.</a:t>
            </a:r>
            <a:endParaRPr lang="en-US" sz="1150" dirty="0"/>
          </a:p>
        </p:txBody>
      </p:sp>
      <p:sp>
        <p:nvSpPr>
          <p:cNvPr id="10" name="Shape 8"/>
          <p:cNvSpPr/>
          <p:nvPr/>
        </p:nvSpPr>
        <p:spPr>
          <a:xfrm>
            <a:off x="502920" y="2798064"/>
            <a:ext cx="7223760" cy="987552"/>
          </a:xfrm>
          <a:prstGeom prst="roundRect">
            <a:avLst>
              <a:gd name="adj" fmla="val 5556"/>
            </a:avLst>
          </a:prstGeom>
          <a:solidFill>
            <a:srgbClr val="F1F5FB"/>
          </a:solidFill>
          <a:ln w="12700">
            <a:solidFill>
              <a:srgbClr val="DEE7F3"/>
            </a:solidFill>
            <a:prstDash val="solid"/>
          </a:ln>
          <a:effectLst>
            <a:outerShdw sx="100000" sy="100000" kx="0" ky="0" algn="bl" rotWithShape="0" blurRad="127000" dist="25400" dir="5400000">
              <a:srgbClr val="8FA3C4">
                <a:alpha val="28000"/>
              </a:srgbClr>
            </a:outerShdw>
          </a:effectLst>
        </p:spPr>
      </p:sp>
      <p:sp>
        <p:nvSpPr>
          <p:cNvPr id="11" name="Shape 9"/>
          <p:cNvSpPr/>
          <p:nvPr/>
        </p:nvSpPr>
        <p:spPr>
          <a:xfrm>
            <a:off x="740664" y="3035808"/>
            <a:ext cx="512064" cy="512064"/>
          </a:xfrm>
          <a:prstGeom prst="ellipse">
            <a:avLst/>
          </a:prstGeom>
          <a:solidFill>
            <a:srgbClr val="18213D"/>
          </a:solidFill>
          <a:ln/>
        </p:spPr>
      </p:sp>
      <p:sp>
        <p:nvSpPr>
          <p:cNvPr id="12" name="Text 10"/>
          <p:cNvSpPr/>
          <p:nvPr/>
        </p:nvSpPr>
        <p:spPr>
          <a:xfrm>
            <a:off x="740664" y="3035808"/>
            <a:ext cx="512064" cy="512064"/>
          </a:xfrm>
          <a:prstGeom prst="rect">
            <a:avLst/>
          </a:prstGeom>
          <a:noFill/>
          <a:ln/>
        </p:spPr>
        <p:txBody>
          <a:bodyPr wrap="square" lIns="0" tIns="0" rIns="0" bIns="0" rtlCol="0" anchor="ctr"/>
          <a:lstStyle/>
          <a:p>
            <a:pPr algn="ctr" indent="0" marL="0">
              <a:buNone/>
            </a:pPr>
            <a:r>
              <a:rPr lang="en-US" sz="1800" b="1" dirty="0">
                <a:solidFill>
                  <a:srgbClr val="F5A623"/>
                </a:solidFill>
                <a:latin typeface="Cambria" pitchFamily="34" charset="0"/>
                <a:ea typeface="Cambria" pitchFamily="34" charset="-122"/>
                <a:cs typeface="Cambria" pitchFamily="34" charset="-120"/>
              </a:rPr>
              <a:t>2</a:t>
            </a:r>
            <a:endParaRPr lang="en-US" sz="1800" dirty="0"/>
          </a:p>
        </p:txBody>
      </p:sp>
      <p:sp>
        <p:nvSpPr>
          <p:cNvPr id="13" name="Text 11"/>
          <p:cNvSpPr/>
          <p:nvPr/>
        </p:nvSpPr>
        <p:spPr>
          <a:xfrm>
            <a:off x="1399032" y="2953512"/>
            <a:ext cx="1051560" cy="274320"/>
          </a:xfrm>
          <a:prstGeom prst="rect">
            <a:avLst/>
          </a:prstGeom>
          <a:noFill/>
          <a:ln/>
        </p:spPr>
        <p:txBody>
          <a:bodyPr wrap="square" lIns="0" tIns="0" rIns="0" bIns="0" rtlCol="0" anchor="ctr"/>
          <a:lstStyle/>
          <a:p>
            <a:pPr indent="0" marL="0">
              <a:buNone/>
            </a:pPr>
            <a:r>
              <a:rPr lang="en-US" sz="1500" b="1" dirty="0">
                <a:solidFill>
                  <a:srgbClr val="18213D"/>
                </a:solidFill>
                <a:latin typeface="Cambria" pitchFamily="34" charset="0"/>
                <a:ea typeface="Cambria" pitchFamily="34" charset="-122"/>
                <a:cs typeface="Cambria" pitchFamily="34" charset="-120"/>
              </a:rPr>
              <a:t>Score</a:t>
            </a:r>
            <a:endParaRPr lang="en-US" sz="1500" dirty="0"/>
          </a:p>
        </p:txBody>
      </p:sp>
      <p:sp>
        <p:nvSpPr>
          <p:cNvPr id="14" name="Text 12"/>
          <p:cNvSpPr/>
          <p:nvPr/>
        </p:nvSpPr>
        <p:spPr>
          <a:xfrm>
            <a:off x="2478024" y="2953512"/>
            <a:ext cx="5074920" cy="274320"/>
          </a:xfrm>
          <a:prstGeom prst="rect">
            <a:avLst/>
          </a:prstGeom>
          <a:noFill/>
          <a:ln/>
        </p:spPr>
        <p:txBody>
          <a:bodyPr wrap="square" lIns="0" tIns="0" rIns="0" bIns="0" rtlCol="0" anchor="ctr"/>
          <a:lstStyle/>
          <a:p>
            <a:pPr indent="0" marL="0">
              <a:buNone/>
            </a:pPr>
            <a:r>
              <a:rPr lang="en-US" sz="1050" b="1" dirty="0">
                <a:solidFill>
                  <a:srgbClr val="3A5A8C"/>
                </a:solidFill>
                <a:latin typeface="Courier New" pitchFamily="34" charset="0"/>
                <a:ea typeface="Courier New" pitchFamily="34" charset="-122"/>
                <a:cs typeface="Courier New" pitchFamily="34" charset="-120"/>
              </a:rPr>
              <a:t>java -jar Scoring/target/Scoring-1.0.1-SNAPSHOT.jar</a:t>
            </a:r>
            <a:endParaRPr lang="en-US" sz="1050" dirty="0"/>
          </a:p>
        </p:txBody>
      </p:sp>
      <p:sp>
        <p:nvSpPr>
          <p:cNvPr id="15" name="Text 13"/>
          <p:cNvSpPr/>
          <p:nvPr/>
        </p:nvSpPr>
        <p:spPr>
          <a:xfrm>
            <a:off x="1399032" y="3282696"/>
            <a:ext cx="6126480" cy="384048"/>
          </a:xfrm>
          <a:prstGeom prst="rect">
            <a:avLst/>
          </a:prstGeom>
          <a:noFill/>
          <a:ln/>
        </p:spPr>
        <p:txBody>
          <a:bodyPr wrap="square" lIns="0" tIns="0" rIns="0" bIns="0" rtlCol="0" anchor="t"/>
          <a:lstStyle/>
          <a:p>
            <a:pPr indent="0" marL="0">
              <a:lnSpc>
                <a:spcPts val="1500"/>
              </a:lnSpc>
              <a:buNone/>
            </a:pPr>
            <a:r>
              <a:rPr lang="en-US" sz="1150" dirty="0">
                <a:solidFill>
                  <a:srgbClr val="5F7192"/>
                </a:solidFill>
                <a:latin typeface="Calibri" pitchFamily="34" charset="0"/>
                <a:ea typeface="Calibri" pitchFamily="34" charset="-122"/>
                <a:cs typeface="Calibri" pitchFamily="34" charset="-120"/>
              </a:rPr>
              <a:t>Starts the scoring microservice on port 8081, in its own process.</a:t>
            </a:r>
            <a:endParaRPr lang="en-US" sz="1150" dirty="0"/>
          </a:p>
        </p:txBody>
      </p:sp>
      <p:sp>
        <p:nvSpPr>
          <p:cNvPr id="16" name="Shape 14"/>
          <p:cNvSpPr/>
          <p:nvPr/>
        </p:nvSpPr>
        <p:spPr>
          <a:xfrm>
            <a:off x="502920" y="3968496"/>
            <a:ext cx="7223760" cy="987552"/>
          </a:xfrm>
          <a:prstGeom prst="roundRect">
            <a:avLst>
              <a:gd name="adj" fmla="val 5556"/>
            </a:avLst>
          </a:prstGeom>
          <a:solidFill>
            <a:srgbClr val="F1F5FB"/>
          </a:solidFill>
          <a:ln w="12700">
            <a:solidFill>
              <a:srgbClr val="DEE7F3"/>
            </a:solidFill>
            <a:prstDash val="solid"/>
          </a:ln>
          <a:effectLst>
            <a:outerShdw sx="100000" sy="100000" kx="0" ky="0" algn="bl" rotWithShape="0" blurRad="127000" dist="25400" dir="5400000">
              <a:srgbClr val="8FA3C4">
                <a:alpha val="28000"/>
              </a:srgbClr>
            </a:outerShdw>
          </a:effectLst>
        </p:spPr>
      </p:sp>
      <p:sp>
        <p:nvSpPr>
          <p:cNvPr id="17" name="Shape 15"/>
          <p:cNvSpPr/>
          <p:nvPr/>
        </p:nvSpPr>
        <p:spPr>
          <a:xfrm>
            <a:off x="740664" y="4206240"/>
            <a:ext cx="512064" cy="512064"/>
          </a:xfrm>
          <a:prstGeom prst="ellipse">
            <a:avLst/>
          </a:prstGeom>
          <a:solidFill>
            <a:srgbClr val="18213D"/>
          </a:solidFill>
          <a:ln/>
        </p:spPr>
      </p:sp>
      <p:sp>
        <p:nvSpPr>
          <p:cNvPr id="18" name="Text 16"/>
          <p:cNvSpPr/>
          <p:nvPr/>
        </p:nvSpPr>
        <p:spPr>
          <a:xfrm>
            <a:off x="740664" y="4206240"/>
            <a:ext cx="512064" cy="512064"/>
          </a:xfrm>
          <a:prstGeom prst="rect">
            <a:avLst/>
          </a:prstGeom>
          <a:noFill/>
          <a:ln/>
        </p:spPr>
        <p:txBody>
          <a:bodyPr wrap="square" lIns="0" tIns="0" rIns="0" bIns="0" rtlCol="0" anchor="ctr"/>
          <a:lstStyle/>
          <a:p>
            <a:pPr algn="ctr" indent="0" marL="0">
              <a:buNone/>
            </a:pPr>
            <a:r>
              <a:rPr lang="en-US" sz="1800" b="1" dirty="0">
                <a:solidFill>
                  <a:srgbClr val="F5A623"/>
                </a:solidFill>
                <a:latin typeface="Cambria" pitchFamily="34" charset="0"/>
                <a:ea typeface="Cambria" pitchFamily="34" charset="-122"/>
                <a:cs typeface="Cambria" pitchFamily="34" charset="-120"/>
              </a:rPr>
              <a:t>3</a:t>
            </a:r>
            <a:endParaRPr lang="en-US" sz="1800" dirty="0"/>
          </a:p>
        </p:txBody>
      </p:sp>
      <p:sp>
        <p:nvSpPr>
          <p:cNvPr id="19" name="Text 17"/>
          <p:cNvSpPr/>
          <p:nvPr/>
        </p:nvSpPr>
        <p:spPr>
          <a:xfrm>
            <a:off x="1399032" y="4123944"/>
            <a:ext cx="1051560" cy="274320"/>
          </a:xfrm>
          <a:prstGeom prst="rect">
            <a:avLst/>
          </a:prstGeom>
          <a:noFill/>
          <a:ln/>
        </p:spPr>
        <p:txBody>
          <a:bodyPr wrap="square" lIns="0" tIns="0" rIns="0" bIns="0" rtlCol="0" anchor="ctr"/>
          <a:lstStyle/>
          <a:p>
            <a:pPr indent="0" marL="0">
              <a:buNone/>
            </a:pPr>
            <a:r>
              <a:rPr lang="en-US" sz="1500" b="1" dirty="0">
                <a:solidFill>
                  <a:srgbClr val="18213D"/>
                </a:solidFill>
                <a:latin typeface="Cambria" pitchFamily="34" charset="0"/>
                <a:ea typeface="Cambria" pitchFamily="34" charset="-122"/>
                <a:cs typeface="Cambria" pitchFamily="34" charset="-120"/>
              </a:rPr>
              <a:t>Play</a:t>
            </a:r>
            <a:endParaRPr lang="en-US" sz="1500" dirty="0"/>
          </a:p>
        </p:txBody>
      </p:sp>
      <p:sp>
        <p:nvSpPr>
          <p:cNvPr id="20" name="Text 18"/>
          <p:cNvSpPr/>
          <p:nvPr/>
        </p:nvSpPr>
        <p:spPr>
          <a:xfrm>
            <a:off x="2478024" y="4123944"/>
            <a:ext cx="5074920" cy="274320"/>
          </a:xfrm>
          <a:prstGeom prst="rect">
            <a:avLst/>
          </a:prstGeom>
          <a:noFill/>
          <a:ln/>
        </p:spPr>
        <p:txBody>
          <a:bodyPr wrap="square" lIns="0" tIns="0" rIns="0" bIns="0" rtlCol="0" anchor="ctr"/>
          <a:lstStyle/>
          <a:p>
            <a:pPr indent="0" marL="0">
              <a:buNone/>
            </a:pPr>
            <a:r>
              <a:rPr lang="en-US" sz="1050" b="1" dirty="0">
                <a:solidFill>
                  <a:srgbClr val="3A5A8C"/>
                </a:solidFill>
                <a:latin typeface="Courier New" pitchFamily="34" charset="0"/>
                <a:ea typeface="Courier New" pitchFamily="34" charset="-122"/>
                <a:cs typeface="Courier New" pitchFamily="34" charset="-120"/>
              </a:rPr>
              <a:t>mvn exec:exec --non-recursive</a:t>
            </a:r>
            <a:endParaRPr lang="en-US" sz="1050" dirty="0"/>
          </a:p>
        </p:txBody>
      </p:sp>
      <p:sp>
        <p:nvSpPr>
          <p:cNvPr id="21" name="Text 19"/>
          <p:cNvSpPr/>
          <p:nvPr/>
        </p:nvSpPr>
        <p:spPr>
          <a:xfrm>
            <a:off x="1399032" y="4453128"/>
            <a:ext cx="6126480" cy="384048"/>
          </a:xfrm>
          <a:prstGeom prst="rect">
            <a:avLst/>
          </a:prstGeom>
          <a:noFill/>
          <a:ln/>
        </p:spPr>
        <p:txBody>
          <a:bodyPr wrap="square" lIns="0" tIns="0" rIns="0" bIns="0" rtlCol="0" anchor="t"/>
          <a:lstStyle/>
          <a:p>
            <a:pPr indent="0" marL="0">
              <a:lnSpc>
                <a:spcPts val="1500"/>
              </a:lnSpc>
              <a:buNone/>
            </a:pPr>
            <a:r>
              <a:rPr lang="en-US" sz="1150" dirty="0">
                <a:solidFill>
                  <a:srgbClr val="5F7192"/>
                </a:solidFill>
                <a:latin typeface="Calibri" pitchFamily="34" charset="0"/>
                <a:ea typeface="Calibri" pitchFamily="34" charset="-122"/>
                <a:cs typeface="Calibri" pitchFamily="34" charset="-120"/>
              </a:rPr>
              <a:t>Launches Core on the module path; ServiceLocator loads the five plugins.</a:t>
            </a:r>
            <a:endParaRPr lang="en-US" sz="1150" dirty="0"/>
          </a:p>
        </p:txBody>
      </p:sp>
      <p:sp>
        <p:nvSpPr>
          <p:cNvPr id="22" name="Shape 20"/>
          <p:cNvSpPr/>
          <p:nvPr/>
        </p:nvSpPr>
        <p:spPr>
          <a:xfrm>
            <a:off x="8183880" y="1627632"/>
            <a:ext cx="3474720" cy="3529584"/>
          </a:xfrm>
          <a:prstGeom prst="roundRect">
            <a:avLst>
              <a:gd name="adj" fmla="val 1579"/>
            </a:avLst>
          </a:prstGeom>
          <a:solidFill>
            <a:srgbClr val="F1F5FB"/>
          </a:solidFill>
          <a:ln w="12700">
            <a:solidFill>
              <a:srgbClr val="DEE7F3"/>
            </a:solidFill>
            <a:prstDash val="solid"/>
          </a:ln>
          <a:effectLst>
            <a:outerShdw sx="100000" sy="100000" kx="0" ky="0" algn="bl" rotWithShape="0" blurRad="127000" dist="25400" dir="5400000">
              <a:srgbClr val="8FA3C4">
                <a:alpha val="28000"/>
              </a:srgbClr>
            </a:outerShdw>
          </a:effectLst>
        </p:spPr>
      </p:sp>
      <p:sp>
        <p:nvSpPr>
          <p:cNvPr id="23" name="Text 21"/>
          <p:cNvSpPr/>
          <p:nvPr/>
        </p:nvSpPr>
        <p:spPr>
          <a:xfrm>
            <a:off x="8439912" y="1810512"/>
            <a:ext cx="2962656" cy="237744"/>
          </a:xfrm>
          <a:prstGeom prst="rect">
            <a:avLst/>
          </a:prstGeom>
          <a:noFill/>
          <a:ln/>
        </p:spPr>
        <p:txBody>
          <a:bodyPr wrap="square" lIns="0" tIns="0" rIns="0" bIns="0" rtlCol="0" anchor="ctr"/>
          <a:lstStyle/>
          <a:p>
            <a:pPr indent="0" marL="0">
              <a:buNone/>
            </a:pPr>
            <a:r>
              <a:rPr lang="en-US" sz="1050" b="1" spc="180" kern="0" dirty="0">
                <a:solidFill>
                  <a:srgbClr val="B07A18"/>
                </a:solidFill>
                <a:latin typeface="Calibri" pitchFamily="34" charset="0"/>
                <a:ea typeface="Calibri" pitchFamily="34" charset="-122"/>
                <a:cs typeface="Calibri" pitchFamily="34" charset="-120"/>
              </a:rPr>
              <a:t>CONTROLS</a:t>
            </a:r>
            <a:endParaRPr lang="en-US" sz="1050" dirty="0"/>
          </a:p>
        </p:txBody>
      </p:sp>
      <p:sp>
        <p:nvSpPr>
          <p:cNvPr id="24" name="Shape 22"/>
          <p:cNvSpPr/>
          <p:nvPr/>
        </p:nvSpPr>
        <p:spPr>
          <a:xfrm>
            <a:off x="8439912" y="2157984"/>
            <a:ext cx="969264" cy="292608"/>
          </a:xfrm>
          <a:prstGeom prst="roundRect">
            <a:avLst>
              <a:gd name="adj" fmla="val 18750"/>
            </a:avLst>
          </a:prstGeom>
          <a:solidFill>
            <a:srgbClr val="FFFFFF"/>
          </a:solidFill>
          <a:ln w="12700">
            <a:solidFill>
              <a:srgbClr val="C4D4EA"/>
            </a:solidFill>
            <a:prstDash val="solid"/>
          </a:ln>
        </p:spPr>
      </p:sp>
      <p:sp>
        <p:nvSpPr>
          <p:cNvPr id="25" name="Text 23"/>
          <p:cNvSpPr/>
          <p:nvPr/>
        </p:nvSpPr>
        <p:spPr>
          <a:xfrm>
            <a:off x="8439912" y="2157984"/>
            <a:ext cx="969264" cy="292608"/>
          </a:xfrm>
          <a:prstGeom prst="rect">
            <a:avLst/>
          </a:prstGeom>
          <a:noFill/>
          <a:ln/>
        </p:spPr>
        <p:txBody>
          <a:bodyPr wrap="square" lIns="0" tIns="0" rIns="0" bIns="0" rtlCol="0" anchor="ctr"/>
          <a:lstStyle/>
          <a:p>
            <a:pPr algn="ctr" indent="0" marL="0">
              <a:buNone/>
            </a:pPr>
            <a:r>
              <a:rPr lang="en-US" sz="950" b="1" dirty="0">
                <a:solidFill>
                  <a:srgbClr val="18213D"/>
                </a:solidFill>
                <a:latin typeface="Calibri" pitchFamily="34" charset="0"/>
                <a:ea typeface="Calibri" pitchFamily="34" charset="-122"/>
                <a:cs typeface="Calibri" pitchFamily="34" charset="-120"/>
              </a:rPr>
              <a:t>Arrow keys</a:t>
            </a:r>
            <a:endParaRPr lang="en-US" sz="950" dirty="0"/>
          </a:p>
        </p:txBody>
      </p:sp>
      <p:sp>
        <p:nvSpPr>
          <p:cNvPr id="26" name="Text 24"/>
          <p:cNvSpPr/>
          <p:nvPr/>
        </p:nvSpPr>
        <p:spPr>
          <a:xfrm>
            <a:off x="9518904" y="2157984"/>
            <a:ext cx="1883664" cy="292608"/>
          </a:xfrm>
          <a:prstGeom prst="rect">
            <a:avLst/>
          </a:prstGeom>
          <a:noFill/>
          <a:ln/>
        </p:spPr>
        <p:txBody>
          <a:bodyPr wrap="square" lIns="0" tIns="0" rIns="0" bIns="0" rtlCol="0" anchor="ctr"/>
          <a:lstStyle/>
          <a:p>
            <a:pPr indent="0" marL="0">
              <a:buNone/>
            </a:pPr>
            <a:r>
              <a:rPr lang="en-US" sz="1100" dirty="0">
                <a:solidFill>
                  <a:srgbClr val="18213D"/>
                </a:solidFill>
                <a:latin typeface="Calibri" pitchFamily="34" charset="0"/>
                <a:ea typeface="Calibri" pitchFamily="34" charset="-122"/>
                <a:cs typeface="Calibri" pitchFamily="34" charset="-120"/>
              </a:rPr>
              <a:t>Rotate and thrust</a:t>
            </a:r>
            <a:endParaRPr lang="en-US" sz="1100" dirty="0"/>
          </a:p>
        </p:txBody>
      </p:sp>
      <p:sp>
        <p:nvSpPr>
          <p:cNvPr id="27" name="Shape 25"/>
          <p:cNvSpPr/>
          <p:nvPr/>
        </p:nvSpPr>
        <p:spPr>
          <a:xfrm>
            <a:off x="8439912" y="2569464"/>
            <a:ext cx="969264" cy="292608"/>
          </a:xfrm>
          <a:prstGeom prst="roundRect">
            <a:avLst>
              <a:gd name="adj" fmla="val 18750"/>
            </a:avLst>
          </a:prstGeom>
          <a:solidFill>
            <a:srgbClr val="FFFFFF"/>
          </a:solidFill>
          <a:ln w="12700">
            <a:solidFill>
              <a:srgbClr val="C4D4EA"/>
            </a:solidFill>
            <a:prstDash val="solid"/>
          </a:ln>
        </p:spPr>
      </p:sp>
      <p:sp>
        <p:nvSpPr>
          <p:cNvPr id="28" name="Text 26"/>
          <p:cNvSpPr/>
          <p:nvPr/>
        </p:nvSpPr>
        <p:spPr>
          <a:xfrm>
            <a:off x="8439912" y="2569464"/>
            <a:ext cx="969264" cy="292608"/>
          </a:xfrm>
          <a:prstGeom prst="rect">
            <a:avLst/>
          </a:prstGeom>
          <a:noFill/>
          <a:ln/>
        </p:spPr>
        <p:txBody>
          <a:bodyPr wrap="square" lIns="0" tIns="0" rIns="0" bIns="0" rtlCol="0" anchor="ctr"/>
          <a:lstStyle/>
          <a:p>
            <a:pPr algn="ctr" indent="0" marL="0">
              <a:buNone/>
            </a:pPr>
            <a:r>
              <a:rPr lang="en-US" sz="950" b="1" dirty="0">
                <a:solidFill>
                  <a:srgbClr val="18213D"/>
                </a:solidFill>
                <a:latin typeface="Calibri" pitchFamily="34" charset="0"/>
                <a:ea typeface="Calibri" pitchFamily="34" charset="-122"/>
                <a:cs typeface="Calibri" pitchFamily="34" charset="-120"/>
              </a:rPr>
              <a:t>Space</a:t>
            </a:r>
            <a:endParaRPr lang="en-US" sz="950" dirty="0"/>
          </a:p>
        </p:txBody>
      </p:sp>
      <p:sp>
        <p:nvSpPr>
          <p:cNvPr id="29" name="Text 27"/>
          <p:cNvSpPr/>
          <p:nvPr/>
        </p:nvSpPr>
        <p:spPr>
          <a:xfrm>
            <a:off x="9518904" y="2569464"/>
            <a:ext cx="1883664" cy="292608"/>
          </a:xfrm>
          <a:prstGeom prst="rect">
            <a:avLst/>
          </a:prstGeom>
          <a:noFill/>
          <a:ln/>
        </p:spPr>
        <p:txBody>
          <a:bodyPr wrap="square" lIns="0" tIns="0" rIns="0" bIns="0" rtlCol="0" anchor="ctr"/>
          <a:lstStyle/>
          <a:p>
            <a:pPr indent="0" marL="0">
              <a:buNone/>
            </a:pPr>
            <a:r>
              <a:rPr lang="en-US" sz="1100" dirty="0">
                <a:solidFill>
                  <a:srgbClr val="18213D"/>
                </a:solidFill>
                <a:latin typeface="Calibri" pitchFamily="34" charset="0"/>
                <a:ea typeface="Calibri" pitchFamily="34" charset="-122"/>
                <a:cs typeface="Calibri" pitchFamily="34" charset="-120"/>
              </a:rPr>
              <a:t>Shoot / confirm</a:t>
            </a:r>
            <a:endParaRPr lang="en-US" sz="1100" dirty="0"/>
          </a:p>
        </p:txBody>
      </p:sp>
      <p:sp>
        <p:nvSpPr>
          <p:cNvPr id="30" name="Shape 28"/>
          <p:cNvSpPr/>
          <p:nvPr/>
        </p:nvSpPr>
        <p:spPr>
          <a:xfrm>
            <a:off x="8439912" y="2980944"/>
            <a:ext cx="969264" cy="292608"/>
          </a:xfrm>
          <a:prstGeom prst="roundRect">
            <a:avLst>
              <a:gd name="adj" fmla="val 18750"/>
            </a:avLst>
          </a:prstGeom>
          <a:solidFill>
            <a:srgbClr val="FFFFFF"/>
          </a:solidFill>
          <a:ln w="12700">
            <a:solidFill>
              <a:srgbClr val="C4D4EA"/>
            </a:solidFill>
            <a:prstDash val="solid"/>
          </a:ln>
        </p:spPr>
      </p:sp>
      <p:sp>
        <p:nvSpPr>
          <p:cNvPr id="31" name="Text 29"/>
          <p:cNvSpPr/>
          <p:nvPr/>
        </p:nvSpPr>
        <p:spPr>
          <a:xfrm>
            <a:off x="8439912" y="2980944"/>
            <a:ext cx="969264" cy="292608"/>
          </a:xfrm>
          <a:prstGeom prst="rect">
            <a:avLst/>
          </a:prstGeom>
          <a:noFill/>
          <a:ln/>
        </p:spPr>
        <p:txBody>
          <a:bodyPr wrap="square" lIns="0" tIns="0" rIns="0" bIns="0" rtlCol="0" anchor="ctr"/>
          <a:lstStyle/>
          <a:p>
            <a:pPr algn="ctr" indent="0" marL="0">
              <a:buNone/>
            </a:pPr>
            <a:r>
              <a:rPr lang="en-US" sz="950" b="1" dirty="0">
                <a:solidFill>
                  <a:srgbClr val="18213D"/>
                </a:solidFill>
                <a:latin typeface="Calibri" pitchFamily="34" charset="0"/>
                <a:ea typeface="Calibri" pitchFamily="34" charset="-122"/>
                <a:cs typeface="Calibri" pitchFamily="34" charset="-120"/>
              </a:rPr>
              <a:t>P</a:t>
            </a:r>
            <a:endParaRPr lang="en-US" sz="950" dirty="0"/>
          </a:p>
        </p:txBody>
      </p:sp>
      <p:sp>
        <p:nvSpPr>
          <p:cNvPr id="32" name="Text 30"/>
          <p:cNvSpPr/>
          <p:nvPr/>
        </p:nvSpPr>
        <p:spPr>
          <a:xfrm>
            <a:off x="9518904" y="2980944"/>
            <a:ext cx="1883664" cy="292608"/>
          </a:xfrm>
          <a:prstGeom prst="rect">
            <a:avLst/>
          </a:prstGeom>
          <a:noFill/>
          <a:ln/>
        </p:spPr>
        <p:txBody>
          <a:bodyPr wrap="square" lIns="0" tIns="0" rIns="0" bIns="0" rtlCol="0" anchor="ctr"/>
          <a:lstStyle/>
          <a:p>
            <a:pPr indent="0" marL="0">
              <a:buNone/>
            </a:pPr>
            <a:r>
              <a:rPr lang="en-US" sz="1100" dirty="0">
                <a:solidFill>
                  <a:srgbClr val="18213D"/>
                </a:solidFill>
                <a:latin typeface="Calibri" pitchFamily="34" charset="0"/>
                <a:ea typeface="Calibri" pitchFamily="34" charset="-122"/>
                <a:cs typeface="Calibri" pitchFamily="34" charset="-120"/>
              </a:rPr>
              <a:t>Pause</a:t>
            </a:r>
            <a:endParaRPr lang="en-US" sz="1100" dirty="0"/>
          </a:p>
        </p:txBody>
      </p:sp>
      <p:sp>
        <p:nvSpPr>
          <p:cNvPr id="33" name="Shape 31"/>
          <p:cNvSpPr/>
          <p:nvPr/>
        </p:nvSpPr>
        <p:spPr>
          <a:xfrm>
            <a:off x="8439912" y="3392424"/>
            <a:ext cx="969264" cy="292608"/>
          </a:xfrm>
          <a:prstGeom prst="roundRect">
            <a:avLst>
              <a:gd name="adj" fmla="val 18750"/>
            </a:avLst>
          </a:prstGeom>
          <a:solidFill>
            <a:srgbClr val="FFFFFF"/>
          </a:solidFill>
          <a:ln w="12700">
            <a:solidFill>
              <a:srgbClr val="C4D4EA"/>
            </a:solidFill>
            <a:prstDash val="solid"/>
          </a:ln>
        </p:spPr>
      </p:sp>
      <p:sp>
        <p:nvSpPr>
          <p:cNvPr id="34" name="Text 32"/>
          <p:cNvSpPr/>
          <p:nvPr/>
        </p:nvSpPr>
        <p:spPr>
          <a:xfrm>
            <a:off x="8439912" y="3392424"/>
            <a:ext cx="969264" cy="292608"/>
          </a:xfrm>
          <a:prstGeom prst="rect">
            <a:avLst/>
          </a:prstGeom>
          <a:noFill/>
          <a:ln/>
        </p:spPr>
        <p:txBody>
          <a:bodyPr wrap="square" lIns="0" tIns="0" rIns="0" bIns="0" rtlCol="0" anchor="ctr"/>
          <a:lstStyle/>
          <a:p>
            <a:pPr algn="ctr" indent="0" marL="0">
              <a:buNone/>
            </a:pPr>
            <a:r>
              <a:rPr lang="en-US" sz="950" b="1" dirty="0">
                <a:solidFill>
                  <a:srgbClr val="18213D"/>
                </a:solidFill>
                <a:latin typeface="Calibri" pitchFamily="34" charset="0"/>
                <a:ea typeface="Calibri" pitchFamily="34" charset="-122"/>
                <a:cs typeface="Calibri" pitchFamily="34" charset="-120"/>
              </a:rPr>
              <a:t>M</a:t>
            </a:r>
            <a:endParaRPr lang="en-US" sz="950" dirty="0"/>
          </a:p>
        </p:txBody>
      </p:sp>
      <p:sp>
        <p:nvSpPr>
          <p:cNvPr id="35" name="Text 33"/>
          <p:cNvSpPr/>
          <p:nvPr/>
        </p:nvSpPr>
        <p:spPr>
          <a:xfrm>
            <a:off x="9518904" y="3392424"/>
            <a:ext cx="1883664" cy="292608"/>
          </a:xfrm>
          <a:prstGeom prst="rect">
            <a:avLst/>
          </a:prstGeom>
          <a:noFill/>
          <a:ln/>
        </p:spPr>
        <p:txBody>
          <a:bodyPr wrap="square" lIns="0" tIns="0" rIns="0" bIns="0" rtlCol="0" anchor="ctr"/>
          <a:lstStyle/>
          <a:p>
            <a:pPr indent="0" marL="0">
              <a:buNone/>
            </a:pPr>
            <a:r>
              <a:rPr lang="en-US" sz="1100" dirty="0">
                <a:solidFill>
                  <a:srgbClr val="18213D"/>
                </a:solidFill>
                <a:latin typeface="Calibri" pitchFamily="34" charset="0"/>
                <a:ea typeface="Calibri" pitchFamily="34" charset="-122"/>
                <a:cs typeface="Calibri" pitchFamily="34" charset="-120"/>
              </a:rPr>
              <a:t>Mute</a:t>
            </a:r>
            <a:endParaRPr lang="en-US" sz="1100" dirty="0"/>
          </a:p>
        </p:txBody>
      </p:sp>
      <p:sp>
        <p:nvSpPr>
          <p:cNvPr id="36" name="Shape 34"/>
          <p:cNvSpPr/>
          <p:nvPr/>
        </p:nvSpPr>
        <p:spPr>
          <a:xfrm>
            <a:off x="8439912" y="3803904"/>
            <a:ext cx="969264" cy="292608"/>
          </a:xfrm>
          <a:prstGeom prst="roundRect">
            <a:avLst>
              <a:gd name="adj" fmla="val 18750"/>
            </a:avLst>
          </a:prstGeom>
          <a:solidFill>
            <a:srgbClr val="FFFFFF"/>
          </a:solidFill>
          <a:ln w="12700">
            <a:solidFill>
              <a:srgbClr val="C4D4EA"/>
            </a:solidFill>
            <a:prstDash val="solid"/>
          </a:ln>
        </p:spPr>
      </p:sp>
      <p:sp>
        <p:nvSpPr>
          <p:cNvPr id="37" name="Text 35"/>
          <p:cNvSpPr/>
          <p:nvPr/>
        </p:nvSpPr>
        <p:spPr>
          <a:xfrm>
            <a:off x="8439912" y="3803904"/>
            <a:ext cx="969264" cy="292608"/>
          </a:xfrm>
          <a:prstGeom prst="rect">
            <a:avLst/>
          </a:prstGeom>
          <a:noFill/>
          <a:ln/>
        </p:spPr>
        <p:txBody>
          <a:bodyPr wrap="square" lIns="0" tIns="0" rIns="0" bIns="0" rtlCol="0" anchor="ctr"/>
          <a:lstStyle/>
          <a:p>
            <a:pPr algn="ctr" indent="0" marL="0">
              <a:buNone/>
            </a:pPr>
            <a:r>
              <a:rPr lang="en-US" sz="950" b="1" dirty="0">
                <a:solidFill>
                  <a:srgbClr val="18213D"/>
                </a:solidFill>
                <a:latin typeface="Calibri" pitchFamily="34" charset="0"/>
                <a:ea typeface="Calibri" pitchFamily="34" charset="-122"/>
                <a:cs typeface="Calibri" pitchFamily="34" charset="-120"/>
              </a:rPr>
              <a:t>H</a:t>
            </a:r>
            <a:endParaRPr lang="en-US" sz="950" dirty="0"/>
          </a:p>
        </p:txBody>
      </p:sp>
      <p:sp>
        <p:nvSpPr>
          <p:cNvPr id="38" name="Text 36"/>
          <p:cNvSpPr/>
          <p:nvPr/>
        </p:nvSpPr>
        <p:spPr>
          <a:xfrm>
            <a:off x="9518904" y="3803904"/>
            <a:ext cx="1883664" cy="292608"/>
          </a:xfrm>
          <a:prstGeom prst="rect">
            <a:avLst/>
          </a:prstGeom>
          <a:noFill/>
          <a:ln/>
        </p:spPr>
        <p:txBody>
          <a:bodyPr wrap="square" lIns="0" tIns="0" rIns="0" bIns="0" rtlCol="0" anchor="ctr"/>
          <a:lstStyle/>
          <a:p>
            <a:pPr indent="0" marL="0">
              <a:buNone/>
            </a:pPr>
            <a:r>
              <a:rPr lang="en-US" sz="1100" dirty="0">
                <a:solidFill>
                  <a:srgbClr val="18213D"/>
                </a:solidFill>
                <a:latin typeface="Calibri" pitchFamily="34" charset="0"/>
                <a:ea typeface="Calibri" pitchFamily="34" charset="-122"/>
                <a:cs typeface="Calibri" pitchFamily="34" charset="-120"/>
              </a:rPr>
              <a:t>Help overlay</a:t>
            </a:r>
            <a:endParaRPr lang="en-US" sz="1100" dirty="0"/>
          </a:p>
        </p:txBody>
      </p:sp>
      <p:sp>
        <p:nvSpPr>
          <p:cNvPr id="39" name="Shape 37"/>
          <p:cNvSpPr/>
          <p:nvPr/>
        </p:nvSpPr>
        <p:spPr>
          <a:xfrm>
            <a:off x="8439912" y="4215384"/>
            <a:ext cx="969264" cy="292608"/>
          </a:xfrm>
          <a:prstGeom prst="roundRect">
            <a:avLst>
              <a:gd name="adj" fmla="val 18750"/>
            </a:avLst>
          </a:prstGeom>
          <a:solidFill>
            <a:srgbClr val="FFFFFF"/>
          </a:solidFill>
          <a:ln w="12700">
            <a:solidFill>
              <a:srgbClr val="C4D4EA"/>
            </a:solidFill>
            <a:prstDash val="solid"/>
          </a:ln>
        </p:spPr>
      </p:sp>
      <p:sp>
        <p:nvSpPr>
          <p:cNvPr id="40" name="Text 38"/>
          <p:cNvSpPr/>
          <p:nvPr/>
        </p:nvSpPr>
        <p:spPr>
          <a:xfrm>
            <a:off x="8439912" y="4215384"/>
            <a:ext cx="969264" cy="292608"/>
          </a:xfrm>
          <a:prstGeom prst="rect">
            <a:avLst/>
          </a:prstGeom>
          <a:noFill/>
          <a:ln/>
        </p:spPr>
        <p:txBody>
          <a:bodyPr wrap="square" lIns="0" tIns="0" rIns="0" bIns="0" rtlCol="0" anchor="ctr"/>
          <a:lstStyle/>
          <a:p>
            <a:pPr algn="ctr" indent="0" marL="0">
              <a:buNone/>
            </a:pPr>
            <a:r>
              <a:rPr lang="en-US" sz="950" b="1" dirty="0">
                <a:solidFill>
                  <a:srgbClr val="18213D"/>
                </a:solidFill>
                <a:latin typeface="Calibri" pitchFamily="34" charset="0"/>
                <a:ea typeface="Calibri" pitchFamily="34" charset="-122"/>
                <a:cs typeface="Calibri" pitchFamily="34" charset="-120"/>
              </a:rPr>
              <a:t>R</a:t>
            </a:r>
            <a:endParaRPr lang="en-US" sz="950" dirty="0"/>
          </a:p>
        </p:txBody>
      </p:sp>
      <p:sp>
        <p:nvSpPr>
          <p:cNvPr id="41" name="Text 39"/>
          <p:cNvSpPr/>
          <p:nvPr/>
        </p:nvSpPr>
        <p:spPr>
          <a:xfrm>
            <a:off x="9518904" y="4215384"/>
            <a:ext cx="1883664" cy="292608"/>
          </a:xfrm>
          <a:prstGeom prst="rect">
            <a:avLst/>
          </a:prstGeom>
          <a:noFill/>
          <a:ln/>
        </p:spPr>
        <p:txBody>
          <a:bodyPr wrap="square" lIns="0" tIns="0" rIns="0" bIns="0" rtlCol="0" anchor="ctr"/>
          <a:lstStyle/>
          <a:p>
            <a:pPr indent="0" marL="0">
              <a:buNone/>
            </a:pPr>
            <a:r>
              <a:rPr lang="en-US" sz="1100" dirty="0">
                <a:solidFill>
                  <a:srgbClr val="18213D"/>
                </a:solidFill>
                <a:latin typeface="Calibri" pitchFamily="34" charset="0"/>
                <a:ea typeface="Calibri" pitchFamily="34" charset="-122"/>
                <a:cs typeface="Calibri" pitchFamily="34" charset="-120"/>
              </a:rPr>
              <a:t>Restart</a:t>
            </a:r>
            <a:endParaRPr lang="en-US" sz="1100" dirty="0"/>
          </a:p>
        </p:txBody>
      </p:sp>
      <p:sp>
        <p:nvSpPr>
          <p:cNvPr id="42" name="Shape 40"/>
          <p:cNvSpPr/>
          <p:nvPr/>
        </p:nvSpPr>
        <p:spPr>
          <a:xfrm>
            <a:off x="8439912" y="4626864"/>
            <a:ext cx="969264" cy="292608"/>
          </a:xfrm>
          <a:prstGeom prst="roundRect">
            <a:avLst>
              <a:gd name="adj" fmla="val 18750"/>
            </a:avLst>
          </a:prstGeom>
          <a:solidFill>
            <a:srgbClr val="FFFFFF"/>
          </a:solidFill>
          <a:ln w="12700">
            <a:solidFill>
              <a:srgbClr val="C4D4EA"/>
            </a:solidFill>
            <a:prstDash val="solid"/>
          </a:ln>
        </p:spPr>
      </p:sp>
      <p:sp>
        <p:nvSpPr>
          <p:cNvPr id="43" name="Text 41"/>
          <p:cNvSpPr/>
          <p:nvPr/>
        </p:nvSpPr>
        <p:spPr>
          <a:xfrm>
            <a:off x="8439912" y="4626864"/>
            <a:ext cx="969264" cy="292608"/>
          </a:xfrm>
          <a:prstGeom prst="rect">
            <a:avLst/>
          </a:prstGeom>
          <a:noFill/>
          <a:ln/>
        </p:spPr>
        <p:txBody>
          <a:bodyPr wrap="square" lIns="0" tIns="0" rIns="0" bIns="0" rtlCol="0" anchor="ctr"/>
          <a:lstStyle/>
          <a:p>
            <a:pPr algn="ctr" indent="0" marL="0">
              <a:buNone/>
            </a:pPr>
            <a:r>
              <a:rPr lang="en-US" sz="950" b="1" dirty="0">
                <a:solidFill>
                  <a:srgbClr val="18213D"/>
                </a:solidFill>
                <a:latin typeface="Calibri" pitchFamily="34" charset="0"/>
                <a:ea typeface="Calibri" pitchFamily="34" charset="-122"/>
                <a:cs typeface="Calibri" pitchFamily="34" charset="-120"/>
              </a:rPr>
              <a:t>Q</a:t>
            </a:r>
            <a:endParaRPr lang="en-US" sz="950" dirty="0"/>
          </a:p>
        </p:txBody>
      </p:sp>
      <p:sp>
        <p:nvSpPr>
          <p:cNvPr id="44" name="Text 42"/>
          <p:cNvSpPr/>
          <p:nvPr/>
        </p:nvSpPr>
        <p:spPr>
          <a:xfrm>
            <a:off x="9518904" y="4626864"/>
            <a:ext cx="1883664" cy="292608"/>
          </a:xfrm>
          <a:prstGeom prst="rect">
            <a:avLst/>
          </a:prstGeom>
          <a:noFill/>
          <a:ln/>
        </p:spPr>
        <p:txBody>
          <a:bodyPr wrap="square" lIns="0" tIns="0" rIns="0" bIns="0" rtlCol="0" anchor="ctr"/>
          <a:lstStyle/>
          <a:p>
            <a:pPr indent="0" marL="0">
              <a:buNone/>
            </a:pPr>
            <a:r>
              <a:rPr lang="en-US" sz="1100" dirty="0">
                <a:solidFill>
                  <a:srgbClr val="18213D"/>
                </a:solidFill>
                <a:latin typeface="Calibri" pitchFamily="34" charset="0"/>
                <a:ea typeface="Calibri" pitchFamily="34" charset="-122"/>
                <a:cs typeface="Calibri" pitchFamily="34" charset="-120"/>
              </a:rPr>
              <a:t>Quit</a:t>
            </a:r>
            <a:endParaRPr lang="en-US" sz="1100" dirty="0"/>
          </a:p>
        </p:txBody>
      </p:sp>
      <p:sp>
        <p:nvSpPr>
          <p:cNvPr id="45" name="Shape 43"/>
          <p:cNvSpPr/>
          <p:nvPr/>
        </p:nvSpPr>
        <p:spPr>
          <a:xfrm>
            <a:off x="8183880" y="5285232"/>
            <a:ext cx="3474720" cy="676656"/>
          </a:xfrm>
          <a:prstGeom prst="roundRect">
            <a:avLst>
              <a:gd name="adj" fmla="val 8108"/>
            </a:avLst>
          </a:prstGeom>
          <a:solidFill>
            <a:srgbClr val="FDF3E0"/>
          </a:solidFill>
          <a:ln w="12700">
            <a:solidFill>
              <a:srgbClr val="F2DCB4"/>
            </a:solidFill>
            <a:prstDash val="solid"/>
          </a:ln>
          <a:effectLst>
            <a:outerShdw sx="100000" sy="100000" kx="0" ky="0" algn="bl" rotWithShape="0" blurRad="127000" dist="25400" dir="5400000">
              <a:srgbClr val="8FA3C4">
                <a:alpha val="28000"/>
              </a:srgbClr>
            </a:outerShdw>
          </a:effectLst>
        </p:spPr>
      </p:sp>
      <p:sp>
        <p:nvSpPr>
          <p:cNvPr id="46" name="Text 44"/>
          <p:cNvSpPr/>
          <p:nvPr/>
        </p:nvSpPr>
        <p:spPr>
          <a:xfrm>
            <a:off x="8439912" y="5413248"/>
            <a:ext cx="2962656" cy="457200"/>
          </a:xfrm>
          <a:prstGeom prst="rect">
            <a:avLst/>
          </a:prstGeom>
          <a:noFill/>
          <a:ln/>
        </p:spPr>
        <p:txBody>
          <a:bodyPr wrap="square" lIns="0" tIns="0" rIns="0" bIns="0" rtlCol="0" anchor="t"/>
          <a:lstStyle/>
          <a:p>
            <a:pPr indent="0" marL="0">
              <a:lnSpc>
                <a:spcPts val="1400"/>
              </a:lnSpc>
              <a:buNone/>
            </a:pPr>
            <a:r>
              <a:rPr lang="en-US" sz="1100" dirty="0">
                <a:solidFill>
                  <a:srgbClr val="8A6314"/>
                </a:solidFill>
                <a:latin typeface="Calibri" pitchFamily="34" charset="0"/>
                <a:ea typeface="Calibri" pitchFamily="34" charset="-122"/>
                <a:cs typeface="Calibri" pitchFamily="34" charset="-120"/>
              </a:rPr>
              <a:t>Clear three waves to win. Three lives, brief invulnerability on respawn.   Keys 1 / 2 / 3 install and uninstall the Player, Enemy and Weapon components while the game runs.</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8213D"/>
        </a:solidFill>
      </p:bgPr>
    </p:bg>
    <p:spTree>
      <p:nvGrpSpPr>
        <p:cNvPr id="1" name=""/>
        <p:cNvGrpSpPr/>
        <p:nvPr/>
      </p:nvGrpSpPr>
      <p:grpSpPr>
        <a:xfrm>
          <a:off x="0" y="0"/>
          <a:ext cx="0" cy="0"/>
          <a:chOff x="0" y="0"/>
          <a:chExt cx="0" cy="0"/>
        </a:xfrm>
      </p:grpSpPr>
      <p:sp>
        <p:nvSpPr>
          <p:cNvPr id="2" name="Text 0"/>
          <p:cNvSpPr/>
          <p:nvPr/>
        </p:nvSpPr>
        <p:spPr>
          <a:xfrm>
            <a:off x="502920" y="502920"/>
            <a:ext cx="8686800" cy="64008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All Nine Labs Delivered</a:t>
            </a:r>
            <a:endParaRPr lang="en-US" sz="3600" dirty="0"/>
          </a:p>
        </p:txBody>
      </p:sp>
      <p:sp>
        <p:nvSpPr>
          <p:cNvPr id="3" name="Text 1"/>
          <p:cNvSpPr/>
          <p:nvPr/>
        </p:nvSpPr>
        <p:spPr>
          <a:xfrm>
            <a:off x="502920" y="1115568"/>
            <a:ext cx="8686800" cy="310896"/>
          </a:xfrm>
          <a:prstGeom prst="rect">
            <a:avLst/>
          </a:prstGeom>
          <a:noFill/>
          <a:ln/>
        </p:spPr>
        <p:txBody>
          <a:bodyPr wrap="square" lIns="0" tIns="0" rIns="0" bIns="0" rtlCol="0" anchor="ctr"/>
          <a:lstStyle/>
          <a:p>
            <a:pPr indent="0" marL="0">
              <a:buNone/>
            </a:pPr>
            <a:r>
              <a:rPr lang="en-US" sz="1450" dirty="0">
                <a:solidFill>
                  <a:srgbClr val="9FB6D8"/>
                </a:solidFill>
                <a:latin typeface="Calibri" pitchFamily="34" charset="0"/>
                <a:ea typeface="Calibri" pitchFamily="34" charset="-122"/>
                <a:cs typeface="Calibri" pitchFamily="34" charset="-120"/>
              </a:rPr>
              <a:t>Every lab requirement traced to working code in the repository</a:t>
            </a:r>
            <a:endParaRPr lang="en-US" sz="1450" dirty="0"/>
          </a:p>
        </p:txBody>
      </p:sp>
      <p:sp>
        <p:nvSpPr>
          <p:cNvPr id="4" name="Shape 2"/>
          <p:cNvSpPr/>
          <p:nvPr/>
        </p:nvSpPr>
        <p:spPr>
          <a:xfrm>
            <a:off x="502920" y="1645920"/>
            <a:ext cx="3538728" cy="932688"/>
          </a:xfrm>
          <a:prstGeom prst="roundRect">
            <a:avLst>
              <a:gd name="adj" fmla="val 5882"/>
            </a:avLst>
          </a:prstGeom>
          <a:solidFill>
            <a:srgbClr val="1F2A4C"/>
          </a:solidFill>
          <a:ln w="12700">
            <a:solidFill>
              <a:srgbClr val="2E3C64"/>
            </a:solidFill>
            <a:prstDash val="solid"/>
          </a:ln>
        </p:spPr>
      </p:sp>
      <p:sp>
        <p:nvSpPr>
          <p:cNvPr id="5" name="Shape 3"/>
          <p:cNvSpPr/>
          <p:nvPr/>
        </p:nvSpPr>
        <p:spPr>
          <a:xfrm>
            <a:off x="704088" y="1911096"/>
            <a:ext cx="402336" cy="402336"/>
          </a:xfrm>
          <a:prstGeom prst="ellipse">
            <a:avLst/>
          </a:prstGeom>
          <a:solidFill>
            <a:srgbClr val="18213D"/>
          </a:solidFill>
          <a:ln w="19050">
            <a:solidFill>
              <a:srgbClr val="F5A623"/>
            </a:solidFill>
            <a:prstDash val="solid"/>
          </a:ln>
        </p:spPr>
      </p:sp>
      <p:sp>
        <p:nvSpPr>
          <p:cNvPr id="6" name="Text 4"/>
          <p:cNvSpPr/>
          <p:nvPr/>
        </p:nvSpPr>
        <p:spPr>
          <a:xfrm>
            <a:off x="704088" y="1911096"/>
            <a:ext cx="402336" cy="402336"/>
          </a:xfrm>
          <a:prstGeom prst="rect">
            <a:avLst/>
          </a:prstGeom>
          <a:noFill/>
          <a:ln/>
        </p:spPr>
        <p:txBody>
          <a:bodyPr wrap="square" lIns="0" tIns="0" rIns="0" bIns="0" rtlCol="0" anchor="ctr"/>
          <a:lstStyle/>
          <a:p>
            <a:pPr algn="ctr" indent="0" marL="0">
              <a:buNone/>
            </a:pPr>
            <a:r>
              <a:rPr lang="en-US" sz="1400" b="1" dirty="0">
                <a:solidFill>
                  <a:srgbClr val="F5A623"/>
                </a:solidFill>
                <a:latin typeface="Cambria" pitchFamily="34" charset="0"/>
                <a:ea typeface="Cambria" pitchFamily="34" charset="-122"/>
                <a:cs typeface="Cambria" pitchFamily="34" charset="-120"/>
              </a:rPr>
              <a:t>1</a:t>
            </a:r>
            <a:endParaRPr lang="en-US" sz="1400" dirty="0"/>
          </a:p>
        </p:txBody>
      </p:sp>
      <p:sp>
        <p:nvSpPr>
          <p:cNvPr id="7" name="Text 5"/>
          <p:cNvSpPr/>
          <p:nvPr/>
        </p:nvSpPr>
        <p:spPr>
          <a:xfrm>
            <a:off x="1234440" y="1865376"/>
            <a:ext cx="2606040" cy="274320"/>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IntroLab</a:t>
            </a:r>
            <a:endParaRPr lang="en-US" sz="1400" dirty="0"/>
          </a:p>
        </p:txBody>
      </p:sp>
      <p:sp>
        <p:nvSpPr>
          <p:cNvPr id="8" name="Text 6"/>
          <p:cNvSpPr/>
          <p:nvPr/>
        </p:nvSpPr>
        <p:spPr>
          <a:xfrm>
            <a:off x="1234440" y="2148840"/>
            <a:ext cx="2606040" cy="274320"/>
          </a:xfrm>
          <a:prstGeom prst="rect">
            <a:avLst/>
          </a:prstGeom>
          <a:noFill/>
          <a:ln/>
        </p:spPr>
        <p:txBody>
          <a:bodyPr wrap="square" lIns="0" tIns="0" rIns="0" bIns="0" rtlCol="0" anchor="ctr"/>
          <a:lstStyle/>
          <a:p>
            <a:pPr indent="0" marL="0">
              <a:buNone/>
            </a:pPr>
            <a:r>
              <a:rPr lang="en-US" sz="1050" dirty="0">
                <a:solidFill>
                  <a:srgbClr val="9FB6D8"/>
                </a:solidFill>
                <a:latin typeface="Calibri" pitchFamily="34" charset="0"/>
                <a:ea typeface="Calibri" pitchFamily="34" charset="-122"/>
                <a:cs typeface="Calibri" pitchFamily="34" charset="-120"/>
              </a:rPr>
              <a:t>JavaFX game, random enemy</a:t>
            </a:r>
            <a:endParaRPr lang="en-US" sz="1050" dirty="0"/>
          </a:p>
        </p:txBody>
      </p:sp>
      <p:sp>
        <p:nvSpPr>
          <p:cNvPr id="9" name="Shape 7"/>
          <p:cNvSpPr/>
          <p:nvPr/>
        </p:nvSpPr>
        <p:spPr>
          <a:xfrm>
            <a:off x="4306824" y="1645920"/>
            <a:ext cx="3538728" cy="932688"/>
          </a:xfrm>
          <a:prstGeom prst="roundRect">
            <a:avLst>
              <a:gd name="adj" fmla="val 5882"/>
            </a:avLst>
          </a:prstGeom>
          <a:solidFill>
            <a:srgbClr val="1F2A4C"/>
          </a:solidFill>
          <a:ln w="12700">
            <a:solidFill>
              <a:srgbClr val="2E3C64"/>
            </a:solidFill>
            <a:prstDash val="solid"/>
          </a:ln>
        </p:spPr>
      </p:sp>
      <p:sp>
        <p:nvSpPr>
          <p:cNvPr id="10" name="Shape 8"/>
          <p:cNvSpPr/>
          <p:nvPr/>
        </p:nvSpPr>
        <p:spPr>
          <a:xfrm>
            <a:off x="4507992" y="1911096"/>
            <a:ext cx="402336" cy="402336"/>
          </a:xfrm>
          <a:prstGeom prst="ellipse">
            <a:avLst/>
          </a:prstGeom>
          <a:solidFill>
            <a:srgbClr val="18213D"/>
          </a:solidFill>
          <a:ln w="19050">
            <a:solidFill>
              <a:srgbClr val="F5A623"/>
            </a:solidFill>
            <a:prstDash val="solid"/>
          </a:ln>
        </p:spPr>
      </p:sp>
      <p:sp>
        <p:nvSpPr>
          <p:cNvPr id="11" name="Text 9"/>
          <p:cNvSpPr/>
          <p:nvPr/>
        </p:nvSpPr>
        <p:spPr>
          <a:xfrm>
            <a:off x="4507992" y="1911096"/>
            <a:ext cx="402336" cy="402336"/>
          </a:xfrm>
          <a:prstGeom prst="rect">
            <a:avLst/>
          </a:prstGeom>
          <a:noFill/>
          <a:ln/>
        </p:spPr>
        <p:txBody>
          <a:bodyPr wrap="square" lIns="0" tIns="0" rIns="0" bIns="0" rtlCol="0" anchor="ctr"/>
          <a:lstStyle/>
          <a:p>
            <a:pPr algn="ctr" indent="0" marL="0">
              <a:buNone/>
            </a:pPr>
            <a:r>
              <a:rPr lang="en-US" sz="1400" b="1" dirty="0">
                <a:solidFill>
                  <a:srgbClr val="F5A623"/>
                </a:solidFill>
                <a:latin typeface="Cambria" pitchFamily="34" charset="0"/>
                <a:ea typeface="Cambria" pitchFamily="34" charset="-122"/>
                <a:cs typeface="Cambria" pitchFamily="34" charset="-120"/>
              </a:rPr>
              <a:t>2</a:t>
            </a:r>
            <a:endParaRPr lang="en-US" sz="1400" dirty="0"/>
          </a:p>
        </p:txBody>
      </p:sp>
      <p:sp>
        <p:nvSpPr>
          <p:cNvPr id="12" name="Text 10"/>
          <p:cNvSpPr/>
          <p:nvPr/>
        </p:nvSpPr>
        <p:spPr>
          <a:xfrm>
            <a:off x="5038344" y="1865376"/>
            <a:ext cx="2606040" cy="274320"/>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GameLab</a:t>
            </a:r>
            <a:endParaRPr lang="en-US" sz="1400" dirty="0"/>
          </a:p>
        </p:txBody>
      </p:sp>
      <p:sp>
        <p:nvSpPr>
          <p:cNvPr id="13" name="Text 11"/>
          <p:cNvSpPr/>
          <p:nvPr/>
        </p:nvSpPr>
        <p:spPr>
          <a:xfrm>
            <a:off x="5038344" y="2148840"/>
            <a:ext cx="2606040" cy="274320"/>
          </a:xfrm>
          <a:prstGeom prst="rect">
            <a:avLst/>
          </a:prstGeom>
          <a:noFill/>
          <a:ln/>
        </p:spPr>
        <p:txBody>
          <a:bodyPr wrap="square" lIns="0" tIns="0" rIns="0" bIns="0" rtlCol="0" anchor="ctr"/>
          <a:lstStyle/>
          <a:p>
            <a:pPr indent="0" marL="0">
              <a:buNone/>
            </a:pPr>
            <a:r>
              <a:rPr lang="en-US" sz="1050" dirty="0">
                <a:solidFill>
                  <a:srgbClr val="9FB6D8"/>
                </a:solidFill>
                <a:latin typeface="Calibri" pitchFamily="34" charset="0"/>
                <a:ea typeface="Calibri" pitchFamily="34" charset="-122"/>
                <a:cs typeface="Calibri" pitchFamily="34" charset="-120"/>
              </a:rPr>
              <a:t>Contracts, collision, splitting</a:t>
            </a:r>
            <a:endParaRPr lang="en-US" sz="1050" dirty="0"/>
          </a:p>
        </p:txBody>
      </p:sp>
      <p:sp>
        <p:nvSpPr>
          <p:cNvPr id="14" name="Shape 12"/>
          <p:cNvSpPr/>
          <p:nvPr/>
        </p:nvSpPr>
        <p:spPr>
          <a:xfrm>
            <a:off x="8110728" y="1645920"/>
            <a:ext cx="3538728" cy="932688"/>
          </a:xfrm>
          <a:prstGeom prst="roundRect">
            <a:avLst>
              <a:gd name="adj" fmla="val 5882"/>
            </a:avLst>
          </a:prstGeom>
          <a:solidFill>
            <a:srgbClr val="1F2A4C"/>
          </a:solidFill>
          <a:ln w="12700">
            <a:solidFill>
              <a:srgbClr val="2E3C64"/>
            </a:solidFill>
            <a:prstDash val="solid"/>
          </a:ln>
        </p:spPr>
      </p:sp>
      <p:sp>
        <p:nvSpPr>
          <p:cNvPr id="15" name="Shape 13"/>
          <p:cNvSpPr/>
          <p:nvPr/>
        </p:nvSpPr>
        <p:spPr>
          <a:xfrm>
            <a:off x="8311896" y="1911096"/>
            <a:ext cx="402336" cy="402336"/>
          </a:xfrm>
          <a:prstGeom prst="ellipse">
            <a:avLst/>
          </a:prstGeom>
          <a:solidFill>
            <a:srgbClr val="18213D"/>
          </a:solidFill>
          <a:ln w="19050">
            <a:solidFill>
              <a:srgbClr val="F5A623"/>
            </a:solidFill>
            <a:prstDash val="solid"/>
          </a:ln>
        </p:spPr>
      </p:sp>
      <p:sp>
        <p:nvSpPr>
          <p:cNvPr id="16" name="Text 14"/>
          <p:cNvSpPr/>
          <p:nvPr/>
        </p:nvSpPr>
        <p:spPr>
          <a:xfrm>
            <a:off x="8311896" y="1911096"/>
            <a:ext cx="402336" cy="402336"/>
          </a:xfrm>
          <a:prstGeom prst="rect">
            <a:avLst/>
          </a:prstGeom>
          <a:noFill/>
          <a:ln/>
        </p:spPr>
        <p:txBody>
          <a:bodyPr wrap="square" lIns="0" tIns="0" rIns="0" bIns="0" rtlCol="0" anchor="ctr"/>
          <a:lstStyle/>
          <a:p>
            <a:pPr algn="ctr" indent="0" marL="0">
              <a:buNone/>
            </a:pPr>
            <a:r>
              <a:rPr lang="en-US" sz="1400" b="1" dirty="0">
                <a:solidFill>
                  <a:srgbClr val="F5A623"/>
                </a:solidFill>
                <a:latin typeface="Cambria" pitchFamily="34" charset="0"/>
                <a:ea typeface="Cambria" pitchFamily="34" charset="-122"/>
                <a:cs typeface="Cambria" pitchFamily="34" charset="-120"/>
              </a:rPr>
              <a:t>3</a:t>
            </a:r>
            <a:endParaRPr lang="en-US" sz="1400" dirty="0"/>
          </a:p>
        </p:txBody>
      </p:sp>
      <p:sp>
        <p:nvSpPr>
          <p:cNvPr id="17" name="Text 15"/>
          <p:cNvSpPr/>
          <p:nvPr/>
        </p:nvSpPr>
        <p:spPr>
          <a:xfrm>
            <a:off x="8842248" y="1865376"/>
            <a:ext cx="2606040" cy="274320"/>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JavaLab</a:t>
            </a:r>
            <a:endParaRPr lang="en-US" sz="1400" dirty="0"/>
          </a:p>
        </p:txBody>
      </p:sp>
      <p:sp>
        <p:nvSpPr>
          <p:cNvPr id="18" name="Text 16"/>
          <p:cNvSpPr/>
          <p:nvPr/>
        </p:nvSpPr>
        <p:spPr>
          <a:xfrm>
            <a:off x="8842248" y="2148840"/>
            <a:ext cx="2606040" cy="274320"/>
          </a:xfrm>
          <a:prstGeom prst="rect">
            <a:avLst/>
          </a:prstGeom>
          <a:noFill/>
          <a:ln/>
        </p:spPr>
        <p:txBody>
          <a:bodyPr wrap="square" lIns="0" tIns="0" rIns="0" bIns="0" rtlCol="0" anchor="ctr"/>
          <a:lstStyle/>
          <a:p>
            <a:pPr indent="0" marL="0">
              <a:buNone/>
            </a:pPr>
            <a:r>
              <a:rPr lang="en-US" sz="1050" dirty="0">
                <a:solidFill>
                  <a:srgbClr val="9FB6D8"/>
                </a:solidFill>
                <a:latin typeface="Calibri" pitchFamily="34" charset="0"/>
                <a:ea typeface="Calibri" pitchFamily="34" charset="-122"/>
                <a:cs typeface="Calibri" pitchFamily="34" charset="-120"/>
              </a:rPr>
              <a:t>ServiceLoader assembly</a:t>
            </a:r>
            <a:endParaRPr lang="en-US" sz="1050" dirty="0"/>
          </a:p>
        </p:txBody>
      </p:sp>
      <p:sp>
        <p:nvSpPr>
          <p:cNvPr id="19" name="Shape 17"/>
          <p:cNvSpPr/>
          <p:nvPr/>
        </p:nvSpPr>
        <p:spPr>
          <a:xfrm>
            <a:off x="502920" y="2761488"/>
            <a:ext cx="3538728" cy="932688"/>
          </a:xfrm>
          <a:prstGeom prst="roundRect">
            <a:avLst>
              <a:gd name="adj" fmla="val 5882"/>
            </a:avLst>
          </a:prstGeom>
          <a:solidFill>
            <a:srgbClr val="1F2A4C"/>
          </a:solidFill>
          <a:ln w="12700">
            <a:solidFill>
              <a:srgbClr val="2E3C64"/>
            </a:solidFill>
            <a:prstDash val="solid"/>
          </a:ln>
        </p:spPr>
      </p:sp>
      <p:sp>
        <p:nvSpPr>
          <p:cNvPr id="20" name="Shape 18"/>
          <p:cNvSpPr/>
          <p:nvPr/>
        </p:nvSpPr>
        <p:spPr>
          <a:xfrm>
            <a:off x="704088" y="3026664"/>
            <a:ext cx="402336" cy="402336"/>
          </a:xfrm>
          <a:prstGeom prst="ellipse">
            <a:avLst/>
          </a:prstGeom>
          <a:solidFill>
            <a:srgbClr val="18213D"/>
          </a:solidFill>
          <a:ln w="19050">
            <a:solidFill>
              <a:srgbClr val="F5A623"/>
            </a:solidFill>
            <a:prstDash val="solid"/>
          </a:ln>
        </p:spPr>
      </p:sp>
      <p:sp>
        <p:nvSpPr>
          <p:cNvPr id="21" name="Text 19"/>
          <p:cNvSpPr/>
          <p:nvPr/>
        </p:nvSpPr>
        <p:spPr>
          <a:xfrm>
            <a:off x="704088" y="3026664"/>
            <a:ext cx="402336" cy="402336"/>
          </a:xfrm>
          <a:prstGeom prst="rect">
            <a:avLst/>
          </a:prstGeom>
          <a:noFill/>
          <a:ln/>
        </p:spPr>
        <p:txBody>
          <a:bodyPr wrap="square" lIns="0" tIns="0" rIns="0" bIns="0" rtlCol="0" anchor="ctr"/>
          <a:lstStyle/>
          <a:p>
            <a:pPr algn="ctr" indent="0" marL="0">
              <a:buNone/>
            </a:pPr>
            <a:r>
              <a:rPr lang="en-US" sz="1400" b="1" dirty="0">
                <a:solidFill>
                  <a:srgbClr val="F5A623"/>
                </a:solidFill>
                <a:latin typeface="Cambria" pitchFamily="34" charset="0"/>
                <a:ea typeface="Cambria" pitchFamily="34" charset="-122"/>
                <a:cs typeface="Cambria" pitchFamily="34" charset="-120"/>
              </a:rPr>
              <a:t>4</a:t>
            </a:r>
            <a:endParaRPr lang="en-US" sz="1400" dirty="0"/>
          </a:p>
        </p:txBody>
      </p:sp>
      <p:sp>
        <p:nvSpPr>
          <p:cNvPr id="22" name="Text 20"/>
          <p:cNvSpPr/>
          <p:nvPr/>
        </p:nvSpPr>
        <p:spPr>
          <a:xfrm>
            <a:off x="1234440" y="2980944"/>
            <a:ext cx="2606040" cy="274320"/>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JPMSLab 1</a:t>
            </a:r>
            <a:endParaRPr lang="en-US" sz="1400" dirty="0"/>
          </a:p>
        </p:txBody>
      </p:sp>
      <p:sp>
        <p:nvSpPr>
          <p:cNvPr id="23" name="Text 21"/>
          <p:cNvSpPr/>
          <p:nvPr/>
        </p:nvSpPr>
        <p:spPr>
          <a:xfrm>
            <a:off x="1234440" y="3264408"/>
            <a:ext cx="2606040" cy="274320"/>
          </a:xfrm>
          <a:prstGeom prst="rect">
            <a:avLst/>
          </a:prstGeom>
          <a:noFill/>
          <a:ln/>
        </p:spPr>
        <p:txBody>
          <a:bodyPr wrap="square" lIns="0" tIns="0" rIns="0" bIns="0" rtlCol="0" anchor="ctr"/>
          <a:lstStyle/>
          <a:p>
            <a:pPr indent="0" marL="0">
              <a:buNone/>
            </a:pPr>
            <a:r>
              <a:rPr lang="en-US" sz="1050" dirty="0">
                <a:solidFill>
                  <a:srgbClr val="9FB6D8"/>
                </a:solidFill>
                <a:latin typeface="Calibri" pitchFamily="34" charset="0"/>
                <a:ea typeface="Calibri" pitchFamily="34" charset="-122"/>
                <a:cs typeface="Calibri" pitchFamily="34" charset="-120"/>
              </a:rPr>
              <a:t>requires and exports</a:t>
            </a:r>
            <a:endParaRPr lang="en-US" sz="1050" dirty="0"/>
          </a:p>
        </p:txBody>
      </p:sp>
      <p:sp>
        <p:nvSpPr>
          <p:cNvPr id="24" name="Shape 22"/>
          <p:cNvSpPr/>
          <p:nvPr/>
        </p:nvSpPr>
        <p:spPr>
          <a:xfrm>
            <a:off x="4306824" y="2761488"/>
            <a:ext cx="3538728" cy="932688"/>
          </a:xfrm>
          <a:prstGeom prst="roundRect">
            <a:avLst>
              <a:gd name="adj" fmla="val 5882"/>
            </a:avLst>
          </a:prstGeom>
          <a:solidFill>
            <a:srgbClr val="1F2A4C"/>
          </a:solidFill>
          <a:ln w="12700">
            <a:solidFill>
              <a:srgbClr val="2E3C64"/>
            </a:solidFill>
            <a:prstDash val="solid"/>
          </a:ln>
        </p:spPr>
      </p:sp>
      <p:sp>
        <p:nvSpPr>
          <p:cNvPr id="25" name="Shape 23"/>
          <p:cNvSpPr/>
          <p:nvPr/>
        </p:nvSpPr>
        <p:spPr>
          <a:xfrm>
            <a:off x="4507992" y="3026664"/>
            <a:ext cx="402336" cy="402336"/>
          </a:xfrm>
          <a:prstGeom prst="ellipse">
            <a:avLst/>
          </a:prstGeom>
          <a:solidFill>
            <a:srgbClr val="18213D"/>
          </a:solidFill>
          <a:ln w="19050">
            <a:solidFill>
              <a:srgbClr val="F5A623"/>
            </a:solidFill>
            <a:prstDash val="solid"/>
          </a:ln>
        </p:spPr>
      </p:sp>
      <p:sp>
        <p:nvSpPr>
          <p:cNvPr id="26" name="Text 24"/>
          <p:cNvSpPr/>
          <p:nvPr/>
        </p:nvSpPr>
        <p:spPr>
          <a:xfrm>
            <a:off x="4507992" y="3026664"/>
            <a:ext cx="402336" cy="402336"/>
          </a:xfrm>
          <a:prstGeom prst="rect">
            <a:avLst/>
          </a:prstGeom>
          <a:noFill/>
          <a:ln/>
        </p:spPr>
        <p:txBody>
          <a:bodyPr wrap="square" lIns="0" tIns="0" rIns="0" bIns="0" rtlCol="0" anchor="ctr"/>
          <a:lstStyle/>
          <a:p>
            <a:pPr algn="ctr" indent="0" marL="0">
              <a:buNone/>
            </a:pPr>
            <a:r>
              <a:rPr lang="en-US" sz="1400" b="1" dirty="0">
                <a:solidFill>
                  <a:srgbClr val="F5A623"/>
                </a:solidFill>
                <a:latin typeface="Cambria" pitchFamily="34" charset="0"/>
                <a:ea typeface="Cambria" pitchFamily="34" charset="-122"/>
                <a:cs typeface="Cambria" pitchFamily="34" charset="-120"/>
              </a:rPr>
              <a:t>5</a:t>
            </a:r>
            <a:endParaRPr lang="en-US" sz="1400" dirty="0"/>
          </a:p>
        </p:txBody>
      </p:sp>
      <p:sp>
        <p:nvSpPr>
          <p:cNvPr id="27" name="Text 25"/>
          <p:cNvSpPr/>
          <p:nvPr/>
        </p:nvSpPr>
        <p:spPr>
          <a:xfrm>
            <a:off x="5038344" y="2980944"/>
            <a:ext cx="2606040" cy="274320"/>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JPMSLab 2</a:t>
            </a:r>
            <a:endParaRPr lang="en-US" sz="1400" dirty="0"/>
          </a:p>
        </p:txBody>
      </p:sp>
      <p:sp>
        <p:nvSpPr>
          <p:cNvPr id="28" name="Text 26"/>
          <p:cNvSpPr/>
          <p:nvPr/>
        </p:nvSpPr>
        <p:spPr>
          <a:xfrm>
            <a:off x="5038344" y="3264408"/>
            <a:ext cx="2606040" cy="274320"/>
          </a:xfrm>
          <a:prstGeom prst="rect">
            <a:avLst/>
          </a:prstGeom>
          <a:noFill/>
          <a:ln/>
        </p:spPr>
        <p:txBody>
          <a:bodyPr wrap="square" lIns="0" tIns="0" rIns="0" bIns="0" rtlCol="0" anchor="ctr"/>
          <a:lstStyle/>
          <a:p>
            <a:pPr indent="0" marL="0">
              <a:buNone/>
            </a:pPr>
            <a:r>
              <a:rPr lang="en-US" sz="1050" dirty="0">
                <a:solidFill>
                  <a:srgbClr val="9FB6D8"/>
                </a:solidFill>
                <a:latin typeface="Calibri" pitchFamily="34" charset="0"/>
                <a:ea typeface="Calibri" pitchFamily="34" charset="-122"/>
                <a:cs typeface="Calibri" pitchFamily="34" charset="-120"/>
              </a:rPr>
              <a:t>provides ... with, uses</a:t>
            </a:r>
            <a:endParaRPr lang="en-US" sz="1050" dirty="0"/>
          </a:p>
        </p:txBody>
      </p:sp>
      <p:sp>
        <p:nvSpPr>
          <p:cNvPr id="29" name="Shape 27"/>
          <p:cNvSpPr/>
          <p:nvPr/>
        </p:nvSpPr>
        <p:spPr>
          <a:xfrm>
            <a:off x="8110728" y="2761488"/>
            <a:ext cx="3538728" cy="932688"/>
          </a:xfrm>
          <a:prstGeom prst="roundRect">
            <a:avLst>
              <a:gd name="adj" fmla="val 5882"/>
            </a:avLst>
          </a:prstGeom>
          <a:solidFill>
            <a:srgbClr val="1F2A4C"/>
          </a:solidFill>
          <a:ln w="12700">
            <a:solidFill>
              <a:srgbClr val="2E3C64"/>
            </a:solidFill>
            <a:prstDash val="solid"/>
          </a:ln>
        </p:spPr>
      </p:sp>
      <p:sp>
        <p:nvSpPr>
          <p:cNvPr id="30" name="Shape 28"/>
          <p:cNvSpPr/>
          <p:nvPr/>
        </p:nvSpPr>
        <p:spPr>
          <a:xfrm>
            <a:off x="8311896" y="3026664"/>
            <a:ext cx="402336" cy="402336"/>
          </a:xfrm>
          <a:prstGeom prst="ellipse">
            <a:avLst/>
          </a:prstGeom>
          <a:solidFill>
            <a:srgbClr val="18213D"/>
          </a:solidFill>
          <a:ln w="19050">
            <a:solidFill>
              <a:srgbClr val="F5A623"/>
            </a:solidFill>
            <a:prstDash val="solid"/>
          </a:ln>
        </p:spPr>
      </p:sp>
      <p:sp>
        <p:nvSpPr>
          <p:cNvPr id="31" name="Text 29"/>
          <p:cNvSpPr/>
          <p:nvPr/>
        </p:nvSpPr>
        <p:spPr>
          <a:xfrm>
            <a:off x="8311896" y="3026664"/>
            <a:ext cx="402336" cy="402336"/>
          </a:xfrm>
          <a:prstGeom prst="rect">
            <a:avLst/>
          </a:prstGeom>
          <a:noFill/>
          <a:ln/>
        </p:spPr>
        <p:txBody>
          <a:bodyPr wrap="square" lIns="0" tIns="0" rIns="0" bIns="0" rtlCol="0" anchor="ctr"/>
          <a:lstStyle/>
          <a:p>
            <a:pPr algn="ctr" indent="0" marL="0">
              <a:buNone/>
            </a:pPr>
            <a:r>
              <a:rPr lang="en-US" sz="1400" b="1" dirty="0">
                <a:solidFill>
                  <a:srgbClr val="F5A623"/>
                </a:solidFill>
                <a:latin typeface="Cambria" pitchFamily="34" charset="0"/>
                <a:ea typeface="Cambria" pitchFamily="34" charset="-122"/>
                <a:cs typeface="Cambria" pitchFamily="34" charset="-120"/>
              </a:rPr>
              <a:t>6</a:t>
            </a:r>
            <a:endParaRPr lang="en-US" sz="1400" dirty="0"/>
          </a:p>
        </p:txBody>
      </p:sp>
      <p:sp>
        <p:nvSpPr>
          <p:cNvPr id="32" name="Text 30"/>
          <p:cNvSpPr/>
          <p:nvPr/>
        </p:nvSpPr>
        <p:spPr>
          <a:xfrm>
            <a:off x="8842248" y="2980944"/>
            <a:ext cx="2606040" cy="274320"/>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JPMSLab 3</a:t>
            </a:r>
            <a:endParaRPr lang="en-US" sz="1400" dirty="0"/>
          </a:p>
        </p:txBody>
      </p:sp>
      <p:sp>
        <p:nvSpPr>
          <p:cNvPr id="33" name="Text 31"/>
          <p:cNvSpPr/>
          <p:nvPr/>
        </p:nvSpPr>
        <p:spPr>
          <a:xfrm>
            <a:off x="8842248" y="3264408"/>
            <a:ext cx="2606040" cy="274320"/>
          </a:xfrm>
          <a:prstGeom prst="rect">
            <a:avLst/>
          </a:prstGeom>
          <a:noFill/>
          <a:ln/>
        </p:spPr>
        <p:txBody>
          <a:bodyPr wrap="square" lIns="0" tIns="0" rIns="0" bIns="0" rtlCol="0" anchor="ctr"/>
          <a:lstStyle/>
          <a:p>
            <a:pPr indent="0" marL="0">
              <a:buNone/>
            </a:pPr>
            <a:r>
              <a:rPr lang="en-US" sz="1050" dirty="0">
                <a:solidFill>
                  <a:srgbClr val="9FB6D8"/>
                </a:solidFill>
                <a:latin typeface="Calibri" pitchFamily="34" charset="0"/>
                <a:ea typeface="Calibri" pitchFamily="34" charset="-122"/>
                <a:cs typeface="Calibri" pitchFamily="34" charset="-120"/>
              </a:rPr>
              <a:t>ModuleLayer, split packages</a:t>
            </a:r>
            <a:endParaRPr lang="en-US" sz="1050" dirty="0"/>
          </a:p>
        </p:txBody>
      </p:sp>
      <p:sp>
        <p:nvSpPr>
          <p:cNvPr id="34" name="Shape 32"/>
          <p:cNvSpPr/>
          <p:nvPr/>
        </p:nvSpPr>
        <p:spPr>
          <a:xfrm>
            <a:off x="502920" y="3877056"/>
            <a:ext cx="3538728" cy="932688"/>
          </a:xfrm>
          <a:prstGeom prst="roundRect">
            <a:avLst>
              <a:gd name="adj" fmla="val 5882"/>
            </a:avLst>
          </a:prstGeom>
          <a:solidFill>
            <a:srgbClr val="1F2A4C"/>
          </a:solidFill>
          <a:ln w="12700">
            <a:solidFill>
              <a:srgbClr val="2E3C64"/>
            </a:solidFill>
            <a:prstDash val="solid"/>
          </a:ln>
        </p:spPr>
      </p:sp>
      <p:sp>
        <p:nvSpPr>
          <p:cNvPr id="35" name="Shape 33"/>
          <p:cNvSpPr/>
          <p:nvPr/>
        </p:nvSpPr>
        <p:spPr>
          <a:xfrm>
            <a:off x="704088" y="4142232"/>
            <a:ext cx="402336" cy="402336"/>
          </a:xfrm>
          <a:prstGeom prst="ellipse">
            <a:avLst/>
          </a:prstGeom>
          <a:solidFill>
            <a:srgbClr val="18213D"/>
          </a:solidFill>
          <a:ln w="19050">
            <a:solidFill>
              <a:srgbClr val="F5A623"/>
            </a:solidFill>
            <a:prstDash val="solid"/>
          </a:ln>
        </p:spPr>
      </p:sp>
      <p:sp>
        <p:nvSpPr>
          <p:cNvPr id="36" name="Text 34"/>
          <p:cNvSpPr/>
          <p:nvPr/>
        </p:nvSpPr>
        <p:spPr>
          <a:xfrm>
            <a:off x="704088" y="4142232"/>
            <a:ext cx="402336" cy="402336"/>
          </a:xfrm>
          <a:prstGeom prst="rect">
            <a:avLst/>
          </a:prstGeom>
          <a:noFill/>
          <a:ln/>
        </p:spPr>
        <p:txBody>
          <a:bodyPr wrap="square" lIns="0" tIns="0" rIns="0" bIns="0" rtlCol="0" anchor="ctr"/>
          <a:lstStyle/>
          <a:p>
            <a:pPr algn="ctr" indent="0" marL="0">
              <a:buNone/>
            </a:pPr>
            <a:r>
              <a:rPr lang="en-US" sz="1400" b="1" dirty="0">
                <a:solidFill>
                  <a:srgbClr val="F5A623"/>
                </a:solidFill>
                <a:latin typeface="Cambria" pitchFamily="34" charset="0"/>
                <a:ea typeface="Cambria" pitchFamily="34" charset="-122"/>
                <a:cs typeface="Cambria" pitchFamily="34" charset="-120"/>
              </a:rPr>
              <a:t>7</a:t>
            </a:r>
            <a:endParaRPr lang="en-US" sz="1400" dirty="0"/>
          </a:p>
        </p:txBody>
      </p:sp>
      <p:sp>
        <p:nvSpPr>
          <p:cNvPr id="37" name="Text 35"/>
          <p:cNvSpPr/>
          <p:nvPr/>
        </p:nvSpPr>
        <p:spPr>
          <a:xfrm>
            <a:off x="1234440" y="4096512"/>
            <a:ext cx="2606040" cy="274320"/>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SpringLab</a:t>
            </a:r>
            <a:endParaRPr lang="en-US" sz="1400" dirty="0"/>
          </a:p>
        </p:txBody>
      </p:sp>
      <p:sp>
        <p:nvSpPr>
          <p:cNvPr id="38" name="Text 36"/>
          <p:cNvSpPr/>
          <p:nvPr/>
        </p:nvSpPr>
        <p:spPr>
          <a:xfrm>
            <a:off x="1234440" y="4379976"/>
            <a:ext cx="2606040" cy="274320"/>
          </a:xfrm>
          <a:prstGeom prst="rect">
            <a:avLst/>
          </a:prstGeom>
          <a:noFill/>
          <a:ln/>
        </p:spPr>
        <p:txBody>
          <a:bodyPr wrap="square" lIns="0" tIns="0" rIns="0" bIns="0" rtlCol="0" anchor="ctr"/>
          <a:lstStyle/>
          <a:p>
            <a:pPr indent="0" marL="0">
              <a:buNone/>
            </a:pPr>
            <a:r>
              <a:rPr lang="en-US" sz="1050" dirty="0">
                <a:solidFill>
                  <a:srgbClr val="9FB6D8"/>
                </a:solidFill>
                <a:latin typeface="Calibri" pitchFamily="34" charset="0"/>
                <a:ea typeface="Calibri" pitchFamily="34" charset="-122"/>
                <a:cs typeface="Calibri" pitchFamily="34" charset="-120"/>
              </a:rPr>
              <a:t>Spring DI in Core</a:t>
            </a:r>
            <a:endParaRPr lang="en-US" sz="1050" dirty="0"/>
          </a:p>
        </p:txBody>
      </p:sp>
      <p:sp>
        <p:nvSpPr>
          <p:cNvPr id="39" name="Shape 37"/>
          <p:cNvSpPr/>
          <p:nvPr/>
        </p:nvSpPr>
        <p:spPr>
          <a:xfrm>
            <a:off x="4306824" y="3877056"/>
            <a:ext cx="3538728" cy="932688"/>
          </a:xfrm>
          <a:prstGeom prst="roundRect">
            <a:avLst>
              <a:gd name="adj" fmla="val 5882"/>
            </a:avLst>
          </a:prstGeom>
          <a:solidFill>
            <a:srgbClr val="1F2A4C"/>
          </a:solidFill>
          <a:ln w="12700">
            <a:solidFill>
              <a:srgbClr val="2E3C64"/>
            </a:solidFill>
            <a:prstDash val="solid"/>
          </a:ln>
        </p:spPr>
      </p:sp>
      <p:sp>
        <p:nvSpPr>
          <p:cNvPr id="40" name="Shape 38"/>
          <p:cNvSpPr/>
          <p:nvPr/>
        </p:nvSpPr>
        <p:spPr>
          <a:xfrm>
            <a:off x="4507992" y="4142232"/>
            <a:ext cx="402336" cy="402336"/>
          </a:xfrm>
          <a:prstGeom prst="ellipse">
            <a:avLst/>
          </a:prstGeom>
          <a:solidFill>
            <a:srgbClr val="18213D"/>
          </a:solidFill>
          <a:ln w="19050">
            <a:solidFill>
              <a:srgbClr val="F5A623"/>
            </a:solidFill>
            <a:prstDash val="solid"/>
          </a:ln>
        </p:spPr>
      </p:sp>
      <p:sp>
        <p:nvSpPr>
          <p:cNvPr id="41" name="Text 39"/>
          <p:cNvSpPr/>
          <p:nvPr/>
        </p:nvSpPr>
        <p:spPr>
          <a:xfrm>
            <a:off x="4507992" y="4142232"/>
            <a:ext cx="402336" cy="402336"/>
          </a:xfrm>
          <a:prstGeom prst="rect">
            <a:avLst/>
          </a:prstGeom>
          <a:noFill/>
          <a:ln/>
        </p:spPr>
        <p:txBody>
          <a:bodyPr wrap="square" lIns="0" tIns="0" rIns="0" bIns="0" rtlCol="0" anchor="ctr"/>
          <a:lstStyle/>
          <a:p>
            <a:pPr algn="ctr" indent="0" marL="0">
              <a:buNone/>
            </a:pPr>
            <a:r>
              <a:rPr lang="en-US" sz="1400" b="1" dirty="0">
                <a:solidFill>
                  <a:srgbClr val="F5A623"/>
                </a:solidFill>
                <a:latin typeface="Cambria" pitchFamily="34" charset="0"/>
                <a:ea typeface="Cambria" pitchFamily="34" charset="-122"/>
                <a:cs typeface="Cambria" pitchFamily="34" charset="-120"/>
              </a:rPr>
              <a:t>8</a:t>
            </a:r>
            <a:endParaRPr lang="en-US" sz="1400" dirty="0"/>
          </a:p>
        </p:txBody>
      </p:sp>
      <p:sp>
        <p:nvSpPr>
          <p:cNvPr id="42" name="Text 40"/>
          <p:cNvSpPr/>
          <p:nvPr/>
        </p:nvSpPr>
        <p:spPr>
          <a:xfrm>
            <a:off x="5038344" y="4096512"/>
            <a:ext cx="2606040" cy="274320"/>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MicroServiceLab</a:t>
            </a:r>
            <a:endParaRPr lang="en-US" sz="1400" dirty="0"/>
          </a:p>
        </p:txBody>
      </p:sp>
      <p:sp>
        <p:nvSpPr>
          <p:cNvPr id="43" name="Text 41"/>
          <p:cNvSpPr/>
          <p:nvPr/>
        </p:nvSpPr>
        <p:spPr>
          <a:xfrm>
            <a:off x="5038344" y="4379976"/>
            <a:ext cx="2606040" cy="274320"/>
          </a:xfrm>
          <a:prstGeom prst="rect">
            <a:avLst/>
          </a:prstGeom>
          <a:noFill/>
          <a:ln/>
        </p:spPr>
        <p:txBody>
          <a:bodyPr wrap="square" lIns="0" tIns="0" rIns="0" bIns="0" rtlCol="0" anchor="ctr"/>
          <a:lstStyle/>
          <a:p>
            <a:pPr indent="0" marL="0">
              <a:buNone/>
            </a:pPr>
            <a:r>
              <a:rPr lang="en-US" sz="1050" dirty="0">
                <a:solidFill>
                  <a:srgbClr val="9FB6D8"/>
                </a:solidFill>
                <a:latin typeface="Calibri" pitchFamily="34" charset="0"/>
                <a:ea typeface="Calibri" pitchFamily="34" charset="-122"/>
                <a:cs typeface="Calibri" pitchFamily="34" charset="-120"/>
              </a:rPr>
              <a:t>Scoring REST API</a:t>
            </a:r>
            <a:endParaRPr lang="en-US" sz="1050" dirty="0"/>
          </a:p>
        </p:txBody>
      </p:sp>
      <p:sp>
        <p:nvSpPr>
          <p:cNvPr id="44" name="Shape 42"/>
          <p:cNvSpPr/>
          <p:nvPr/>
        </p:nvSpPr>
        <p:spPr>
          <a:xfrm>
            <a:off x="8110728" y="3877056"/>
            <a:ext cx="3538728" cy="932688"/>
          </a:xfrm>
          <a:prstGeom prst="roundRect">
            <a:avLst>
              <a:gd name="adj" fmla="val 5882"/>
            </a:avLst>
          </a:prstGeom>
          <a:solidFill>
            <a:srgbClr val="1F2A4C"/>
          </a:solidFill>
          <a:ln w="12700">
            <a:solidFill>
              <a:srgbClr val="2E3C64"/>
            </a:solidFill>
            <a:prstDash val="solid"/>
          </a:ln>
        </p:spPr>
      </p:sp>
      <p:sp>
        <p:nvSpPr>
          <p:cNvPr id="45" name="Shape 43"/>
          <p:cNvSpPr/>
          <p:nvPr/>
        </p:nvSpPr>
        <p:spPr>
          <a:xfrm>
            <a:off x="8311896" y="4142232"/>
            <a:ext cx="402336" cy="402336"/>
          </a:xfrm>
          <a:prstGeom prst="ellipse">
            <a:avLst/>
          </a:prstGeom>
          <a:solidFill>
            <a:srgbClr val="18213D"/>
          </a:solidFill>
          <a:ln w="19050">
            <a:solidFill>
              <a:srgbClr val="F5A623"/>
            </a:solidFill>
            <a:prstDash val="solid"/>
          </a:ln>
        </p:spPr>
      </p:sp>
      <p:sp>
        <p:nvSpPr>
          <p:cNvPr id="46" name="Text 44"/>
          <p:cNvSpPr/>
          <p:nvPr/>
        </p:nvSpPr>
        <p:spPr>
          <a:xfrm>
            <a:off x="8311896" y="4142232"/>
            <a:ext cx="402336" cy="402336"/>
          </a:xfrm>
          <a:prstGeom prst="rect">
            <a:avLst/>
          </a:prstGeom>
          <a:noFill/>
          <a:ln/>
        </p:spPr>
        <p:txBody>
          <a:bodyPr wrap="square" lIns="0" tIns="0" rIns="0" bIns="0" rtlCol="0" anchor="ctr"/>
          <a:lstStyle/>
          <a:p>
            <a:pPr algn="ctr" indent="0" marL="0">
              <a:buNone/>
            </a:pPr>
            <a:r>
              <a:rPr lang="en-US" sz="1400" b="1" dirty="0">
                <a:solidFill>
                  <a:srgbClr val="F5A623"/>
                </a:solidFill>
                <a:latin typeface="Cambria" pitchFamily="34" charset="0"/>
                <a:ea typeface="Cambria" pitchFamily="34" charset="-122"/>
                <a:cs typeface="Cambria" pitchFamily="34" charset="-120"/>
              </a:rPr>
              <a:t>9</a:t>
            </a:r>
            <a:endParaRPr lang="en-US" sz="1400" dirty="0"/>
          </a:p>
        </p:txBody>
      </p:sp>
      <p:sp>
        <p:nvSpPr>
          <p:cNvPr id="47" name="Text 45"/>
          <p:cNvSpPr/>
          <p:nvPr/>
        </p:nvSpPr>
        <p:spPr>
          <a:xfrm>
            <a:off x="8842248" y="4096512"/>
            <a:ext cx="2606040" cy="274320"/>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TestLab</a:t>
            </a:r>
            <a:endParaRPr lang="en-US" sz="1400" dirty="0"/>
          </a:p>
        </p:txBody>
      </p:sp>
      <p:sp>
        <p:nvSpPr>
          <p:cNvPr id="48" name="Text 46"/>
          <p:cNvSpPr/>
          <p:nvPr/>
        </p:nvSpPr>
        <p:spPr>
          <a:xfrm>
            <a:off x="8842248" y="4379976"/>
            <a:ext cx="2606040" cy="274320"/>
          </a:xfrm>
          <a:prstGeom prst="rect">
            <a:avLst/>
          </a:prstGeom>
          <a:noFill/>
          <a:ln/>
        </p:spPr>
        <p:txBody>
          <a:bodyPr wrap="square" lIns="0" tIns="0" rIns="0" bIns="0" rtlCol="0" anchor="ctr"/>
          <a:lstStyle/>
          <a:p>
            <a:pPr indent="0" marL="0">
              <a:buNone/>
            </a:pPr>
            <a:r>
              <a:rPr lang="en-US" sz="1050" dirty="0">
                <a:solidFill>
                  <a:srgbClr val="9FB6D8"/>
                </a:solidFill>
                <a:latin typeface="Calibri" pitchFamily="34" charset="0"/>
                <a:ea typeface="Calibri" pitchFamily="34" charset="-122"/>
                <a:cs typeface="Calibri" pitchFamily="34" charset="-120"/>
              </a:rPr>
              <a:t>JUnit 5 and Mockito</a:t>
            </a:r>
            <a:endParaRPr lang="en-US" sz="1050" dirty="0"/>
          </a:p>
        </p:txBody>
      </p:sp>
      <p:sp>
        <p:nvSpPr>
          <p:cNvPr id="49" name="Text 47"/>
          <p:cNvSpPr/>
          <p:nvPr/>
        </p:nvSpPr>
        <p:spPr>
          <a:xfrm>
            <a:off x="502920" y="5138928"/>
            <a:ext cx="960120" cy="713232"/>
          </a:xfrm>
          <a:prstGeom prst="rect">
            <a:avLst/>
          </a:prstGeom>
          <a:noFill/>
          <a:ln/>
        </p:spPr>
        <p:txBody>
          <a:bodyPr wrap="square" lIns="0" tIns="0" rIns="0" bIns="0" rtlCol="0" anchor="ctr"/>
          <a:lstStyle/>
          <a:p>
            <a:pPr indent="0" marL="0">
              <a:buNone/>
            </a:pPr>
            <a:r>
              <a:rPr lang="en-US" sz="4600" b="1" dirty="0">
                <a:solidFill>
                  <a:srgbClr val="F5A623"/>
                </a:solidFill>
                <a:latin typeface="Cambria" pitchFamily="34" charset="0"/>
                <a:ea typeface="Cambria" pitchFamily="34" charset="-122"/>
                <a:cs typeface="Cambria" pitchFamily="34" charset="-120"/>
              </a:rPr>
              <a:t>10</a:t>
            </a:r>
            <a:endParaRPr lang="en-US" sz="4600" dirty="0"/>
          </a:p>
        </p:txBody>
      </p:sp>
      <p:sp>
        <p:nvSpPr>
          <p:cNvPr id="50" name="Text 48"/>
          <p:cNvSpPr/>
          <p:nvPr/>
        </p:nvSpPr>
        <p:spPr>
          <a:xfrm>
            <a:off x="1490472" y="5413248"/>
            <a:ext cx="1737360" cy="365760"/>
          </a:xfrm>
          <a:prstGeom prst="rect">
            <a:avLst/>
          </a:prstGeom>
          <a:noFill/>
          <a:ln/>
        </p:spPr>
        <p:txBody>
          <a:bodyPr wrap="square" lIns="0" tIns="0" rIns="0" bIns="0" rtlCol="0" anchor="ctr"/>
          <a:lstStyle/>
          <a:p>
            <a:pPr indent="0" marL="0">
              <a:buNone/>
            </a:pPr>
            <a:r>
              <a:rPr lang="en-US" sz="1250" dirty="0">
                <a:solidFill>
                  <a:srgbClr val="CBD9EE"/>
                </a:solidFill>
                <a:latin typeface="Calibri" pitchFamily="34" charset="0"/>
                <a:ea typeface="Calibri" pitchFamily="34" charset="-122"/>
                <a:cs typeface="Calibri" pitchFamily="34" charset="-120"/>
              </a:rPr>
              <a:t>Maven modules</a:t>
            </a:r>
            <a:endParaRPr lang="en-US" sz="1250" dirty="0"/>
          </a:p>
        </p:txBody>
      </p:sp>
      <p:sp>
        <p:nvSpPr>
          <p:cNvPr id="51" name="Text 49"/>
          <p:cNvSpPr/>
          <p:nvPr/>
        </p:nvSpPr>
        <p:spPr>
          <a:xfrm>
            <a:off x="3300984" y="5138928"/>
            <a:ext cx="960120" cy="713232"/>
          </a:xfrm>
          <a:prstGeom prst="rect">
            <a:avLst/>
          </a:prstGeom>
          <a:noFill/>
          <a:ln/>
        </p:spPr>
        <p:txBody>
          <a:bodyPr wrap="square" lIns="0" tIns="0" rIns="0" bIns="0" rtlCol="0" anchor="ctr"/>
          <a:lstStyle/>
          <a:p>
            <a:pPr indent="0" marL="0">
              <a:buNone/>
            </a:pPr>
            <a:r>
              <a:rPr lang="en-US" sz="4600" b="1" dirty="0">
                <a:solidFill>
                  <a:srgbClr val="F5A623"/>
                </a:solidFill>
                <a:latin typeface="Cambria" pitchFamily="34" charset="0"/>
                <a:ea typeface="Cambria" pitchFamily="34" charset="-122"/>
                <a:cs typeface="Cambria" pitchFamily="34" charset="-120"/>
              </a:rPr>
              <a:t>9</a:t>
            </a:r>
            <a:endParaRPr lang="en-US" sz="4600" dirty="0"/>
          </a:p>
        </p:txBody>
      </p:sp>
      <p:sp>
        <p:nvSpPr>
          <p:cNvPr id="52" name="Text 50"/>
          <p:cNvSpPr/>
          <p:nvPr/>
        </p:nvSpPr>
        <p:spPr>
          <a:xfrm>
            <a:off x="4288536" y="5413248"/>
            <a:ext cx="1737360" cy="365760"/>
          </a:xfrm>
          <a:prstGeom prst="rect">
            <a:avLst/>
          </a:prstGeom>
          <a:noFill/>
          <a:ln/>
        </p:spPr>
        <p:txBody>
          <a:bodyPr wrap="square" lIns="0" tIns="0" rIns="0" bIns="0" rtlCol="0" anchor="ctr"/>
          <a:lstStyle/>
          <a:p>
            <a:pPr indent="0" marL="0">
              <a:buNone/>
            </a:pPr>
            <a:r>
              <a:rPr lang="en-US" sz="1250" dirty="0">
                <a:solidFill>
                  <a:srgbClr val="CBD9EE"/>
                </a:solidFill>
                <a:latin typeface="Calibri" pitchFamily="34" charset="0"/>
                <a:ea typeface="Calibri" pitchFamily="34" charset="-122"/>
                <a:cs typeface="Calibri" pitchFamily="34" charset="-120"/>
              </a:rPr>
              <a:t>module-info files</a:t>
            </a:r>
            <a:endParaRPr lang="en-US" sz="1250" dirty="0"/>
          </a:p>
        </p:txBody>
      </p:sp>
      <p:sp>
        <p:nvSpPr>
          <p:cNvPr id="53" name="Text 51"/>
          <p:cNvSpPr/>
          <p:nvPr/>
        </p:nvSpPr>
        <p:spPr>
          <a:xfrm>
            <a:off x="6099048" y="5138928"/>
            <a:ext cx="960120" cy="713232"/>
          </a:xfrm>
          <a:prstGeom prst="rect">
            <a:avLst/>
          </a:prstGeom>
          <a:noFill/>
          <a:ln/>
        </p:spPr>
        <p:txBody>
          <a:bodyPr wrap="square" lIns="0" tIns="0" rIns="0" bIns="0" rtlCol="0" anchor="ctr"/>
          <a:lstStyle/>
          <a:p>
            <a:pPr indent="0" marL="0">
              <a:buNone/>
            </a:pPr>
            <a:r>
              <a:rPr lang="en-US" sz="4600" b="1" dirty="0">
                <a:solidFill>
                  <a:srgbClr val="F5A623"/>
                </a:solidFill>
                <a:latin typeface="Cambria" pitchFamily="34" charset="0"/>
                <a:ea typeface="Cambria" pitchFamily="34" charset="-122"/>
                <a:cs typeface="Cambria" pitchFamily="34" charset="-120"/>
              </a:rPr>
              <a:t>21</a:t>
            </a:r>
            <a:endParaRPr lang="en-US" sz="4600" dirty="0"/>
          </a:p>
        </p:txBody>
      </p:sp>
      <p:sp>
        <p:nvSpPr>
          <p:cNvPr id="54" name="Text 52"/>
          <p:cNvSpPr/>
          <p:nvPr/>
        </p:nvSpPr>
        <p:spPr>
          <a:xfrm>
            <a:off x="7086600" y="5413248"/>
            <a:ext cx="1737360" cy="365760"/>
          </a:xfrm>
          <a:prstGeom prst="rect">
            <a:avLst/>
          </a:prstGeom>
          <a:noFill/>
          <a:ln/>
        </p:spPr>
        <p:txBody>
          <a:bodyPr wrap="square" lIns="0" tIns="0" rIns="0" bIns="0" rtlCol="0" anchor="ctr"/>
          <a:lstStyle/>
          <a:p>
            <a:pPr indent="0" marL="0">
              <a:buNone/>
            </a:pPr>
            <a:r>
              <a:rPr lang="en-US" sz="1250" dirty="0">
                <a:solidFill>
                  <a:srgbClr val="CBD9EE"/>
                </a:solidFill>
                <a:latin typeface="Calibri" pitchFamily="34" charset="0"/>
                <a:ea typeface="Calibri" pitchFamily="34" charset="-122"/>
                <a:cs typeface="Calibri" pitchFamily="34" charset="-120"/>
              </a:rPr>
              <a:t>tests, all passing</a:t>
            </a:r>
            <a:endParaRPr lang="en-US" sz="1250" dirty="0"/>
          </a:p>
        </p:txBody>
      </p:sp>
      <p:sp>
        <p:nvSpPr>
          <p:cNvPr id="55" name="Text 53"/>
          <p:cNvSpPr/>
          <p:nvPr/>
        </p:nvSpPr>
        <p:spPr>
          <a:xfrm>
            <a:off x="8897112" y="5138928"/>
            <a:ext cx="960120" cy="713232"/>
          </a:xfrm>
          <a:prstGeom prst="rect">
            <a:avLst/>
          </a:prstGeom>
          <a:noFill/>
          <a:ln/>
        </p:spPr>
        <p:txBody>
          <a:bodyPr wrap="square" lIns="0" tIns="0" rIns="0" bIns="0" rtlCol="0" anchor="ctr"/>
          <a:lstStyle/>
          <a:p>
            <a:pPr indent="0" marL="0">
              <a:buNone/>
            </a:pPr>
            <a:r>
              <a:rPr lang="en-US" sz="4600" b="1" dirty="0">
                <a:solidFill>
                  <a:srgbClr val="F5A623"/>
                </a:solidFill>
                <a:latin typeface="Cambria" pitchFamily="34" charset="0"/>
                <a:ea typeface="Cambria" pitchFamily="34" charset="-122"/>
                <a:cs typeface="Cambria" pitchFamily="34" charset="-120"/>
              </a:rPr>
              <a:t>2</a:t>
            </a:r>
            <a:endParaRPr lang="en-US" sz="4600" dirty="0"/>
          </a:p>
        </p:txBody>
      </p:sp>
      <p:sp>
        <p:nvSpPr>
          <p:cNvPr id="56" name="Text 54"/>
          <p:cNvSpPr/>
          <p:nvPr/>
        </p:nvSpPr>
        <p:spPr>
          <a:xfrm>
            <a:off x="9884664" y="5413248"/>
            <a:ext cx="1737360" cy="365760"/>
          </a:xfrm>
          <a:prstGeom prst="rect">
            <a:avLst/>
          </a:prstGeom>
          <a:noFill/>
          <a:ln/>
        </p:spPr>
        <p:txBody>
          <a:bodyPr wrap="square" lIns="0" tIns="0" rIns="0" bIns="0" rtlCol="0" anchor="ctr"/>
          <a:lstStyle/>
          <a:p>
            <a:pPr indent="0" marL="0">
              <a:buNone/>
            </a:pPr>
            <a:r>
              <a:rPr lang="en-US" sz="1250" dirty="0">
                <a:solidFill>
                  <a:srgbClr val="CBD9EE"/>
                </a:solidFill>
                <a:latin typeface="Calibri" pitchFamily="34" charset="0"/>
                <a:ea typeface="Calibri" pitchFamily="34" charset="-122"/>
                <a:cs typeface="Calibri" pitchFamily="34" charset="-120"/>
              </a:rPr>
              <a:t>processes</a:t>
            </a:r>
            <a:endParaRPr lang="en-US" sz="1250" dirty="0"/>
          </a:p>
        </p:txBody>
      </p:sp>
      <p:sp>
        <p:nvSpPr>
          <p:cNvPr id="57" name="Text 55"/>
          <p:cNvSpPr/>
          <p:nvPr/>
        </p:nvSpPr>
        <p:spPr>
          <a:xfrm>
            <a:off x="502920" y="6053328"/>
            <a:ext cx="11155680" cy="310896"/>
          </a:xfrm>
          <a:prstGeom prst="rect">
            <a:avLst/>
          </a:prstGeom>
          <a:noFill/>
          <a:ln/>
        </p:spPr>
        <p:txBody>
          <a:bodyPr wrap="square" lIns="0" tIns="0" rIns="0" bIns="0" rtlCol="0" anchor="ctr"/>
          <a:lstStyle/>
          <a:p>
            <a:pPr indent="0" marL="0">
              <a:buNone/>
            </a:pPr>
            <a:r>
              <a:rPr lang="en-US" sz="1150" dirty="0">
                <a:solidFill>
                  <a:srgbClr val="7089B0"/>
                </a:solidFill>
                <a:latin typeface="Calibri" pitchFamily="34" charset="0"/>
                <a:ea typeface="Calibri" pitchFamily="34" charset="-122"/>
                <a:cs typeface="Calibri" pitchFamily="34" charset="-120"/>
              </a:rPr>
              <a:t>github.com/Fard121/asteroid_game   ·   forked from sweat-tek/AsteroidsFX   ·   fjama23@student.sdu.dk</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AsteroidsFX — Component-Oriented Game</dc:title>
  <dc:subject>PptxGenJS Presentation</dc:subject>
  <dc:creator>Fard121</dc:creator>
  <cp:lastModifiedBy>Fard121</cp:lastModifiedBy>
  <cp:revision>1</cp:revision>
  <dcterms:created xsi:type="dcterms:W3CDTF">2026-08-07T20:13:46Z</dcterms:created>
  <dcterms:modified xsi:type="dcterms:W3CDTF">2026-08-07T20:13:46Z</dcterms:modified>
</cp:coreProperties>
</file>