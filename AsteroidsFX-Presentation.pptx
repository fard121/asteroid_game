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through-line: this is one game rebuilt nine times, each lab adding one component-engineering technique. Every slide from here shows a lab requirement, my implementation, and the mechanism that makes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roadmap and show the dependency between labs: the interfaces from GameLab are what ServiceLoader discovers in JavaLab, which is what module-info declares in JPMS 1 and 2, which is what the ModuleLayer isolates in JPMS 3, which is what Spring injects in SpringLab.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bottom to top. The one sentence that matters: Core has zero compile-time knowledge of the gameplay modules. Everything below the boot layer is found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setup lab. The demo-able point is the enemy: it picks a random heading on a timer and fires through the Bullet module's service interface, so Enemy has no compile-time dependency on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stress. The JavaDoc is not decoration — the ordering pre-condition is the reason collision is a post-processor. And the split chain is owned by Asteroids, reached by Collision through IAsteroidSplitter.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one class is the entire component-assembly mechanism. Everything the game does afterwards is driven by the three lists it returned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Core and name the absence: no requires Player, Enemy or Asteroids. Strong encapsulation is what makes the rest of the architecture necessary rather than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relationship: Player USES BulletSPI, Bullet PROVIDES it, and neither module names the other. Remove the Bullet jar and the game still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runnable demo in docs/jpms-lab3-demo — plain javac and java, no Maven. It fails on purpose first, then succeeds with two layers. Offer to run it live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part is the handshake. ServiceLocator finds the plugins through JPMS, Spring turns those lists into beans, Game receives them through its constructor.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idea: start the game, shoot one asteroid, then curl http://localhost:8081/api/score and show the number matching the HUD. That proves the two processes are really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one test class covers both testing styles the lab mentions: real objects with state assertions, and a Mockito mock with interaction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demo live, start the scoring service before you begin talking — it takes a few seconds to boot. Show the HUD score changing, then the same number from the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through-line: the same game rebuilt nine times, each lab replacing a direct dependency with a discovered one. The end state is a Core that knows nothing about the gameplay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13D"/>
        </a:solidFill>
      </p:bgPr>
    </p:bg>
    <p:spTree>
      <p:nvGrpSpPr>
        <p:cNvPr id="1" name=""/>
        <p:cNvGrpSpPr/>
        <p:nvPr/>
      </p:nvGrpSpPr>
      <p:grpSpPr>
        <a:xfrm>
          <a:off x="0" y="0"/>
          <a:ext cx="0" cy="0"/>
          <a:chOff x="0" y="0"/>
          <a:chExt cx="0" cy="0"/>
        </a:xfrm>
      </p:grpSpPr>
      <p:sp>
        <p:nvSpPr>
          <p:cNvPr id="2" name="Shape 0"/>
          <p:cNvSpPr/>
          <p:nvPr/>
        </p:nvSpPr>
        <p:spPr>
          <a:xfrm>
            <a:off x="9692640" y="960120"/>
            <a:ext cx="1371600" cy="1371600"/>
          </a:xfrm>
          <a:prstGeom prst="hexagon">
            <a:avLst/>
          </a:prstGeom>
          <a:solidFill>
            <a:srgbClr val="18213D">
              <a:alpha val="85000"/>
            </a:srgbClr>
          </a:solidFill>
          <a:ln w="19050">
            <a:solidFill>
              <a:srgbClr val="3A5A8C"/>
            </a:solidFill>
            <a:prstDash val="solid"/>
          </a:ln>
        </p:spPr>
      </p:sp>
      <p:sp>
        <p:nvSpPr>
          <p:cNvPr id="3" name="Shape 1"/>
          <p:cNvSpPr/>
          <p:nvPr/>
        </p:nvSpPr>
        <p:spPr>
          <a:xfrm rot="1620000">
            <a:off x="10881360" y="2514600"/>
            <a:ext cx="868680" cy="868680"/>
          </a:xfrm>
          <a:prstGeom prst="hexagon">
            <a:avLst/>
          </a:prstGeom>
          <a:solidFill>
            <a:srgbClr val="18213D">
              <a:alpha val="85000"/>
            </a:srgbClr>
          </a:solidFill>
          <a:ln w="19050">
            <a:solidFill>
              <a:srgbClr val="2E4570"/>
            </a:solidFill>
            <a:prstDash val="solid"/>
          </a:ln>
        </p:spPr>
      </p:sp>
      <p:sp>
        <p:nvSpPr>
          <p:cNvPr id="4" name="Shape 2"/>
          <p:cNvSpPr/>
          <p:nvPr/>
        </p:nvSpPr>
        <p:spPr>
          <a:xfrm rot="3240000">
            <a:off x="9052560" y="3200400"/>
            <a:ext cx="1143000" cy="1143000"/>
          </a:xfrm>
          <a:prstGeom prst="hexagon">
            <a:avLst/>
          </a:prstGeom>
          <a:solidFill>
            <a:srgbClr val="18213D">
              <a:alpha val="85000"/>
            </a:srgbClr>
          </a:solidFill>
          <a:ln w="19050">
            <a:solidFill>
              <a:srgbClr val="3A5A8C"/>
            </a:solidFill>
            <a:prstDash val="solid"/>
          </a:ln>
        </p:spPr>
      </p:sp>
      <p:sp>
        <p:nvSpPr>
          <p:cNvPr id="5" name="Shape 3"/>
          <p:cNvSpPr/>
          <p:nvPr/>
        </p:nvSpPr>
        <p:spPr>
          <a:xfrm rot="4860000">
            <a:off x="10607040" y="4572000"/>
            <a:ext cx="685800" cy="685800"/>
          </a:xfrm>
          <a:prstGeom prst="hexagon">
            <a:avLst/>
          </a:prstGeom>
          <a:solidFill>
            <a:srgbClr val="18213D">
              <a:alpha val="85000"/>
            </a:srgbClr>
          </a:solidFill>
          <a:ln w="19050">
            <a:solidFill>
              <a:srgbClr val="2E4570"/>
            </a:solidFill>
            <a:prstDash val="solid"/>
          </a:ln>
        </p:spPr>
      </p:sp>
      <p:sp>
        <p:nvSpPr>
          <p:cNvPr id="6" name="Shape 4"/>
          <p:cNvSpPr/>
          <p:nvPr/>
        </p:nvSpPr>
        <p:spPr>
          <a:xfrm rot="6480000">
            <a:off x="9281160" y="5166360"/>
            <a:ext cx="502920" cy="502920"/>
          </a:xfrm>
          <a:prstGeom prst="hexagon">
            <a:avLst/>
          </a:prstGeom>
          <a:solidFill>
            <a:srgbClr val="18213D">
              <a:alpha val="85000"/>
            </a:srgbClr>
          </a:solidFill>
          <a:ln w="19050">
            <a:solidFill>
              <a:srgbClr val="3A5A8C"/>
            </a:solidFill>
            <a:prstDash val="solid"/>
          </a:ln>
        </p:spPr>
      </p:sp>
      <p:sp>
        <p:nvSpPr>
          <p:cNvPr id="7" name="Shape 5"/>
          <p:cNvSpPr/>
          <p:nvPr/>
        </p:nvSpPr>
        <p:spPr>
          <a:xfrm rot="7080000">
            <a:off x="8549640" y="2148840"/>
            <a:ext cx="502920" cy="566928"/>
          </a:xfrm>
          <a:prstGeom prst="triangle">
            <a:avLst/>
          </a:prstGeom>
          <a:solidFill>
            <a:srgbClr val="18213D"/>
          </a:solidFill>
          <a:ln w="25400">
            <a:solidFill>
              <a:srgbClr val="F5A623"/>
            </a:solidFill>
            <a:prstDash val="solid"/>
          </a:ln>
        </p:spPr>
      </p:sp>
      <p:sp>
        <p:nvSpPr>
          <p:cNvPr id="8" name="Text 6"/>
          <p:cNvSpPr/>
          <p:nvPr/>
        </p:nvSpPr>
        <p:spPr>
          <a:xfrm>
            <a:off x="502920" y="1234440"/>
            <a:ext cx="7680960" cy="274320"/>
          </a:xfrm>
          <a:prstGeom prst="rect">
            <a:avLst/>
          </a:prstGeom>
          <a:noFill/>
          <a:ln/>
        </p:spPr>
        <p:txBody>
          <a:bodyPr wrap="square" lIns="0" tIns="0" rIns="0" bIns="0" rtlCol="0" anchor="ctr"/>
          <a:lstStyle/>
          <a:p>
            <a:pPr indent="0" marL="0">
              <a:buNone/>
            </a:pPr>
            <a:r>
              <a:rPr lang="en-US" sz="1200" b="1" spc="240" kern="0" dirty="0">
                <a:solidFill>
                  <a:srgbClr val="F5A623"/>
                </a:solidFill>
                <a:latin typeface="Calibri" pitchFamily="34" charset="0"/>
                <a:ea typeface="Calibri" pitchFamily="34" charset="-122"/>
                <a:cs typeface="Calibri" pitchFamily="34" charset="-120"/>
              </a:rPr>
              <a:t>SDU MMMI  ·  COMPONENT-BASED SOFTWARE ENGINEERING</a:t>
            </a:r>
            <a:endParaRPr lang="en-US" sz="1200" dirty="0"/>
          </a:p>
        </p:txBody>
      </p:sp>
      <p:sp>
        <p:nvSpPr>
          <p:cNvPr id="9" name="Text 7"/>
          <p:cNvSpPr/>
          <p:nvPr/>
        </p:nvSpPr>
        <p:spPr>
          <a:xfrm>
            <a:off x="502920" y="1627632"/>
            <a:ext cx="786384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AsteroidsFX</a:t>
            </a:r>
            <a:endParaRPr lang="en-US" sz="6000" dirty="0"/>
          </a:p>
        </p:txBody>
      </p:sp>
      <p:sp>
        <p:nvSpPr>
          <p:cNvPr id="10" name="Text 8"/>
          <p:cNvSpPr/>
          <p:nvPr/>
        </p:nvSpPr>
        <p:spPr>
          <a:xfrm>
            <a:off x="502920" y="2578608"/>
            <a:ext cx="7863840" cy="566928"/>
          </a:xfrm>
          <a:prstGeom prst="rect">
            <a:avLst/>
          </a:prstGeom>
          <a:noFill/>
          <a:ln/>
        </p:spPr>
        <p:txBody>
          <a:bodyPr wrap="square" lIns="0" tIns="0" rIns="0" bIns="0" rtlCol="0" anchor="ctr"/>
          <a:lstStyle/>
          <a:p>
            <a:pPr indent="0" marL="0">
              <a:buNone/>
            </a:pPr>
            <a:r>
              <a:rPr lang="en-US" sz="3000" dirty="0">
                <a:solidFill>
                  <a:srgbClr val="CBD9EE"/>
                </a:solidFill>
                <a:latin typeface="Cambria" pitchFamily="34" charset="0"/>
                <a:ea typeface="Cambria" pitchFamily="34" charset="-122"/>
                <a:cs typeface="Cambria" pitchFamily="34" charset="-120"/>
              </a:rPr>
              <a:t>A Component-Oriented Game</a:t>
            </a:r>
            <a:endParaRPr lang="en-US" sz="3000" dirty="0"/>
          </a:p>
        </p:txBody>
      </p:sp>
      <p:sp>
        <p:nvSpPr>
          <p:cNvPr id="11" name="Text 9"/>
          <p:cNvSpPr/>
          <p:nvPr/>
        </p:nvSpPr>
        <p:spPr>
          <a:xfrm>
            <a:off x="502920" y="3310128"/>
            <a:ext cx="7406640" cy="822960"/>
          </a:xfrm>
          <a:prstGeom prst="rect">
            <a:avLst/>
          </a:prstGeom>
          <a:noFill/>
          <a:ln/>
        </p:spPr>
        <p:txBody>
          <a:bodyPr wrap="square" lIns="0" tIns="0" rIns="0" bIns="0" rtlCol="0" anchor="ctr"/>
          <a:lstStyle/>
          <a:p>
            <a:pPr indent="0" marL="0">
              <a:lnSpc>
                <a:spcPts val="2200"/>
              </a:lnSpc>
              <a:buNone/>
            </a:pPr>
            <a:r>
              <a:rPr lang="en-US" sz="1500" dirty="0">
                <a:solidFill>
                  <a:srgbClr val="A9BEDC"/>
                </a:solidFill>
                <a:latin typeface="Calibri" pitchFamily="34" charset="0"/>
                <a:ea typeface="Calibri" pitchFamily="34" charset="-122"/>
                <a:cs typeface="Calibri" pitchFamily="34" charset="-120"/>
              </a:rPr>
              <a:t>Nine labs, one game. Each lab replaced a direct dependency with a discovered one — until Core knew nothing about the gameplay it runs.</a:t>
            </a:r>
            <a:endParaRPr lang="en-US" sz="1500" dirty="0"/>
          </a:p>
        </p:txBody>
      </p:sp>
      <p:sp>
        <p:nvSpPr>
          <p:cNvPr id="12" name="Text 10"/>
          <p:cNvSpPr/>
          <p:nvPr/>
        </p:nvSpPr>
        <p:spPr>
          <a:xfrm>
            <a:off x="502920" y="4370832"/>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AUTHOR</a:t>
            </a:r>
            <a:endParaRPr lang="en-US" sz="1050" dirty="0"/>
          </a:p>
        </p:txBody>
      </p:sp>
      <p:sp>
        <p:nvSpPr>
          <p:cNvPr id="13" name="Text 11"/>
          <p:cNvSpPr/>
          <p:nvPr/>
        </p:nvSpPr>
        <p:spPr>
          <a:xfrm>
            <a:off x="1920240" y="4370832"/>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Fard121  ·  fjama23@student.sdu.dk</a:t>
            </a:r>
            <a:endParaRPr lang="en-US" sz="1300" dirty="0"/>
          </a:p>
        </p:txBody>
      </p:sp>
      <p:sp>
        <p:nvSpPr>
          <p:cNvPr id="14" name="Text 12"/>
          <p:cNvSpPr/>
          <p:nvPr/>
        </p:nvSpPr>
        <p:spPr>
          <a:xfrm>
            <a:off x="502920" y="4754880"/>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REPOSITORY</a:t>
            </a:r>
            <a:endParaRPr lang="en-US" sz="1050" dirty="0"/>
          </a:p>
        </p:txBody>
      </p:sp>
      <p:sp>
        <p:nvSpPr>
          <p:cNvPr id="15" name="Text 13"/>
          <p:cNvSpPr/>
          <p:nvPr/>
        </p:nvSpPr>
        <p:spPr>
          <a:xfrm>
            <a:off x="1920240" y="4754880"/>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github.com/Fard121/asteroid_game</a:t>
            </a:r>
            <a:endParaRPr lang="en-US" sz="1300" dirty="0"/>
          </a:p>
        </p:txBody>
      </p:sp>
      <p:sp>
        <p:nvSpPr>
          <p:cNvPr id="16" name="Text 14"/>
          <p:cNvSpPr/>
          <p:nvPr/>
        </p:nvSpPr>
        <p:spPr>
          <a:xfrm>
            <a:off x="502920" y="5138928"/>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FORKED FROM</a:t>
            </a:r>
            <a:endParaRPr lang="en-US" sz="1050" dirty="0"/>
          </a:p>
        </p:txBody>
      </p:sp>
      <p:sp>
        <p:nvSpPr>
          <p:cNvPr id="17" name="Text 15"/>
          <p:cNvSpPr/>
          <p:nvPr/>
        </p:nvSpPr>
        <p:spPr>
          <a:xfrm>
            <a:off x="1920240" y="5138928"/>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github.com/sweat-tek/AsteroidsFX</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The Nine Labs</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Each lab layered one technique onto the same game</a:t>
            </a:r>
            <a:endParaRPr lang="en-US" sz="1450" dirty="0"/>
          </a:p>
        </p:txBody>
      </p:sp>
      <p:sp>
        <p:nvSpPr>
          <p:cNvPr id="4" name="Shape 2"/>
          <p:cNvSpPr/>
          <p:nvPr/>
        </p:nvSpPr>
        <p:spPr>
          <a:xfrm>
            <a:off x="502920"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5" name="Shape 3"/>
          <p:cNvSpPr/>
          <p:nvPr/>
        </p:nvSpPr>
        <p:spPr>
          <a:xfrm>
            <a:off x="722376" y="1810512"/>
            <a:ext cx="402336" cy="402336"/>
          </a:xfrm>
          <a:prstGeom prst="ellipse">
            <a:avLst/>
          </a:prstGeom>
          <a:solidFill>
            <a:srgbClr val="18213D"/>
          </a:solidFill>
          <a:ln/>
        </p:spPr>
      </p:sp>
      <p:sp>
        <p:nvSpPr>
          <p:cNvPr id="6" name="Text 4"/>
          <p:cNvSpPr/>
          <p:nvPr/>
        </p:nvSpPr>
        <p:spPr>
          <a:xfrm>
            <a:off x="722376"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252728"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IntroLab</a:t>
            </a:r>
            <a:endParaRPr lang="en-US" sz="1600" dirty="0"/>
          </a:p>
        </p:txBody>
      </p:sp>
      <p:sp>
        <p:nvSpPr>
          <p:cNvPr id="8" name="Text 6"/>
          <p:cNvSpPr/>
          <p:nvPr/>
        </p:nvSpPr>
        <p:spPr>
          <a:xfrm>
            <a:off x="1252728"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JavaFX setup · Core, Bullet, Player · random enemy</a:t>
            </a:r>
            <a:endParaRPr lang="en-US" sz="1100" dirty="0"/>
          </a:p>
        </p:txBody>
      </p:sp>
      <p:sp>
        <p:nvSpPr>
          <p:cNvPr id="9" name="Shape 7"/>
          <p:cNvSpPr/>
          <p:nvPr/>
        </p:nvSpPr>
        <p:spPr>
          <a:xfrm>
            <a:off x="4306824"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0" name="Shape 8"/>
          <p:cNvSpPr/>
          <p:nvPr/>
        </p:nvSpPr>
        <p:spPr>
          <a:xfrm>
            <a:off x="4526280" y="1810512"/>
            <a:ext cx="402336" cy="402336"/>
          </a:xfrm>
          <a:prstGeom prst="ellipse">
            <a:avLst/>
          </a:prstGeom>
          <a:solidFill>
            <a:srgbClr val="18213D"/>
          </a:solidFill>
          <a:ln/>
        </p:spPr>
      </p:sp>
      <p:sp>
        <p:nvSpPr>
          <p:cNvPr id="11" name="Text 9"/>
          <p:cNvSpPr/>
          <p:nvPr/>
        </p:nvSpPr>
        <p:spPr>
          <a:xfrm>
            <a:off x="4526280"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5056632"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GameLab</a:t>
            </a:r>
            <a:endParaRPr lang="en-US" sz="1600" dirty="0"/>
          </a:p>
        </p:txBody>
      </p:sp>
      <p:sp>
        <p:nvSpPr>
          <p:cNvPr id="13" name="Text 11"/>
          <p:cNvSpPr/>
          <p:nvPr/>
        </p:nvSpPr>
        <p:spPr>
          <a:xfrm>
            <a:off x="5056632"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Service contracts · collision · asteroid splitting</a:t>
            </a:r>
            <a:endParaRPr lang="en-US" sz="1100" dirty="0"/>
          </a:p>
        </p:txBody>
      </p:sp>
      <p:sp>
        <p:nvSpPr>
          <p:cNvPr id="14" name="Shape 12"/>
          <p:cNvSpPr/>
          <p:nvPr/>
        </p:nvSpPr>
        <p:spPr>
          <a:xfrm>
            <a:off x="8110728"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5" name="Shape 13"/>
          <p:cNvSpPr/>
          <p:nvPr/>
        </p:nvSpPr>
        <p:spPr>
          <a:xfrm>
            <a:off x="8330184" y="1810512"/>
            <a:ext cx="402336" cy="402336"/>
          </a:xfrm>
          <a:prstGeom prst="ellipse">
            <a:avLst/>
          </a:prstGeom>
          <a:solidFill>
            <a:srgbClr val="18213D"/>
          </a:solidFill>
          <a:ln/>
        </p:spPr>
      </p:sp>
      <p:sp>
        <p:nvSpPr>
          <p:cNvPr id="16" name="Text 14"/>
          <p:cNvSpPr/>
          <p:nvPr/>
        </p:nvSpPr>
        <p:spPr>
          <a:xfrm>
            <a:off x="8330184"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860536"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JavaLab</a:t>
            </a:r>
            <a:endParaRPr lang="en-US" sz="1600" dirty="0"/>
          </a:p>
        </p:txBody>
      </p:sp>
      <p:sp>
        <p:nvSpPr>
          <p:cNvPr id="18" name="Text 16"/>
          <p:cNvSpPr/>
          <p:nvPr/>
        </p:nvSpPr>
        <p:spPr>
          <a:xfrm>
            <a:off x="8860536"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ServiceLoader — the whiteboard component model</a:t>
            </a:r>
            <a:endParaRPr lang="en-US" sz="1100" dirty="0"/>
          </a:p>
        </p:txBody>
      </p:sp>
      <p:sp>
        <p:nvSpPr>
          <p:cNvPr id="19" name="Shape 17"/>
          <p:cNvSpPr/>
          <p:nvPr/>
        </p:nvSpPr>
        <p:spPr>
          <a:xfrm>
            <a:off x="502920"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0" name="Shape 18"/>
          <p:cNvSpPr/>
          <p:nvPr/>
        </p:nvSpPr>
        <p:spPr>
          <a:xfrm>
            <a:off x="722376" y="3447288"/>
            <a:ext cx="402336" cy="402336"/>
          </a:xfrm>
          <a:prstGeom prst="ellipse">
            <a:avLst/>
          </a:prstGeom>
          <a:solidFill>
            <a:srgbClr val="18213D"/>
          </a:solidFill>
          <a:ln/>
        </p:spPr>
      </p:sp>
      <p:sp>
        <p:nvSpPr>
          <p:cNvPr id="21" name="Text 19"/>
          <p:cNvSpPr/>
          <p:nvPr/>
        </p:nvSpPr>
        <p:spPr>
          <a:xfrm>
            <a:off x="722376"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1252728"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1</a:t>
            </a:r>
            <a:endParaRPr lang="en-US" sz="1600" dirty="0"/>
          </a:p>
        </p:txBody>
      </p:sp>
      <p:sp>
        <p:nvSpPr>
          <p:cNvPr id="23" name="Text 21"/>
          <p:cNvSpPr/>
          <p:nvPr/>
        </p:nvSpPr>
        <p:spPr>
          <a:xfrm>
            <a:off x="1252728"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module-info.java: requires and exports</a:t>
            </a:r>
            <a:endParaRPr lang="en-US" sz="1100" dirty="0"/>
          </a:p>
        </p:txBody>
      </p:sp>
      <p:sp>
        <p:nvSpPr>
          <p:cNvPr id="24" name="Shape 22"/>
          <p:cNvSpPr/>
          <p:nvPr/>
        </p:nvSpPr>
        <p:spPr>
          <a:xfrm>
            <a:off x="4306824"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5" name="Shape 23"/>
          <p:cNvSpPr/>
          <p:nvPr/>
        </p:nvSpPr>
        <p:spPr>
          <a:xfrm>
            <a:off x="4526280" y="3447288"/>
            <a:ext cx="402336" cy="402336"/>
          </a:xfrm>
          <a:prstGeom prst="ellipse">
            <a:avLst/>
          </a:prstGeom>
          <a:solidFill>
            <a:srgbClr val="18213D"/>
          </a:solidFill>
          <a:ln/>
        </p:spPr>
      </p:sp>
      <p:sp>
        <p:nvSpPr>
          <p:cNvPr id="26" name="Text 24"/>
          <p:cNvSpPr/>
          <p:nvPr/>
        </p:nvSpPr>
        <p:spPr>
          <a:xfrm>
            <a:off x="4526280"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5056632"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2</a:t>
            </a:r>
            <a:endParaRPr lang="en-US" sz="1600" dirty="0"/>
          </a:p>
        </p:txBody>
      </p:sp>
      <p:sp>
        <p:nvSpPr>
          <p:cNvPr id="28" name="Text 26"/>
          <p:cNvSpPr/>
          <p:nvPr/>
        </p:nvSpPr>
        <p:spPr>
          <a:xfrm>
            <a:off x="5056632"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module-info.java: provides ... with, and uses</a:t>
            </a:r>
            <a:endParaRPr lang="en-US" sz="1100" dirty="0"/>
          </a:p>
        </p:txBody>
      </p:sp>
      <p:sp>
        <p:nvSpPr>
          <p:cNvPr id="29" name="Shape 27"/>
          <p:cNvSpPr/>
          <p:nvPr/>
        </p:nvSpPr>
        <p:spPr>
          <a:xfrm>
            <a:off x="8110728"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0" name="Shape 28"/>
          <p:cNvSpPr/>
          <p:nvPr/>
        </p:nvSpPr>
        <p:spPr>
          <a:xfrm>
            <a:off x="8330184" y="3447288"/>
            <a:ext cx="402336" cy="402336"/>
          </a:xfrm>
          <a:prstGeom prst="ellipse">
            <a:avLst/>
          </a:prstGeom>
          <a:solidFill>
            <a:srgbClr val="18213D"/>
          </a:solidFill>
          <a:ln/>
        </p:spPr>
      </p:sp>
      <p:sp>
        <p:nvSpPr>
          <p:cNvPr id="31" name="Text 29"/>
          <p:cNvSpPr/>
          <p:nvPr/>
        </p:nvSpPr>
        <p:spPr>
          <a:xfrm>
            <a:off x="8330184"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8860536"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3</a:t>
            </a:r>
            <a:endParaRPr lang="en-US" sz="1600" dirty="0"/>
          </a:p>
        </p:txBody>
      </p:sp>
      <p:sp>
        <p:nvSpPr>
          <p:cNvPr id="33" name="Text 31"/>
          <p:cNvSpPr/>
          <p:nvPr/>
        </p:nvSpPr>
        <p:spPr>
          <a:xfrm>
            <a:off x="8860536"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Split packages resolved with a ModuleLayer</a:t>
            </a:r>
            <a:endParaRPr lang="en-US" sz="1100" dirty="0"/>
          </a:p>
        </p:txBody>
      </p:sp>
      <p:sp>
        <p:nvSpPr>
          <p:cNvPr id="34" name="Shape 32"/>
          <p:cNvSpPr/>
          <p:nvPr/>
        </p:nvSpPr>
        <p:spPr>
          <a:xfrm>
            <a:off x="502920"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5" name="Shape 33"/>
          <p:cNvSpPr/>
          <p:nvPr/>
        </p:nvSpPr>
        <p:spPr>
          <a:xfrm>
            <a:off x="722376" y="5084064"/>
            <a:ext cx="402336" cy="402336"/>
          </a:xfrm>
          <a:prstGeom prst="ellipse">
            <a:avLst/>
          </a:prstGeom>
          <a:solidFill>
            <a:srgbClr val="18213D"/>
          </a:solidFill>
          <a:ln/>
        </p:spPr>
      </p:sp>
      <p:sp>
        <p:nvSpPr>
          <p:cNvPr id="36" name="Text 34"/>
          <p:cNvSpPr/>
          <p:nvPr/>
        </p:nvSpPr>
        <p:spPr>
          <a:xfrm>
            <a:off x="722376"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7</a:t>
            </a:r>
            <a:endParaRPr lang="en-US" sz="1600" dirty="0"/>
          </a:p>
        </p:txBody>
      </p:sp>
      <p:sp>
        <p:nvSpPr>
          <p:cNvPr id="37" name="Text 35"/>
          <p:cNvSpPr/>
          <p:nvPr/>
        </p:nvSpPr>
        <p:spPr>
          <a:xfrm>
            <a:off x="1252728"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SpringLab</a:t>
            </a:r>
            <a:endParaRPr lang="en-US" sz="1600" dirty="0"/>
          </a:p>
        </p:txBody>
      </p:sp>
      <p:sp>
        <p:nvSpPr>
          <p:cNvPr id="38" name="Text 36"/>
          <p:cNvSpPr/>
          <p:nvPr/>
        </p:nvSpPr>
        <p:spPr>
          <a:xfrm>
            <a:off x="1252728"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Spring container and dependency injection in Core</a:t>
            </a:r>
            <a:endParaRPr lang="en-US" sz="1100" dirty="0"/>
          </a:p>
        </p:txBody>
      </p:sp>
      <p:sp>
        <p:nvSpPr>
          <p:cNvPr id="39" name="Shape 37"/>
          <p:cNvSpPr/>
          <p:nvPr/>
        </p:nvSpPr>
        <p:spPr>
          <a:xfrm>
            <a:off x="4306824"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40" name="Shape 38"/>
          <p:cNvSpPr/>
          <p:nvPr/>
        </p:nvSpPr>
        <p:spPr>
          <a:xfrm>
            <a:off x="4526280" y="5084064"/>
            <a:ext cx="402336" cy="402336"/>
          </a:xfrm>
          <a:prstGeom prst="ellipse">
            <a:avLst/>
          </a:prstGeom>
          <a:solidFill>
            <a:srgbClr val="18213D"/>
          </a:solidFill>
          <a:ln/>
        </p:spPr>
      </p:sp>
      <p:sp>
        <p:nvSpPr>
          <p:cNvPr id="41" name="Text 39"/>
          <p:cNvSpPr/>
          <p:nvPr/>
        </p:nvSpPr>
        <p:spPr>
          <a:xfrm>
            <a:off x="4526280"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8</a:t>
            </a:r>
            <a:endParaRPr lang="en-US" sz="1600" dirty="0"/>
          </a:p>
        </p:txBody>
      </p:sp>
      <p:sp>
        <p:nvSpPr>
          <p:cNvPr id="42" name="Text 40"/>
          <p:cNvSpPr/>
          <p:nvPr/>
        </p:nvSpPr>
        <p:spPr>
          <a:xfrm>
            <a:off x="5056632"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MicroServiceLab</a:t>
            </a:r>
            <a:endParaRPr lang="en-US" sz="1600" dirty="0"/>
          </a:p>
        </p:txBody>
      </p:sp>
      <p:sp>
        <p:nvSpPr>
          <p:cNvPr id="43" name="Text 41"/>
          <p:cNvSpPr/>
          <p:nvPr/>
        </p:nvSpPr>
        <p:spPr>
          <a:xfrm>
            <a:off x="5056632"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Spring Boot scoring REST API on port 8081</a:t>
            </a:r>
            <a:endParaRPr lang="en-US" sz="1100" dirty="0"/>
          </a:p>
        </p:txBody>
      </p:sp>
      <p:sp>
        <p:nvSpPr>
          <p:cNvPr id="44" name="Shape 42"/>
          <p:cNvSpPr/>
          <p:nvPr/>
        </p:nvSpPr>
        <p:spPr>
          <a:xfrm>
            <a:off x="8110728"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45" name="Shape 43"/>
          <p:cNvSpPr/>
          <p:nvPr/>
        </p:nvSpPr>
        <p:spPr>
          <a:xfrm>
            <a:off x="8330184" y="5084064"/>
            <a:ext cx="402336" cy="402336"/>
          </a:xfrm>
          <a:prstGeom prst="ellipse">
            <a:avLst/>
          </a:prstGeom>
          <a:solidFill>
            <a:srgbClr val="18213D"/>
          </a:solidFill>
          <a:ln/>
        </p:spPr>
      </p:sp>
      <p:sp>
        <p:nvSpPr>
          <p:cNvPr id="46" name="Text 44"/>
          <p:cNvSpPr/>
          <p:nvPr/>
        </p:nvSpPr>
        <p:spPr>
          <a:xfrm>
            <a:off x="8330184"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9</a:t>
            </a:r>
            <a:endParaRPr lang="en-US" sz="1600" dirty="0"/>
          </a:p>
        </p:txBody>
      </p:sp>
      <p:sp>
        <p:nvSpPr>
          <p:cNvPr id="47" name="Text 45"/>
          <p:cNvSpPr/>
          <p:nvPr/>
        </p:nvSpPr>
        <p:spPr>
          <a:xfrm>
            <a:off x="8860536"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TestLab</a:t>
            </a:r>
            <a:endParaRPr lang="en-US" sz="1600" dirty="0"/>
          </a:p>
        </p:txBody>
      </p:sp>
      <p:sp>
        <p:nvSpPr>
          <p:cNvPr id="48" name="Text 46"/>
          <p:cNvSpPr/>
          <p:nvPr/>
        </p:nvSpPr>
        <p:spPr>
          <a:xfrm>
            <a:off x="8860536"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JUnit 5 and Mockito unit tests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System Architecture</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Two processes, two module layers, ten Maven modules</a:t>
            </a:r>
            <a:endParaRPr lang="en-US" sz="1450" dirty="0"/>
          </a:p>
        </p:txBody>
      </p:sp>
      <p:sp>
        <p:nvSpPr>
          <p:cNvPr id="4" name="Shape 2"/>
          <p:cNvSpPr/>
          <p:nvPr/>
        </p:nvSpPr>
        <p:spPr>
          <a:xfrm>
            <a:off x="502920" y="1627632"/>
            <a:ext cx="6903720" cy="859536"/>
          </a:xfrm>
          <a:prstGeom prst="roundRect">
            <a:avLst>
              <a:gd name="adj" fmla="val 6383"/>
            </a:avLst>
          </a:prstGeom>
          <a:solidFill>
            <a:srgbClr val="18213D"/>
          </a:solidFill>
          <a:ln w="12700">
            <a:solidFill>
              <a:srgbClr val="18213D"/>
            </a:solidFill>
            <a:prstDash val="solid"/>
          </a:ln>
          <a:effectLst>
            <a:outerShdw sx="100000" sy="100000" kx="0" ky="0" algn="bl" rotWithShape="0" blurRad="127000" dist="25400" dir="5400000">
              <a:srgbClr val="8FA3C4">
                <a:alpha val="28000"/>
              </a:srgbClr>
            </a:outerShdw>
          </a:effectLst>
        </p:spPr>
      </p:sp>
      <p:sp>
        <p:nvSpPr>
          <p:cNvPr id="5" name="Text 3"/>
          <p:cNvSpPr/>
          <p:nvPr/>
        </p:nvSpPr>
        <p:spPr>
          <a:xfrm>
            <a:off x="777240" y="1755648"/>
            <a:ext cx="6355080" cy="219456"/>
          </a:xfrm>
          <a:prstGeom prst="rect">
            <a:avLst/>
          </a:prstGeom>
          <a:noFill/>
          <a:ln/>
        </p:spPr>
        <p:txBody>
          <a:bodyPr wrap="square" lIns="0" tIns="0" rIns="0" bIns="0" rtlCol="0" anchor="ctr"/>
          <a:lstStyle/>
          <a:p>
            <a:pPr indent="0" marL="0">
              <a:buNone/>
            </a:pPr>
            <a:r>
              <a:rPr lang="en-US" sz="1000" b="1" spc="180" kern="0" dirty="0">
                <a:solidFill>
                  <a:srgbClr val="F5A623"/>
                </a:solidFill>
                <a:latin typeface="Calibri" pitchFamily="34" charset="0"/>
                <a:ea typeface="Calibri" pitchFamily="34" charset="-122"/>
                <a:cs typeface="Calibri" pitchFamily="34" charset="-120"/>
              </a:rPr>
              <a:t>SCORING PROCESS  ·  PORT 8081</a:t>
            </a:r>
            <a:endParaRPr lang="en-US" sz="1000" dirty="0"/>
          </a:p>
        </p:txBody>
      </p:sp>
      <p:sp>
        <p:nvSpPr>
          <p:cNvPr id="6" name="Text 4"/>
          <p:cNvSpPr/>
          <p:nvPr/>
        </p:nvSpPr>
        <p:spPr>
          <a:xfrm>
            <a:off x="777240" y="2002536"/>
            <a:ext cx="635508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Spring Boot  —  ScoreController  —  /api/score</a:t>
            </a:r>
            <a:endParaRPr lang="en-US" sz="1500" dirty="0"/>
          </a:p>
        </p:txBody>
      </p:sp>
      <p:sp>
        <p:nvSpPr>
          <p:cNvPr id="7" name="Shape 5"/>
          <p:cNvSpPr/>
          <p:nvPr/>
        </p:nvSpPr>
        <p:spPr>
          <a:xfrm>
            <a:off x="3781044" y="2560320"/>
            <a:ext cx="347472" cy="402336"/>
          </a:xfrm>
          <a:prstGeom prst="upDownArrow">
            <a:avLst/>
          </a:prstGeom>
          <a:solidFill>
            <a:srgbClr val="F5A623"/>
          </a:solidFill>
          <a:ln w="12700">
            <a:solidFill>
              <a:srgbClr val="F5A623"/>
            </a:solidFill>
            <a:prstDash val="solid"/>
          </a:ln>
        </p:spPr>
      </p:sp>
      <p:sp>
        <p:nvSpPr>
          <p:cNvPr id="8" name="Text 6"/>
          <p:cNvSpPr/>
          <p:nvPr/>
        </p:nvSpPr>
        <p:spPr>
          <a:xfrm>
            <a:off x="4247388" y="2633472"/>
            <a:ext cx="2926080" cy="256032"/>
          </a:xfrm>
          <a:prstGeom prst="rect">
            <a:avLst/>
          </a:prstGeom>
          <a:noFill/>
          <a:ln/>
        </p:spPr>
        <p:txBody>
          <a:bodyPr wrap="square" lIns="0" tIns="0" rIns="0" bIns="0" rtlCol="0" anchor="ctr"/>
          <a:lstStyle/>
          <a:p>
            <a:pPr indent="0" marL="0">
              <a:buNone/>
            </a:pPr>
            <a:r>
              <a:rPr lang="en-US" sz="1150" b="1" dirty="0">
                <a:solidFill>
                  <a:srgbClr val="5F7192"/>
                </a:solidFill>
                <a:latin typeface="Calibri" pitchFamily="34" charset="0"/>
                <a:ea typeface="Calibri" pitchFamily="34" charset="-122"/>
                <a:cs typeface="Calibri" pitchFamily="34" charset="-120"/>
              </a:rPr>
              <a:t>HTTP  ·  RestTemplate</a:t>
            </a:r>
            <a:endParaRPr lang="en-US" sz="1150" dirty="0"/>
          </a:p>
        </p:txBody>
      </p:sp>
      <p:sp>
        <p:nvSpPr>
          <p:cNvPr id="9" name="Shape 7"/>
          <p:cNvSpPr/>
          <p:nvPr/>
        </p:nvSpPr>
        <p:spPr>
          <a:xfrm>
            <a:off x="502920" y="3035808"/>
            <a:ext cx="6903720" cy="1170432"/>
          </a:xfrm>
          <a:prstGeom prst="roundRect">
            <a:avLst>
              <a:gd name="adj" fmla="val 4688"/>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77240" y="3154680"/>
            <a:ext cx="6355080" cy="219456"/>
          </a:xfrm>
          <a:prstGeom prst="rect">
            <a:avLst/>
          </a:prstGeom>
          <a:noFill/>
          <a:ln/>
        </p:spPr>
        <p:txBody>
          <a:bodyPr wrap="square" lIns="0" tIns="0" rIns="0" bIns="0" rtlCol="0" anchor="ctr"/>
          <a:lstStyle/>
          <a:p>
            <a:pPr indent="0" marL="0">
              <a:buNone/>
            </a:pPr>
            <a:r>
              <a:rPr lang="en-US" sz="1000" b="1" spc="180" kern="0" dirty="0">
                <a:solidFill>
                  <a:srgbClr val="3A5A8C"/>
                </a:solidFill>
                <a:latin typeface="Calibri" pitchFamily="34" charset="0"/>
                <a:ea typeface="Calibri" pitchFamily="34" charset="-122"/>
                <a:cs typeface="Calibri" pitchFamily="34" charset="-120"/>
              </a:rPr>
              <a:t>BOOT MODULE LAYER  ·  mods-mvn/</a:t>
            </a:r>
            <a:endParaRPr lang="en-US" sz="1000" dirty="0"/>
          </a:p>
        </p:txBody>
      </p:sp>
      <p:sp>
        <p:nvSpPr>
          <p:cNvPr id="11" name="Shape 9"/>
          <p:cNvSpPr/>
          <p:nvPr/>
        </p:nvSpPr>
        <p:spPr>
          <a:xfrm>
            <a:off x="777240" y="3456432"/>
            <a:ext cx="1572768" cy="475488"/>
          </a:xfrm>
          <a:prstGeom prst="roundRect">
            <a:avLst>
              <a:gd name="adj" fmla="val 15385"/>
            </a:avLst>
          </a:prstGeom>
          <a:solidFill>
            <a:srgbClr val="18213D"/>
          </a:solidFill>
          <a:ln w="12700">
            <a:solidFill>
              <a:srgbClr val="18213D"/>
            </a:solidFill>
            <a:prstDash val="solid"/>
          </a:ln>
        </p:spPr>
      </p:sp>
      <p:sp>
        <p:nvSpPr>
          <p:cNvPr id="12" name="Text 10"/>
          <p:cNvSpPr/>
          <p:nvPr/>
        </p:nvSpPr>
        <p:spPr>
          <a:xfrm>
            <a:off x="777240" y="3456432"/>
            <a:ext cx="157276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Core</a:t>
            </a:r>
            <a:endParaRPr lang="en-US" sz="1200" dirty="0"/>
          </a:p>
        </p:txBody>
      </p:sp>
      <p:sp>
        <p:nvSpPr>
          <p:cNvPr id="13" name="Shape 11"/>
          <p:cNvSpPr/>
          <p:nvPr/>
        </p:nvSpPr>
        <p:spPr>
          <a:xfrm>
            <a:off x="2478024" y="3456432"/>
            <a:ext cx="1572768" cy="475488"/>
          </a:xfrm>
          <a:prstGeom prst="roundRect">
            <a:avLst>
              <a:gd name="adj" fmla="val 15385"/>
            </a:avLst>
          </a:prstGeom>
          <a:solidFill>
            <a:srgbClr val="DCE6F5"/>
          </a:solidFill>
          <a:ln w="12700">
            <a:solidFill>
              <a:srgbClr val="C4D4EA"/>
            </a:solidFill>
            <a:prstDash val="solid"/>
          </a:ln>
        </p:spPr>
      </p:sp>
      <p:sp>
        <p:nvSpPr>
          <p:cNvPr id="14" name="Text 12"/>
          <p:cNvSpPr/>
          <p:nvPr/>
        </p:nvSpPr>
        <p:spPr>
          <a:xfrm>
            <a:off x="2478024"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a:t>
            </a:r>
            <a:endParaRPr lang="en-US" sz="1200" dirty="0"/>
          </a:p>
        </p:txBody>
      </p:sp>
      <p:sp>
        <p:nvSpPr>
          <p:cNvPr id="15" name="Shape 13"/>
          <p:cNvSpPr/>
          <p:nvPr/>
        </p:nvSpPr>
        <p:spPr>
          <a:xfrm>
            <a:off x="4178808" y="3456432"/>
            <a:ext cx="1572768" cy="475488"/>
          </a:xfrm>
          <a:prstGeom prst="roundRect">
            <a:avLst>
              <a:gd name="adj" fmla="val 15385"/>
            </a:avLst>
          </a:prstGeom>
          <a:solidFill>
            <a:srgbClr val="DCE6F5"/>
          </a:solidFill>
          <a:ln w="12700">
            <a:solidFill>
              <a:srgbClr val="C4D4EA"/>
            </a:solidFill>
            <a:prstDash val="solid"/>
          </a:ln>
        </p:spPr>
      </p:sp>
      <p:sp>
        <p:nvSpPr>
          <p:cNvPr id="16" name="Text 14"/>
          <p:cNvSpPr/>
          <p:nvPr/>
        </p:nvSpPr>
        <p:spPr>
          <a:xfrm>
            <a:off x="4178808"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CommonBullet</a:t>
            </a:r>
            <a:endParaRPr lang="en-US" sz="1200" dirty="0"/>
          </a:p>
        </p:txBody>
      </p:sp>
      <p:sp>
        <p:nvSpPr>
          <p:cNvPr id="17" name="Shape 15"/>
          <p:cNvSpPr/>
          <p:nvPr/>
        </p:nvSpPr>
        <p:spPr>
          <a:xfrm>
            <a:off x="5879592" y="3456432"/>
            <a:ext cx="1572768" cy="475488"/>
          </a:xfrm>
          <a:prstGeom prst="roundRect">
            <a:avLst>
              <a:gd name="adj" fmla="val 15385"/>
            </a:avLst>
          </a:prstGeom>
          <a:solidFill>
            <a:srgbClr val="DCE6F5"/>
          </a:solidFill>
          <a:ln w="12700">
            <a:solidFill>
              <a:srgbClr val="C4D4EA"/>
            </a:solidFill>
            <a:prstDash val="solid"/>
          </a:ln>
        </p:spPr>
      </p:sp>
      <p:sp>
        <p:nvSpPr>
          <p:cNvPr id="18" name="Text 16"/>
          <p:cNvSpPr/>
          <p:nvPr/>
        </p:nvSpPr>
        <p:spPr>
          <a:xfrm>
            <a:off x="5879592"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CommonAsteroids</a:t>
            </a:r>
            <a:endParaRPr lang="en-US" sz="1200" dirty="0"/>
          </a:p>
        </p:txBody>
      </p:sp>
      <p:sp>
        <p:nvSpPr>
          <p:cNvPr id="19" name="Shape 17"/>
          <p:cNvSpPr/>
          <p:nvPr/>
        </p:nvSpPr>
        <p:spPr>
          <a:xfrm>
            <a:off x="3781044" y="4279392"/>
            <a:ext cx="347472" cy="402336"/>
          </a:xfrm>
          <a:prstGeom prst="upArrow">
            <a:avLst/>
          </a:prstGeom>
          <a:solidFill>
            <a:srgbClr val="3A5A8C"/>
          </a:solidFill>
          <a:ln w="12700">
            <a:solidFill>
              <a:srgbClr val="3A5A8C"/>
            </a:solidFill>
            <a:prstDash val="solid"/>
          </a:ln>
        </p:spPr>
      </p:sp>
      <p:sp>
        <p:nvSpPr>
          <p:cNvPr id="20" name="Text 18"/>
          <p:cNvSpPr/>
          <p:nvPr/>
        </p:nvSpPr>
        <p:spPr>
          <a:xfrm>
            <a:off x="4247388" y="4352544"/>
            <a:ext cx="3840480" cy="256032"/>
          </a:xfrm>
          <a:prstGeom prst="rect">
            <a:avLst/>
          </a:prstGeom>
          <a:noFill/>
          <a:ln/>
        </p:spPr>
        <p:txBody>
          <a:bodyPr wrap="square" lIns="0" tIns="0" rIns="0" bIns="0" rtlCol="0" anchor="ctr"/>
          <a:lstStyle/>
          <a:p>
            <a:pPr indent="0" marL="0">
              <a:buNone/>
            </a:pPr>
            <a:r>
              <a:rPr lang="en-US" sz="1150" b="1" dirty="0">
                <a:solidFill>
                  <a:srgbClr val="5F7192"/>
                </a:solidFill>
                <a:latin typeface="Calibri" pitchFamily="34" charset="0"/>
                <a:ea typeface="Calibri" pitchFamily="34" charset="-122"/>
                <a:cs typeface="Calibri" pitchFamily="34" charset="-120"/>
              </a:rPr>
              <a:t>ServiceLocator  ·  defineModulesWithOneLoader</a:t>
            </a:r>
            <a:endParaRPr lang="en-US" sz="1150" dirty="0"/>
          </a:p>
        </p:txBody>
      </p:sp>
      <p:sp>
        <p:nvSpPr>
          <p:cNvPr id="21" name="Shape 19"/>
          <p:cNvSpPr/>
          <p:nvPr/>
        </p:nvSpPr>
        <p:spPr>
          <a:xfrm>
            <a:off x="502920" y="4754880"/>
            <a:ext cx="6903720" cy="1170432"/>
          </a:xfrm>
          <a:prstGeom prst="roundRect">
            <a:avLst>
              <a:gd name="adj" fmla="val 4688"/>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22" name="Text 20"/>
          <p:cNvSpPr/>
          <p:nvPr/>
        </p:nvSpPr>
        <p:spPr>
          <a:xfrm>
            <a:off x="777240" y="4873752"/>
            <a:ext cx="6355080" cy="219456"/>
          </a:xfrm>
          <a:prstGeom prst="rect">
            <a:avLst/>
          </a:prstGeom>
          <a:noFill/>
          <a:ln/>
        </p:spPr>
        <p:txBody>
          <a:bodyPr wrap="square" lIns="0" tIns="0" rIns="0" bIns="0" rtlCol="0" anchor="ctr"/>
          <a:lstStyle/>
          <a:p>
            <a:pPr indent="0" marL="0">
              <a:buNone/>
            </a:pPr>
            <a:r>
              <a:rPr lang="en-US" sz="1000" b="1" spc="180" kern="0" dirty="0">
                <a:solidFill>
                  <a:srgbClr val="B07A18"/>
                </a:solidFill>
                <a:latin typeface="Calibri" pitchFamily="34" charset="0"/>
                <a:ea typeface="Calibri" pitchFamily="34" charset="-122"/>
                <a:cs typeface="Calibri" pitchFamily="34" charset="-120"/>
              </a:rPr>
              <a:t>CHILD MODULE LAYER  ·  plugins/</a:t>
            </a:r>
            <a:endParaRPr lang="en-US" sz="1000" dirty="0"/>
          </a:p>
        </p:txBody>
      </p:sp>
      <p:sp>
        <p:nvSpPr>
          <p:cNvPr id="23" name="Shape 21"/>
          <p:cNvSpPr/>
          <p:nvPr/>
        </p:nvSpPr>
        <p:spPr>
          <a:xfrm>
            <a:off x="777240" y="5175504"/>
            <a:ext cx="1234440" cy="475488"/>
          </a:xfrm>
          <a:prstGeom prst="roundRect">
            <a:avLst>
              <a:gd name="adj" fmla="val 15385"/>
            </a:avLst>
          </a:prstGeom>
          <a:solidFill>
            <a:srgbClr val="FFFFFF"/>
          </a:solidFill>
          <a:ln w="19050">
            <a:solidFill>
              <a:srgbClr val="F5A623"/>
            </a:solidFill>
            <a:prstDash val="solid"/>
          </a:ln>
        </p:spPr>
      </p:sp>
      <p:sp>
        <p:nvSpPr>
          <p:cNvPr id="24" name="Text 22"/>
          <p:cNvSpPr/>
          <p:nvPr/>
        </p:nvSpPr>
        <p:spPr>
          <a:xfrm>
            <a:off x="777240"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Player</a:t>
            </a:r>
            <a:endParaRPr lang="en-US" sz="1150" dirty="0"/>
          </a:p>
        </p:txBody>
      </p:sp>
      <p:sp>
        <p:nvSpPr>
          <p:cNvPr id="25" name="Shape 23"/>
          <p:cNvSpPr/>
          <p:nvPr/>
        </p:nvSpPr>
        <p:spPr>
          <a:xfrm>
            <a:off x="2121408" y="5175504"/>
            <a:ext cx="1234440" cy="475488"/>
          </a:xfrm>
          <a:prstGeom prst="roundRect">
            <a:avLst>
              <a:gd name="adj" fmla="val 15385"/>
            </a:avLst>
          </a:prstGeom>
          <a:solidFill>
            <a:srgbClr val="FFFFFF"/>
          </a:solidFill>
          <a:ln w="19050">
            <a:solidFill>
              <a:srgbClr val="F5A623"/>
            </a:solidFill>
            <a:prstDash val="solid"/>
          </a:ln>
        </p:spPr>
      </p:sp>
      <p:sp>
        <p:nvSpPr>
          <p:cNvPr id="26" name="Text 24"/>
          <p:cNvSpPr/>
          <p:nvPr/>
        </p:nvSpPr>
        <p:spPr>
          <a:xfrm>
            <a:off x="2121408"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Enemy</a:t>
            </a:r>
            <a:endParaRPr lang="en-US" sz="1150" dirty="0"/>
          </a:p>
        </p:txBody>
      </p:sp>
      <p:sp>
        <p:nvSpPr>
          <p:cNvPr id="27" name="Shape 25"/>
          <p:cNvSpPr/>
          <p:nvPr/>
        </p:nvSpPr>
        <p:spPr>
          <a:xfrm>
            <a:off x="3465576" y="5175504"/>
            <a:ext cx="1234440" cy="475488"/>
          </a:xfrm>
          <a:prstGeom prst="roundRect">
            <a:avLst>
              <a:gd name="adj" fmla="val 15385"/>
            </a:avLst>
          </a:prstGeom>
          <a:solidFill>
            <a:srgbClr val="FFFFFF"/>
          </a:solidFill>
          <a:ln w="19050">
            <a:solidFill>
              <a:srgbClr val="F5A623"/>
            </a:solidFill>
            <a:prstDash val="solid"/>
          </a:ln>
        </p:spPr>
      </p:sp>
      <p:sp>
        <p:nvSpPr>
          <p:cNvPr id="28" name="Text 26"/>
          <p:cNvSpPr/>
          <p:nvPr/>
        </p:nvSpPr>
        <p:spPr>
          <a:xfrm>
            <a:off x="3465576"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Bullet</a:t>
            </a:r>
            <a:endParaRPr lang="en-US" sz="1150" dirty="0"/>
          </a:p>
        </p:txBody>
      </p:sp>
      <p:sp>
        <p:nvSpPr>
          <p:cNvPr id="29" name="Shape 27"/>
          <p:cNvSpPr/>
          <p:nvPr/>
        </p:nvSpPr>
        <p:spPr>
          <a:xfrm>
            <a:off x="4809744" y="5175504"/>
            <a:ext cx="1234440" cy="475488"/>
          </a:xfrm>
          <a:prstGeom prst="roundRect">
            <a:avLst>
              <a:gd name="adj" fmla="val 15385"/>
            </a:avLst>
          </a:prstGeom>
          <a:solidFill>
            <a:srgbClr val="FFFFFF"/>
          </a:solidFill>
          <a:ln w="19050">
            <a:solidFill>
              <a:srgbClr val="F5A623"/>
            </a:solidFill>
            <a:prstDash val="solid"/>
          </a:ln>
        </p:spPr>
      </p:sp>
      <p:sp>
        <p:nvSpPr>
          <p:cNvPr id="30" name="Text 28"/>
          <p:cNvSpPr/>
          <p:nvPr/>
        </p:nvSpPr>
        <p:spPr>
          <a:xfrm>
            <a:off x="4809744"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Asteroids</a:t>
            </a:r>
            <a:endParaRPr lang="en-US" sz="1150" dirty="0"/>
          </a:p>
        </p:txBody>
      </p:sp>
      <p:sp>
        <p:nvSpPr>
          <p:cNvPr id="31" name="Shape 29"/>
          <p:cNvSpPr/>
          <p:nvPr/>
        </p:nvSpPr>
        <p:spPr>
          <a:xfrm>
            <a:off x="6153912" y="5175504"/>
            <a:ext cx="1234440" cy="475488"/>
          </a:xfrm>
          <a:prstGeom prst="roundRect">
            <a:avLst>
              <a:gd name="adj" fmla="val 15385"/>
            </a:avLst>
          </a:prstGeom>
          <a:solidFill>
            <a:srgbClr val="FFFFFF"/>
          </a:solidFill>
          <a:ln w="19050">
            <a:solidFill>
              <a:srgbClr val="F5A623"/>
            </a:solidFill>
            <a:prstDash val="solid"/>
          </a:ln>
        </p:spPr>
      </p:sp>
      <p:sp>
        <p:nvSpPr>
          <p:cNvPr id="32" name="Text 30"/>
          <p:cNvSpPr/>
          <p:nvPr/>
        </p:nvSpPr>
        <p:spPr>
          <a:xfrm>
            <a:off x="6153912"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Collision</a:t>
            </a:r>
            <a:endParaRPr lang="en-US" sz="1150" dirty="0"/>
          </a:p>
        </p:txBody>
      </p:sp>
      <p:sp>
        <p:nvSpPr>
          <p:cNvPr id="33" name="Shape 31"/>
          <p:cNvSpPr/>
          <p:nvPr/>
        </p:nvSpPr>
        <p:spPr>
          <a:xfrm>
            <a:off x="7772400" y="1627632"/>
            <a:ext cx="3886200" cy="4297680"/>
          </a:xfrm>
          <a:prstGeom prst="roundRect">
            <a:avLst>
              <a:gd name="adj" fmla="val 141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4" name="Text 32"/>
          <p:cNvSpPr/>
          <p:nvPr/>
        </p:nvSpPr>
        <p:spPr>
          <a:xfrm>
            <a:off x="8028432" y="1792224"/>
            <a:ext cx="33741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WHY IT IS BUILT THIS WAY</a:t>
            </a:r>
            <a:endParaRPr lang="en-US" sz="1050" dirty="0"/>
          </a:p>
        </p:txBody>
      </p:sp>
      <p:sp>
        <p:nvSpPr>
          <p:cNvPr id="35" name="Text 33"/>
          <p:cNvSpPr/>
          <p:nvPr/>
        </p:nvSpPr>
        <p:spPr>
          <a:xfrm>
            <a:off x="8028432" y="2103120"/>
            <a:ext cx="3374136" cy="365760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never requires Player, Enemy, Bullet, Asteroids or Collision — it only knows the interfaces in Common.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five gameplay modules are found at runtime in plugins/ and resolved into their own ModuleLayer.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 plugin can be added, removed or swapped without recompiling Core.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Spring wires whatever ServiceLocator found into the Game object.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Scoring lives out of process — if it is down the game keeps running and retries quietly.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1</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INTROLAB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Getting the game running</a:t>
            </a:r>
            <a:endParaRPr lang="en-US" sz="2900" dirty="0"/>
          </a:p>
        </p:txBody>
      </p:sp>
      <p:sp>
        <p:nvSpPr>
          <p:cNvPr id="6" name="Shape 4"/>
          <p:cNvSpPr/>
          <p:nvPr/>
        </p:nvSpPr>
        <p:spPr>
          <a:xfrm>
            <a:off x="502920" y="1261872"/>
            <a:ext cx="5349240" cy="1950720"/>
          </a:xfrm>
          <a:prstGeom prst="roundRect">
            <a:avLst>
              <a:gd name="adj" fmla="val 2813"/>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4295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Fork the provided AsteroidsFX repository from GitHub</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Build with mvn clean install, run with mvn exec:exec</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your own JPMS project setup</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the Core, Bullet and Player components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an enemy spaceship that shoots and moves randomly</a:t>
            </a:r>
            <a:endParaRPr lang="en-US" sz="1200" dirty="0"/>
          </a:p>
        </p:txBody>
      </p:sp>
      <p:sp>
        <p:nvSpPr>
          <p:cNvPr id="9" name="Shape 7"/>
          <p:cNvSpPr/>
          <p:nvPr/>
        </p:nvSpPr>
        <p:spPr>
          <a:xfrm>
            <a:off x="502920" y="3358896"/>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5234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825240"/>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Forked to github.com/Fard121/asteroid_game — ten Maven modules, each with its own module-info.java</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Core/Main.java starts JavaFX; Core/Game.java owns the render loop</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PlayerPlugin creates the ship, PlayerControlSystem reads the keys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EnemyControlSystem gives the enemy a timer-driven random heading and a firing cooldown</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enemy is not scripted. Every frame EnemyControlSystem counts down two timers: one picks a brand new heading between 1 and 2.5 seconds, the other releases a shot roughly every 1.5 seconds. It fires by asking for a BulletSPI provider — so Enemy never imports the Bullet class.</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Enemy/EnemyControlSystem.java</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private void moveRandomly(Entity enemy)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if (framesUntilDirectionChange &lt;= 0)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enemy.setRotation(random.nextInt(360));</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framesUntilDirectionChange = MIN_FRAMES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 random.nextInt(MAX_FRAMES - MIN_FRAMES);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 else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framesUntilDirectionChange--;</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dx = Math.cos(Math.toRadians(enemy.getRotation()));</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dy = Math.sin(Math.toRadians(enemy.getRotation()));</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enemy.setX(enemy.getX() + dx * ENEMY_SPEED);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enemy.setY(enemy.getY() + dy * ENEMY_SPEED);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2</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GAMELAB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Component contracts and collision</a:t>
            </a:r>
            <a:endParaRPr lang="en-US" sz="2900" dirty="0"/>
          </a:p>
        </p:txBody>
      </p:sp>
      <p:sp>
        <p:nvSpPr>
          <p:cNvPr id="6" name="Shape 4"/>
          <p:cNvSpPr/>
          <p:nvPr/>
        </p:nvSpPr>
        <p:spPr>
          <a:xfrm>
            <a:off x="502920" y="1261872"/>
            <a:ext cx="5349240" cy="2075688"/>
          </a:xfrm>
          <a:prstGeom prst="roundRect">
            <a:avLst>
              <a:gd name="adj" fmla="val 2643"/>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Document the three service interfaces with JavaDoc, including pre- and post-conditions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Player, Enemy and randomly moving Asteroids as components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Simple collision detection based on Pythagoras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 split into two smaller ones; ships die when hit enough times</a:t>
            </a:r>
            <a:endParaRPr lang="en-US" sz="1200" dirty="0"/>
          </a:p>
        </p:txBody>
      </p:sp>
      <p:sp>
        <p:nvSpPr>
          <p:cNvPr id="9" name="Shape 7"/>
          <p:cNvSpPr/>
          <p:nvPr/>
        </p:nvSpPr>
        <p:spPr>
          <a:xfrm>
            <a:off x="502920" y="3483864"/>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648456"/>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950208"/>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Full operation contracts written on IGamePluginService, IEntityProcessingService and IPostEntityProcessingService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CollisionDetector implements IPostEntityProcessingService — it runs only after every entity has moved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AsteroidSplitterImpl turns LARGE into two MEDIUM, MEDIUM into two SMALL, and removes SMALL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Entity carries maxHealth, so an enemy survives two bullets and dies on the third</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pre-condition says entity processors run in no guaranteed order — which is exactly why collision could not be one of them. It had to be a post-processing service, running after every position is final for the frame. Collision then reaches the splitter through IAsteroidSplitter, never through a direct import.</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Collision/CollisionDetector.java  ·  the Pythagoras test</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PRE:  every IEntityProcessingService has already run,</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so all positions are final for this frame.</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POST: overlapping pairs resolved, score awarded,</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destroyed entities removed from the world.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public boolean collides(Entity a, Entity b)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dx = a.getX() - b.getX();</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dy = a.getY() - b.getY();</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distance = Math.sqrt(dx * dx + dy * dy);</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return distance &lt; a.getRadius() + b.getRadius();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3</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JAVALAB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ServiceLoader and the whiteboard model</a:t>
            </a:r>
            <a:endParaRPr lang="en-US" sz="2900" dirty="0"/>
          </a:p>
        </p:txBody>
      </p:sp>
      <p:sp>
        <p:nvSpPr>
          <p:cNvPr id="6" name="Shape 4"/>
          <p:cNvSpPr/>
          <p:nvPr/>
        </p:nvSpPr>
        <p:spPr>
          <a:xfrm>
            <a:off x="502920" y="1261872"/>
            <a:ext cx="5349240" cy="1798320"/>
          </a:xfrm>
          <a:prstGeom prst="roundRect">
            <a:avLst>
              <a:gd name="adj" fmla="val 30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2771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Automate the component assembly using the ServiceLoader built into Java SE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Apply the whiteboard component model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Understand why component interfaces are introduced in the first place</a:t>
            </a:r>
            <a:endParaRPr lang="en-US" sz="1200" dirty="0"/>
          </a:p>
        </p:txBody>
      </p:sp>
      <p:sp>
        <p:nvSpPr>
          <p:cNvPr id="9" name="Shape 7"/>
          <p:cNvSpPr/>
          <p:nvPr/>
        </p:nvSpPr>
        <p:spPr>
          <a:xfrm>
            <a:off x="502920" y="3206496"/>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3710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672840"/>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Common/util/ServiceLocator.java is the single assembly point for the whole game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locateAll(Class) returns every provider of one interface found across all plugin jars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Called three times at startup — once per service interface — and cached per service type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holds no reference to any concrete plugin class anywhere in its source</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A component joins the running game purely by declaring provides in its module-info.java. Nothing registers it and nothing imports it. Core asks ServiceLoader for an interface and takes whatever turns up — that indirection is the whole reason the interfaces exist.</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Common/src/main/java/.../util/ServiceLocator.java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public enum ServiceLocator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INSTANCE;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private final ModuleLayer layer;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public &lt;T&gt; List&lt;T&gt; locateAll(Class&lt;T&gt; service)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ServiceLoader&lt;T&gt; loader = loadermap.get(service);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if (loader == null)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loader = ServiceLoader.load(layer, 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loadermap.put(service, loader);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List&lt;T&gt; list = new ArrayList&lt;&gt;();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for (T instance : loader) list.add(instance);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return list;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4</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1</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requires and exports</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Continue implementing the game using the Java Platform Module System</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Declare imports and exports in a module-info.java file for every module</a:t>
            </a:r>
            <a:endParaRPr lang="en-US" sz="1200" dirty="0"/>
          </a:p>
        </p:txBody>
      </p:sp>
      <p:sp>
        <p:nvSpPr>
          <p:cNvPr id="9" name="Shape 7"/>
          <p:cNvSpPr/>
          <p:nvPr/>
        </p:nvSpPr>
        <p:spPr>
          <a:xfrm>
            <a:off x="502920" y="2929128"/>
            <a:ext cx="5349240" cy="2276856"/>
          </a:xfrm>
          <a:prstGeom prst="roundRect">
            <a:avLst>
              <a:gd name="adj" fmla="val 2410"/>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755648"/>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Nine module-info.java files — Common, CommonBullet, CommonAsteroids, Core, Player, Enemy, Bullet, Asteroids, Collision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 exports only the four packages other modules legitimately need: services, data, util and sound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opens its main package to javafx.graphics and spring.core so both can reflect into it without exporting it publicly</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No plugin exports anything — their internals are sealed</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Look at what is missing from Core: there is no requires Player, no requires Enemy, no requires Asteroids. The compiler physically cannot let Core reach into a gameplay module. That is JPMS strong encapsulation, and it is what forces the discovery mechanism to exist.</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Common/module-info.java  and  Core/module-info.java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Common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java.desktop;</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dk.sdu.mmmi.cbse.common.services;</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dk.sdu.mmmi.cbse.common.data;</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dk.sdu.mmmi.cbse.common.util;</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Core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javafx.graphics;</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spring.context;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dk.sdu.mmmi.cbse.main;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opens   dk.sdu.mmmi.cbse.main</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to javafx.graphics, spring.core;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5</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2</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provides ... with, and uses</a:t>
            </a:r>
            <a:endParaRPr lang="en-US" sz="2900" dirty="0"/>
          </a:p>
        </p:txBody>
      </p:sp>
      <p:sp>
        <p:nvSpPr>
          <p:cNvPr id="6" name="Shape 4"/>
          <p:cNvSpPr/>
          <p:nvPr/>
        </p:nvSpPr>
        <p:spPr>
          <a:xfrm>
            <a:off x="502920" y="1261872"/>
            <a:ext cx="5349240" cy="1319784"/>
          </a:xfrm>
          <a:prstGeom prst="roundRect">
            <a:avLst>
              <a:gd name="adj" fmla="val 415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79857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Continue implementing the game using JPMS Services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Declare provides, with and uses in the module-info files of the relevant modules</a:t>
            </a:r>
            <a:endParaRPr lang="en-US" sz="1200" dirty="0"/>
          </a:p>
        </p:txBody>
      </p:sp>
      <p:sp>
        <p:nvSpPr>
          <p:cNvPr id="9" name="Shape 7"/>
          <p:cNvSpPr/>
          <p:nvPr/>
        </p:nvSpPr>
        <p:spPr>
          <a:xfrm>
            <a:off x="502920" y="2727960"/>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2892552"/>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194304"/>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 declares uses for all three core service interfaces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 Enemy, Bullet and Asteroids each provide IGamePluginService and IEntityProcessingService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Bullet provides BulletSPI; Player and Enemy declare uses BulletSPI</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 provides IAsteroidSplitter; Collision declares uses IAsteroidSplitter and provides IPostEntityProcessingService</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Player uses BulletSPI but never requires the Bullet module. Bullet provides BulletSPI. The module system connects the two at runtime. Delete the Bullet jar and Player still compiles — it simply stops being able to shoot. That is a service contract rather than a dependency.</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Player/module-info.java  and  Bullet/module-info.java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Player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uses     BulletSPI;                  // consumer</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IGamePluginService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...playersystem.PlayerPlugin;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IEntityProcessingService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...playersystem.PlayerControlSystem;</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Bullet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BulletSPI                   // producer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...bulletsystem.BulletControlSystem;</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6</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3</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Split packages and module layers</a:t>
            </a:r>
            <a:endParaRPr lang="en-US" sz="2900" dirty="0"/>
          </a:p>
        </p:txBody>
      </p:sp>
      <p:sp>
        <p:nvSpPr>
          <p:cNvPr id="6" name="Shape 4"/>
          <p:cNvSpPr/>
          <p:nvPr/>
        </p:nvSpPr>
        <p:spPr>
          <a:xfrm>
            <a:off x="502920" y="1261872"/>
            <a:ext cx="5349240" cy="1874520"/>
          </a:xfrm>
          <a:prstGeom prst="roundRect">
            <a:avLst>
              <a:gd name="adj" fmla="val 292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3533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Rename two classes in two different modules to the same name and see what happens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Resolve the split package by implementing a JPMS Module Layer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a plugins folder in the project root and move a module there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Use the ModuleLayer API together with the JDK ServiceLoader</a:t>
            </a:r>
            <a:endParaRPr lang="en-US" sz="1200" dirty="0"/>
          </a:p>
        </p:txBody>
      </p:sp>
      <p:sp>
        <p:nvSpPr>
          <p:cNvPr id="9" name="Shape 7"/>
          <p:cNvSpPr/>
          <p:nvPr/>
        </p:nvSpPr>
        <p:spPr>
          <a:xfrm>
            <a:off x="502920" y="3282696"/>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4472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749040"/>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docs/jpms-lab3-demo/ — moduleA and moduleB both export a package named shared, each with its own shared.Greeter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Loading both under one loader fails: LayerInstantiationException, package shared in more than one module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Resolving them into two separate ModuleLayers makes both load cleanly</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real game uses the same API: plugins/ resolves into its own child layer inside ServiceLocator</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Two modules that export the same package cannot share a class loader. Configuration.resolve alone does not catch it — the failure only appears when the modules are actually defined together. Giving each its own ModuleLayer gives each its own loader, so the two Greeter classes never have to coexist in one namespace.</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Common/util/ServiceLocator.java  ·  building the child layer</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ModuleFinder finder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ModuleFinder.of(Paths.get("plugins"));</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List&lt;String&gt; plugins = finder.findAll().stream()</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.map(ModuleReference::descriptor)</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.map(ModuleDescriptor::name)</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.collect(Collectors.toList());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Configuration cfg = ModuleLayer.boot()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.configuration()</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.resolve(finder, ModuleFinder.of(), plugins);</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layer = ModuleLayer.boot()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.defineModulesWithOneLoader(cfg, systemLoader);</a:t>
            </a:r>
            <a:endParaRPr lang="en-US" sz="99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7</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SPRINGLAB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Spring dependency injection in Core</a:t>
            </a:r>
            <a:endParaRPr lang="en-US" sz="2900" dirty="0"/>
          </a:p>
        </p:txBody>
      </p:sp>
      <p:sp>
        <p:nvSpPr>
          <p:cNvPr id="6" name="Shape 4"/>
          <p:cNvSpPr/>
          <p:nvPr/>
        </p:nvSpPr>
        <p:spPr>
          <a:xfrm>
            <a:off x="502920" y="1261872"/>
            <a:ext cx="5349240" cy="1798320"/>
          </a:xfrm>
          <a:prstGeom prst="roundRect">
            <a:avLst>
              <a:gd name="adj" fmla="val 30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2771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the Core component using the Spring container and the DI component model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Combine JPMS with the Spring runtime container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Instantiate Game and let Spring inject the entity processors and game plugin services</a:t>
            </a:r>
            <a:endParaRPr lang="en-US" sz="1200" dirty="0"/>
          </a:p>
        </p:txBody>
      </p:sp>
      <p:sp>
        <p:nvSpPr>
          <p:cNvPr id="9" name="Shape 7"/>
          <p:cNvSpPr/>
          <p:nvPr/>
        </p:nvSpPr>
        <p:spPr>
          <a:xfrm>
            <a:off x="502920" y="3206496"/>
            <a:ext cx="5349240" cy="2276856"/>
          </a:xfrm>
          <a:prstGeom prst="roundRect">
            <a:avLst>
              <a:gd name="adj" fmla="val 2410"/>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3710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672840"/>
            <a:ext cx="4837176" cy="1755648"/>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Core/ModuleConfig.java is annotated @Configuration and declares five @Bean methods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Three beans return the plugin lists that ServiceLocator discovered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game() bean constructs Game with those three lists plus the ScoreClient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Main.java creates an AnnotationConfigApplicationContext over ModuleConfig and asks it for the Game bean</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Two mechanisms hand off to each other and neither knows about the other. JPMS finds the plugins through ServiceLocator; Spring turns those plain lists into beans and passes them into Game's constructor. JPMS supplies reliable configuration, Spring supplies the runtime wiring.</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Core/src/main/java/.../main/ModuleConfig.java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@Configuration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class ModuleConfig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    @Bean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public Game game()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return new Game(gamePluginServices(),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entityProcessingServiceList(),</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postEntityProcessingServices(),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scoreClient());</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    @Bean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public List&lt;IGamePluginService&gt; gamePluginServices()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return ServiceLocator.INSTANCE</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.locateAll(IGamePluginService.class);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a:t>
            </a:r>
            <a:endParaRPr lang="en-US" sz="8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8</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MICROSERVICELAB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The Spring Boot scoring service</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a Maven module for a scoring system based on the Spring MicroService guide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Integrate the scoring microservice into the game using the Spring RestTemplate</a:t>
            </a:r>
            <a:endParaRPr lang="en-US" sz="1200" dirty="0"/>
          </a:p>
        </p:txBody>
      </p:sp>
      <p:sp>
        <p:nvSpPr>
          <p:cNvPr id="9" name="Shape 7"/>
          <p:cNvSpPr/>
          <p:nvPr/>
        </p:nvSpPr>
        <p:spPr>
          <a:xfrm>
            <a:off x="502920" y="2929128"/>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Scoring/ is a standalone Spring Boot module with its own pom.xml, packaged as an executable jar on port 8081</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ScoreController exposes GET /api/score, POST /api/score and POST /api/score/reset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score is held in an AtomicInteger so concurrent requests are safe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Core/ScoreClient.java pushes the score with RestTemplate every time it changes</a:t>
            </a:r>
            <a:endParaRPr lang="en-US" sz="1200" dirty="0"/>
          </a:p>
        </p:txBody>
      </p:sp>
      <p:sp>
        <p:nvSpPr>
          <p:cNvPr id="12" name="Shape 10"/>
          <p:cNvSpPr/>
          <p:nvPr/>
        </p:nvSpPr>
        <p:spPr>
          <a:xfrm>
            <a:off x="6172200" y="1261872"/>
            <a:ext cx="5486400" cy="1897380"/>
          </a:xfrm>
          <a:prstGeom prst="roundRect">
            <a:avLst>
              <a:gd name="adj" fmla="val 289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3487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game keeps a local ScoreState and compares it each frame against the last value it pushed. Only a genuine change triggers an HTTP POST, so the service is not hammered at sixty frames a second. If the service is down the client catches RestClientException, logs once, and retries quietly about every three seconds — the game never blocks or crashes.</a:t>
            </a:r>
            <a:endParaRPr lang="en-US" sz="1200" dirty="0"/>
          </a:p>
        </p:txBody>
      </p:sp>
      <p:sp>
        <p:nvSpPr>
          <p:cNvPr id="15" name="Text 13"/>
          <p:cNvSpPr/>
          <p:nvPr/>
        </p:nvSpPr>
        <p:spPr>
          <a:xfrm>
            <a:off x="6172200" y="33055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Scoring/ScoreController.java  ·  Core/ScoreClient.java</a:t>
            </a:r>
            <a:endParaRPr lang="en-US" sz="1050" dirty="0"/>
          </a:p>
        </p:txBody>
      </p:sp>
      <p:sp>
        <p:nvSpPr>
          <p:cNvPr id="16" name="Shape 14"/>
          <p:cNvSpPr/>
          <p:nvPr/>
        </p:nvSpPr>
        <p:spPr>
          <a:xfrm>
            <a:off x="6172200" y="3579876"/>
            <a:ext cx="5486400" cy="2564892"/>
          </a:xfrm>
          <a:prstGeom prst="roundRect">
            <a:avLst>
              <a:gd name="adj" fmla="val 1783"/>
            </a:avLst>
          </a:prstGeom>
          <a:solidFill>
            <a:srgbClr val="0F1729"/>
          </a:solidFill>
          <a:ln w="12700">
            <a:solidFill>
              <a:srgbClr val="2A3552"/>
            </a:solidFill>
            <a:prstDash val="solid"/>
          </a:ln>
        </p:spPr>
      </p:sp>
      <p:sp>
        <p:nvSpPr>
          <p:cNvPr id="17" name="Text 15"/>
          <p:cNvSpPr/>
          <p:nvPr/>
        </p:nvSpPr>
        <p:spPr>
          <a:xfrm>
            <a:off x="6327648" y="3698748"/>
            <a:ext cx="5175504" cy="2327148"/>
          </a:xfrm>
          <a:prstGeom prst="rect">
            <a:avLst/>
          </a:prstGeom>
          <a:noFill/>
          <a:ln/>
        </p:spPr>
        <p:txBody>
          <a:bodyPr wrap="square" lIns="0" tIns="0" rIns="0" bIns="0" rtlCol="0" anchor="t"/>
          <a:lstStyle/>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@RestController</a:t>
            </a:r>
            <a:endParaRPr lang="en-US" sz="854" dirty="0"/>
          </a:p>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@RequestMapping("/api/score")</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public class ScoreController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private final AtomicInteger score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new AtomicInteger(0);</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    @GetMapping</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public ScoreResponse getScore()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return new ScoreResponse(score.get());</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76899F"/>
                </a:solidFill>
                <a:latin typeface="Courier New" pitchFamily="34" charset="0"/>
                <a:ea typeface="Courier New" pitchFamily="34" charset="-122"/>
                <a:cs typeface="Courier New" pitchFamily="34" charset="-120"/>
              </a:rPr>
              <a:t>// Core side — pushed only when the value changed</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restTemplate.postForObject(url,</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new ScoreUpdateRequest(current), ScoreResponse.class);</a:t>
            </a:r>
            <a:endParaRPr lang="en-US" sz="854"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9</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TESTLAB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Unit testing the components</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Read the JUnit getting-started material; use Mockito where dependencies need stubbing</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Write a unit test for one of the components — for example moving the player ship, or collision detection</a:t>
            </a:r>
            <a:endParaRPr lang="en-US" sz="1200" dirty="0"/>
          </a:p>
        </p:txBody>
      </p:sp>
      <p:sp>
        <p:nvSpPr>
          <p:cNvPr id="9" name="Shape 7"/>
          <p:cNvSpPr/>
          <p:nvPr/>
        </p:nvSpPr>
        <p:spPr>
          <a:xfrm>
            <a:off x="502920" y="2929128"/>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CollisionDetectorTest — Pythagoras maths, the 3-4-5 triangle case, and multi-hit destruction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PlayerControlSystemTest — input handling and movement, with Mockito</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PlayerStateTest, EntityTest and AsteroidSizeTest cover state and enum behaviour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Five test classes in total, run by mvn test across four modules</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collision tests use both styles the lab describes. State-based: build a real World, fire three bullets, assert the enemy survives two and dies on the third. Interaction-based: replace World with a Mockito mock and verify removeEntity was called exactly twice — once per side of the collision.</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Collision/src/test/.../CollisionDetectorTest.java</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239"/>
              </a:lnSpc>
              <a:buNone/>
            </a:pPr>
            <a:r>
              <a:rPr lang="en-US" sz="873" dirty="0">
                <a:solidFill>
                  <a:srgbClr val="F5A623"/>
                </a:solidFill>
                <a:latin typeface="Courier New" pitchFamily="34" charset="0"/>
                <a:ea typeface="Courier New" pitchFamily="34" charset="-122"/>
                <a:cs typeface="Courier New" pitchFamily="34" charset="-120"/>
              </a:rPr>
              <a:t>@Test</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void enemyIsDestroyedOnlyAfterThreeBulletHits()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Entity enemy = entityAt(100, 100, 8, 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enemy.setMaxHealth(3);</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for (int hit = 1; hit &lt;= 2; hit++)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world.addEntity(bulletAt(100, 100));</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detector.process(gameData, world);</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assertTrue(world.getEntities().contains(enemy));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world.addEntity(bulletAt(100, 100));</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detector.process(gameData, world);</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assertFalse(world.getEntities().contains(enemy));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a:t>
            </a:r>
            <a:endParaRPr lang="en-US" sz="87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Running the Game</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Three commands, two processes</a:t>
            </a:r>
            <a:endParaRPr lang="en-US" sz="1450" dirty="0"/>
          </a:p>
        </p:txBody>
      </p:sp>
      <p:sp>
        <p:nvSpPr>
          <p:cNvPr id="4" name="Shape 2"/>
          <p:cNvSpPr/>
          <p:nvPr/>
        </p:nvSpPr>
        <p:spPr>
          <a:xfrm>
            <a:off x="502920" y="1627632"/>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5" name="Shape 3"/>
          <p:cNvSpPr/>
          <p:nvPr/>
        </p:nvSpPr>
        <p:spPr>
          <a:xfrm>
            <a:off x="740664" y="1865376"/>
            <a:ext cx="512064" cy="512064"/>
          </a:xfrm>
          <a:prstGeom prst="ellipse">
            <a:avLst/>
          </a:prstGeom>
          <a:solidFill>
            <a:srgbClr val="18213D"/>
          </a:solidFill>
          <a:ln/>
        </p:spPr>
      </p:sp>
      <p:sp>
        <p:nvSpPr>
          <p:cNvPr id="6" name="Text 4"/>
          <p:cNvSpPr/>
          <p:nvPr/>
        </p:nvSpPr>
        <p:spPr>
          <a:xfrm>
            <a:off x="740664" y="1865376"/>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399032" y="1783080"/>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Build</a:t>
            </a:r>
            <a:endParaRPr lang="en-US" sz="1500" dirty="0"/>
          </a:p>
        </p:txBody>
      </p:sp>
      <p:sp>
        <p:nvSpPr>
          <p:cNvPr id="8" name="Text 6"/>
          <p:cNvSpPr/>
          <p:nvPr/>
        </p:nvSpPr>
        <p:spPr>
          <a:xfrm>
            <a:off x="2478024" y="1783080"/>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mvn clean install</a:t>
            </a:r>
            <a:endParaRPr lang="en-US" sz="1050" dirty="0"/>
          </a:p>
        </p:txBody>
      </p:sp>
      <p:sp>
        <p:nvSpPr>
          <p:cNvPr id="9" name="Text 7"/>
          <p:cNvSpPr/>
          <p:nvPr/>
        </p:nvSpPr>
        <p:spPr>
          <a:xfrm>
            <a:off x="1399032" y="2112264"/>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Compiles and tests every module, then copies the jars into mods-mvn/ and plugins/.</a:t>
            </a:r>
            <a:endParaRPr lang="en-US" sz="1150" dirty="0"/>
          </a:p>
        </p:txBody>
      </p:sp>
      <p:sp>
        <p:nvSpPr>
          <p:cNvPr id="10" name="Shape 8"/>
          <p:cNvSpPr/>
          <p:nvPr/>
        </p:nvSpPr>
        <p:spPr>
          <a:xfrm>
            <a:off x="502920" y="2798064"/>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1" name="Shape 9"/>
          <p:cNvSpPr/>
          <p:nvPr/>
        </p:nvSpPr>
        <p:spPr>
          <a:xfrm>
            <a:off x="740664" y="3035808"/>
            <a:ext cx="512064" cy="512064"/>
          </a:xfrm>
          <a:prstGeom prst="ellipse">
            <a:avLst/>
          </a:prstGeom>
          <a:solidFill>
            <a:srgbClr val="18213D"/>
          </a:solidFill>
          <a:ln/>
        </p:spPr>
      </p:sp>
      <p:sp>
        <p:nvSpPr>
          <p:cNvPr id="12" name="Text 10"/>
          <p:cNvSpPr/>
          <p:nvPr/>
        </p:nvSpPr>
        <p:spPr>
          <a:xfrm>
            <a:off x="740664" y="3035808"/>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99032" y="2953512"/>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Score</a:t>
            </a:r>
            <a:endParaRPr lang="en-US" sz="1500" dirty="0"/>
          </a:p>
        </p:txBody>
      </p:sp>
      <p:sp>
        <p:nvSpPr>
          <p:cNvPr id="14" name="Text 12"/>
          <p:cNvSpPr/>
          <p:nvPr/>
        </p:nvSpPr>
        <p:spPr>
          <a:xfrm>
            <a:off x="2478024" y="2953512"/>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java -jar Scoring/target/Scoring-1.0.1-SNAPSHOT.jar</a:t>
            </a:r>
            <a:endParaRPr lang="en-US" sz="1050" dirty="0"/>
          </a:p>
        </p:txBody>
      </p:sp>
      <p:sp>
        <p:nvSpPr>
          <p:cNvPr id="15" name="Text 13"/>
          <p:cNvSpPr/>
          <p:nvPr/>
        </p:nvSpPr>
        <p:spPr>
          <a:xfrm>
            <a:off x="1399032" y="3282696"/>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Starts the scoring microservice on port 8081, in its own process.</a:t>
            </a:r>
            <a:endParaRPr lang="en-US" sz="1150" dirty="0"/>
          </a:p>
        </p:txBody>
      </p:sp>
      <p:sp>
        <p:nvSpPr>
          <p:cNvPr id="16" name="Shape 14"/>
          <p:cNvSpPr/>
          <p:nvPr/>
        </p:nvSpPr>
        <p:spPr>
          <a:xfrm>
            <a:off x="502920" y="3968496"/>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7" name="Shape 15"/>
          <p:cNvSpPr/>
          <p:nvPr/>
        </p:nvSpPr>
        <p:spPr>
          <a:xfrm>
            <a:off x="740664" y="4206240"/>
            <a:ext cx="512064" cy="512064"/>
          </a:xfrm>
          <a:prstGeom prst="ellipse">
            <a:avLst/>
          </a:prstGeom>
          <a:solidFill>
            <a:srgbClr val="18213D"/>
          </a:solidFill>
          <a:ln/>
        </p:spPr>
      </p:sp>
      <p:sp>
        <p:nvSpPr>
          <p:cNvPr id="18" name="Text 16"/>
          <p:cNvSpPr/>
          <p:nvPr/>
        </p:nvSpPr>
        <p:spPr>
          <a:xfrm>
            <a:off x="740664" y="4206240"/>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399032" y="4123944"/>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Play</a:t>
            </a:r>
            <a:endParaRPr lang="en-US" sz="1500" dirty="0"/>
          </a:p>
        </p:txBody>
      </p:sp>
      <p:sp>
        <p:nvSpPr>
          <p:cNvPr id="20" name="Text 18"/>
          <p:cNvSpPr/>
          <p:nvPr/>
        </p:nvSpPr>
        <p:spPr>
          <a:xfrm>
            <a:off x="2478024" y="4123944"/>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mvn exec:exec --non-recursive</a:t>
            </a:r>
            <a:endParaRPr lang="en-US" sz="1050" dirty="0"/>
          </a:p>
        </p:txBody>
      </p:sp>
      <p:sp>
        <p:nvSpPr>
          <p:cNvPr id="21" name="Text 19"/>
          <p:cNvSpPr/>
          <p:nvPr/>
        </p:nvSpPr>
        <p:spPr>
          <a:xfrm>
            <a:off x="1399032" y="4453128"/>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Launches Core on the module path; ServiceLocator loads the five plugins.</a:t>
            </a:r>
            <a:endParaRPr lang="en-US" sz="1150" dirty="0"/>
          </a:p>
        </p:txBody>
      </p:sp>
      <p:sp>
        <p:nvSpPr>
          <p:cNvPr id="22" name="Shape 20"/>
          <p:cNvSpPr/>
          <p:nvPr/>
        </p:nvSpPr>
        <p:spPr>
          <a:xfrm>
            <a:off x="8183880" y="1627632"/>
            <a:ext cx="3474720" cy="3529584"/>
          </a:xfrm>
          <a:prstGeom prst="roundRect">
            <a:avLst>
              <a:gd name="adj" fmla="val 1579"/>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3" name="Text 21"/>
          <p:cNvSpPr/>
          <p:nvPr/>
        </p:nvSpPr>
        <p:spPr>
          <a:xfrm>
            <a:off x="8439912" y="1810512"/>
            <a:ext cx="296265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CONTROLS</a:t>
            </a:r>
            <a:endParaRPr lang="en-US" sz="1050" dirty="0"/>
          </a:p>
        </p:txBody>
      </p:sp>
      <p:sp>
        <p:nvSpPr>
          <p:cNvPr id="24" name="Shape 22"/>
          <p:cNvSpPr/>
          <p:nvPr/>
        </p:nvSpPr>
        <p:spPr>
          <a:xfrm>
            <a:off x="8439912" y="2157984"/>
            <a:ext cx="969264" cy="292608"/>
          </a:xfrm>
          <a:prstGeom prst="roundRect">
            <a:avLst>
              <a:gd name="adj" fmla="val 18750"/>
            </a:avLst>
          </a:prstGeom>
          <a:solidFill>
            <a:srgbClr val="FFFFFF"/>
          </a:solidFill>
          <a:ln w="12700">
            <a:solidFill>
              <a:srgbClr val="C4D4EA"/>
            </a:solidFill>
            <a:prstDash val="solid"/>
          </a:ln>
        </p:spPr>
      </p:sp>
      <p:sp>
        <p:nvSpPr>
          <p:cNvPr id="25" name="Text 23"/>
          <p:cNvSpPr/>
          <p:nvPr/>
        </p:nvSpPr>
        <p:spPr>
          <a:xfrm>
            <a:off x="8439912" y="215798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Arrow keys</a:t>
            </a:r>
            <a:endParaRPr lang="en-US" sz="950" dirty="0"/>
          </a:p>
        </p:txBody>
      </p:sp>
      <p:sp>
        <p:nvSpPr>
          <p:cNvPr id="26" name="Text 24"/>
          <p:cNvSpPr/>
          <p:nvPr/>
        </p:nvSpPr>
        <p:spPr>
          <a:xfrm>
            <a:off x="9518904" y="215798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Rotate and thrust</a:t>
            </a:r>
            <a:endParaRPr lang="en-US" sz="1100" dirty="0"/>
          </a:p>
        </p:txBody>
      </p:sp>
      <p:sp>
        <p:nvSpPr>
          <p:cNvPr id="27" name="Shape 25"/>
          <p:cNvSpPr/>
          <p:nvPr/>
        </p:nvSpPr>
        <p:spPr>
          <a:xfrm>
            <a:off x="8439912" y="2569464"/>
            <a:ext cx="969264" cy="292608"/>
          </a:xfrm>
          <a:prstGeom prst="roundRect">
            <a:avLst>
              <a:gd name="adj" fmla="val 18750"/>
            </a:avLst>
          </a:prstGeom>
          <a:solidFill>
            <a:srgbClr val="FFFFFF"/>
          </a:solidFill>
          <a:ln w="12700">
            <a:solidFill>
              <a:srgbClr val="C4D4EA"/>
            </a:solidFill>
            <a:prstDash val="solid"/>
          </a:ln>
        </p:spPr>
      </p:sp>
      <p:sp>
        <p:nvSpPr>
          <p:cNvPr id="28" name="Text 26"/>
          <p:cNvSpPr/>
          <p:nvPr/>
        </p:nvSpPr>
        <p:spPr>
          <a:xfrm>
            <a:off x="8439912" y="256946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Space</a:t>
            </a:r>
            <a:endParaRPr lang="en-US" sz="950" dirty="0"/>
          </a:p>
        </p:txBody>
      </p:sp>
      <p:sp>
        <p:nvSpPr>
          <p:cNvPr id="29" name="Text 27"/>
          <p:cNvSpPr/>
          <p:nvPr/>
        </p:nvSpPr>
        <p:spPr>
          <a:xfrm>
            <a:off x="9518904" y="256946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Shoot / confirm</a:t>
            </a:r>
            <a:endParaRPr lang="en-US" sz="1100" dirty="0"/>
          </a:p>
        </p:txBody>
      </p:sp>
      <p:sp>
        <p:nvSpPr>
          <p:cNvPr id="30" name="Shape 28"/>
          <p:cNvSpPr/>
          <p:nvPr/>
        </p:nvSpPr>
        <p:spPr>
          <a:xfrm>
            <a:off x="8439912" y="2980944"/>
            <a:ext cx="969264" cy="292608"/>
          </a:xfrm>
          <a:prstGeom prst="roundRect">
            <a:avLst>
              <a:gd name="adj" fmla="val 18750"/>
            </a:avLst>
          </a:prstGeom>
          <a:solidFill>
            <a:srgbClr val="FFFFFF"/>
          </a:solidFill>
          <a:ln w="12700">
            <a:solidFill>
              <a:srgbClr val="C4D4EA"/>
            </a:solidFill>
            <a:prstDash val="solid"/>
          </a:ln>
        </p:spPr>
      </p:sp>
      <p:sp>
        <p:nvSpPr>
          <p:cNvPr id="31" name="Text 29"/>
          <p:cNvSpPr/>
          <p:nvPr/>
        </p:nvSpPr>
        <p:spPr>
          <a:xfrm>
            <a:off x="8439912" y="298094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P</a:t>
            </a:r>
            <a:endParaRPr lang="en-US" sz="950" dirty="0"/>
          </a:p>
        </p:txBody>
      </p:sp>
      <p:sp>
        <p:nvSpPr>
          <p:cNvPr id="32" name="Text 30"/>
          <p:cNvSpPr/>
          <p:nvPr/>
        </p:nvSpPr>
        <p:spPr>
          <a:xfrm>
            <a:off x="9518904" y="298094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Pause</a:t>
            </a:r>
            <a:endParaRPr lang="en-US" sz="1100" dirty="0"/>
          </a:p>
        </p:txBody>
      </p:sp>
      <p:sp>
        <p:nvSpPr>
          <p:cNvPr id="33" name="Shape 31"/>
          <p:cNvSpPr/>
          <p:nvPr/>
        </p:nvSpPr>
        <p:spPr>
          <a:xfrm>
            <a:off x="8439912" y="3392424"/>
            <a:ext cx="969264" cy="292608"/>
          </a:xfrm>
          <a:prstGeom prst="roundRect">
            <a:avLst>
              <a:gd name="adj" fmla="val 18750"/>
            </a:avLst>
          </a:prstGeom>
          <a:solidFill>
            <a:srgbClr val="FFFFFF"/>
          </a:solidFill>
          <a:ln w="12700">
            <a:solidFill>
              <a:srgbClr val="C4D4EA"/>
            </a:solidFill>
            <a:prstDash val="solid"/>
          </a:ln>
        </p:spPr>
      </p:sp>
      <p:sp>
        <p:nvSpPr>
          <p:cNvPr id="34" name="Text 32"/>
          <p:cNvSpPr/>
          <p:nvPr/>
        </p:nvSpPr>
        <p:spPr>
          <a:xfrm>
            <a:off x="8439912" y="339242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M</a:t>
            </a:r>
            <a:endParaRPr lang="en-US" sz="950" dirty="0"/>
          </a:p>
        </p:txBody>
      </p:sp>
      <p:sp>
        <p:nvSpPr>
          <p:cNvPr id="35" name="Text 33"/>
          <p:cNvSpPr/>
          <p:nvPr/>
        </p:nvSpPr>
        <p:spPr>
          <a:xfrm>
            <a:off x="9518904" y="339242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Mute</a:t>
            </a:r>
            <a:endParaRPr lang="en-US" sz="1100" dirty="0"/>
          </a:p>
        </p:txBody>
      </p:sp>
      <p:sp>
        <p:nvSpPr>
          <p:cNvPr id="36" name="Shape 34"/>
          <p:cNvSpPr/>
          <p:nvPr/>
        </p:nvSpPr>
        <p:spPr>
          <a:xfrm>
            <a:off x="8439912" y="3803904"/>
            <a:ext cx="969264" cy="292608"/>
          </a:xfrm>
          <a:prstGeom prst="roundRect">
            <a:avLst>
              <a:gd name="adj" fmla="val 18750"/>
            </a:avLst>
          </a:prstGeom>
          <a:solidFill>
            <a:srgbClr val="FFFFFF"/>
          </a:solidFill>
          <a:ln w="12700">
            <a:solidFill>
              <a:srgbClr val="C4D4EA"/>
            </a:solidFill>
            <a:prstDash val="solid"/>
          </a:ln>
        </p:spPr>
      </p:sp>
      <p:sp>
        <p:nvSpPr>
          <p:cNvPr id="37" name="Text 35"/>
          <p:cNvSpPr/>
          <p:nvPr/>
        </p:nvSpPr>
        <p:spPr>
          <a:xfrm>
            <a:off x="8439912" y="380390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H</a:t>
            </a:r>
            <a:endParaRPr lang="en-US" sz="950" dirty="0"/>
          </a:p>
        </p:txBody>
      </p:sp>
      <p:sp>
        <p:nvSpPr>
          <p:cNvPr id="38" name="Text 36"/>
          <p:cNvSpPr/>
          <p:nvPr/>
        </p:nvSpPr>
        <p:spPr>
          <a:xfrm>
            <a:off x="9518904" y="380390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Help overlay</a:t>
            </a:r>
            <a:endParaRPr lang="en-US" sz="1100" dirty="0"/>
          </a:p>
        </p:txBody>
      </p:sp>
      <p:sp>
        <p:nvSpPr>
          <p:cNvPr id="39" name="Shape 37"/>
          <p:cNvSpPr/>
          <p:nvPr/>
        </p:nvSpPr>
        <p:spPr>
          <a:xfrm>
            <a:off x="8439912" y="4215384"/>
            <a:ext cx="969264" cy="292608"/>
          </a:xfrm>
          <a:prstGeom prst="roundRect">
            <a:avLst>
              <a:gd name="adj" fmla="val 18750"/>
            </a:avLst>
          </a:prstGeom>
          <a:solidFill>
            <a:srgbClr val="FFFFFF"/>
          </a:solidFill>
          <a:ln w="12700">
            <a:solidFill>
              <a:srgbClr val="C4D4EA"/>
            </a:solidFill>
            <a:prstDash val="solid"/>
          </a:ln>
        </p:spPr>
      </p:sp>
      <p:sp>
        <p:nvSpPr>
          <p:cNvPr id="40" name="Text 38"/>
          <p:cNvSpPr/>
          <p:nvPr/>
        </p:nvSpPr>
        <p:spPr>
          <a:xfrm>
            <a:off x="8439912" y="421538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R</a:t>
            </a:r>
            <a:endParaRPr lang="en-US" sz="950" dirty="0"/>
          </a:p>
        </p:txBody>
      </p:sp>
      <p:sp>
        <p:nvSpPr>
          <p:cNvPr id="41" name="Text 39"/>
          <p:cNvSpPr/>
          <p:nvPr/>
        </p:nvSpPr>
        <p:spPr>
          <a:xfrm>
            <a:off x="9518904" y="421538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Restart</a:t>
            </a:r>
            <a:endParaRPr lang="en-US" sz="1100" dirty="0"/>
          </a:p>
        </p:txBody>
      </p:sp>
      <p:sp>
        <p:nvSpPr>
          <p:cNvPr id="42" name="Shape 40"/>
          <p:cNvSpPr/>
          <p:nvPr/>
        </p:nvSpPr>
        <p:spPr>
          <a:xfrm>
            <a:off x="8439912" y="4626864"/>
            <a:ext cx="969264" cy="292608"/>
          </a:xfrm>
          <a:prstGeom prst="roundRect">
            <a:avLst>
              <a:gd name="adj" fmla="val 18750"/>
            </a:avLst>
          </a:prstGeom>
          <a:solidFill>
            <a:srgbClr val="FFFFFF"/>
          </a:solidFill>
          <a:ln w="12700">
            <a:solidFill>
              <a:srgbClr val="C4D4EA"/>
            </a:solidFill>
            <a:prstDash val="solid"/>
          </a:ln>
        </p:spPr>
      </p:sp>
      <p:sp>
        <p:nvSpPr>
          <p:cNvPr id="43" name="Text 41"/>
          <p:cNvSpPr/>
          <p:nvPr/>
        </p:nvSpPr>
        <p:spPr>
          <a:xfrm>
            <a:off x="8439912" y="462686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Q</a:t>
            </a:r>
            <a:endParaRPr lang="en-US" sz="950" dirty="0"/>
          </a:p>
        </p:txBody>
      </p:sp>
      <p:sp>
        <p:nvSpPr>
          <p:cNvPr id="44" name="Text 42"/>
          <p:cNvSpPr/>
          <p:nvPr/>
        </p:nvSpPr>
        <p:spPr>
          <a:xfrm>
            <a:off x="9518904" y="462686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Quit</a:t>
            </a:r>
            <a:endParaRPr lang="en-US" sz="1100" dirty="0"/>
          </a:p>
        </p:txBody>
      </p:sp>
      <p:sp>
        <p:nvSpPr>
          <p:cNvPr id="45" name="Shape 43"/>
          <p:cNvSpPr/>
          <p:nvPr/>
        </p:nvSpPr>
        <p:spPr>
          <a:xfrm>
            <a:off x="8183880" y="5285232"/>
            <a:ext cx="3474720" cy="676656"/>
          </a:xfrm>
          <a:prstGeom prst="roundRect">
            <a:avLst>
              <a:gd name="adj" fmla="val 8108"/>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46" name="Text 44"/>
          <p:cNvSpPr/>
          <p:nvPr/>
        </p:nvSpPr>
        <p:spPr>
          <a:xfrm>
            <a:off x="8439912" y="5413248"/>
            <a:ext cx="2962656" cy="457200"/>
          </a:xfrm>
          <a:prstGeom prst="rect">
            <a:avLst/>
          </a:prstGeom>
          <a:noFill/>
          <a:ln/>
        </p:spPr>
        <p:txBody>
          <a:bodyPr wrap="square" lIns="0" tIns="0" rIns="0" bIns="0" rtlCol="0" anchor="t"/>
          <a:lstStyle/>
          <a:p>
            <a:pPr indent="0" marL="0">
              <a:lnSpc>
                <a:spcPts val="1400"/>
              </a:lnSpc>
              <a:buNone/>
            </a:pPr>
            <a:r>
              <a:rPr lang="en-US" sz="1100" dirty="0">
                <a:solidFill>
                  <a:srgbClr val="8A6314"/>
                </a:solidFill>
                <a:latin typeface="Calibri" pitchFamily="34" charset="0"/>
                <a:ea typeface="Calibri" pitchFamily="34" charset="-122"/>
                <a:cs typeface="Calibri" pitchFamily="34" charset="-120"/>
              </a:rPr>
              <a:t>Clear three waves to win. Three lives, brief invulnerability on respawn.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8213D"/>
        </a:solidFill>
      </p:bgPr>
    </p:bg>
    <p:spTree>
      <p:nvGrpSpPr>
        <p:cNvPr id="1" name=""/>
        <p:cNvGrpSpPr/>
        <p:nvPr/>
      </p:nvGrpSpPr>
      <p:grpSpPr>
        <a:xfrm>
          <a:off x="0" y="0"/>
          <a:ext cx="0" cy="0"/>
          <a:chOff x="0" y="0"/>
          <a:chExt cx="0" cy="0"/>
        </a:xfrm>
      </p:grpSpPr>
      <p:sp>
        <p:nvSpPr>
          <p:cNvPr id="2" name="Text 0"/>
          <p:cNvSpPr/>
          <p:nvPr/>
        </p:nvSpPr>
        <p:spPr>
          <a:xfrm>
            <a:off x="502920" y="502920"/>
            <a:ext cx="868680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All Nine Labs Delivered</a:t>
            </a:r>
            <a:endParaRPr lang="en-US" sz="3600" dirty="0"/>
          </a:p>
        </p:txBody>
      </p:sp>
      <p:sp>
        <p:nvSpPr>
          <p:cNvPr id="3" name="Text 1"/>
          <p:cNvSpPr/>
          <p:nvPr/>
        </p:nvSpPr>
        <p:spPr>
          <a:xfrm>
            <a:off x="502920" y="1115568"/>
            <a:ext cx="8686800" cy="310896"/>
          </a:xfrm>
          <a:prstGeom prst="rect">
            <a:avLst/>
          </a:prstGeom>
          <a:noFill/>
          <a:ln/>
        </p:spPr>
        <p:txBody>
          <a:bodyPr wrap="square" lIns="0" tIns="0" rIns="0" bIns="0" rtlCol="0" anchor="ctr"/>
          <a:lstStyle/>
          <a:p>
            <a:pPr indent="0" marL="0">
              <a:buNone/>
            </a:pPr>
            <a:r>
              <a:rPr lang="en-US" sz="1450" dirty="0">
                <a:solidFill>
                  <a:srgbClr val="9FB6D8"/>
                </a:solidFill>
                <a:latin typeface="Calibri" pitchFamily="34" charset="0"/>
                <a:ea typeface="Calibri" pitchFamily="34" charset="-122"/>
                <a:cs typeface="Calibri" pitchFamily="34" charset="-120"/>
              </a:rPr>
              <a:t>Every lab requirement traced to working code in the repository</a:t>
            </a:r>
            <a:endParaRPr lang="en-US" sz="1450" dirty="0"/>
          </a:p>
        </p:txBody>
      </p:sp>
      <p:sp>
        <p:nvSpPr>
          <p:cNvPr id="4" name="Shape 2"/>
          <p:cNvSpPr/>
          <p:nvPr/>
        </p:nvSpPr>
        <p:spPr>
          <a:xfrm>
            <a:off x="502920" y="1645920"/>
            <a:ext cx="3538728" cy="932688"/>
          </a:xfrm>
          <a:prstGeom prst="roundRect">
            <a:avLst>
              <a:gd name="adj" fmla="val 5882"/>
            </a:avLst>
          </a:prstGeom>
          <a:solidFill>
            <a:srgbClr val="1F2A4C"/>
          </a:solidFill>
          <a:ln w="12700">
            <a:solidFill>
              <a:srgbClr val="2E3C64"/>
            </a:solidFill>
            <a:prstDash val="solid"/>
          </a:ln>
        </p:spPr>
      </p:sp>
      <p:sp>
        <p:nvSpPr>
          <p:cNvPr id="5" name="Shape 3"/>
          <p:cNvSpPr/>
          <p:nvPr/>
        </p:nvSpPr>
        <p:spPr>
          <a:xfrm>
            <a:off x="704088" y="1911096"/>
            <a:ext cx="402336" cy="402336"/>
          </a:xfrm>
          <a:prstGeom prst="ellipse">
            <a:avLst/>
          </a:prstGeom>
          <a:solidFill>
            <a:srgbClr val="18213D"/>
          </a:solidFill>
          <a:ln w="19050">
            <a:solidFill>
              <a:srgbClr val="F5A623"/>
            </a:solidFill>
            <a:prstDash val="solid"/>
          </a:ln>
        </p:spPr>
      </p:sp>
      <p:sp>
        <p:nvSpPr>
          <p:cNvPr id="6" name="Text 4"/>
          <p:cNvSpPr/>
          <p:nvPr/>
        </p:nvSpPr>
        <p:spPr>
          <a:xfrm>
            <a:off x="704088"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234440"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IntroLab</a:t>
            </a:r>
            <a:endParaRPr lang="en-US" sz="1400" dirty="0"/>
          </a:p>
        </p:txBody>
      </p:sp>
      <p:sp>
        <p:nvSpPr>
          <p:cNvPr id="8" name="Text 6"/>
          <p:cNvSpPr/>
          <p:nvPr/>
        </p:nvSpPr>
        <p:spPr>
          <a:xfrm>
            <a:off x="1234440"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JavaFX game, random enemy</a:t>
            </a:r>
            <a:endParaRPr lang="en-US" sz="1050" dirty="0"/>
          </a:p>
        </p:txBody>
      </p:sp>
      <p:sp>
        <p:nvSpPr>
          <p:cNvPr id="9" name="Shape 7"/>
          <p:cNvSpPr/>
          <p:nvPr/>
        </p:nvSpPr>
        <p:spPr>
          <a:xfrm>
            <a:off x="4306824" y="1645920"/>
            <a:ext cx="3538728" cy="932688"/>
          </a:xfrm>
          <a:prstGeom prst="roundRect">
            <a:avLst>
              <a:gd name="adj" fmla="val 5882"/>
            </a:avLst>
          </a:prstGeom>
          <a:solidFill>
            <a:srgbClr val="1F2A4C"/>
          </a:solidFill>
          <a:ln w="12700">
            <a:solidFill>
              <a:srgbClr val="2E3C64"/>
            </a:solidFill>
            <a:prstDash val="solid"/>
          </a:ln>
        </p:spPr>
      </p:sp>
      <p:sp>
        <p:nvSpPr>
          <p:cNvPr id="10" name="Shape 8"/>
          <p:cNvSpPr/>
          <p:nvPr/>
        </p:nvSpPr>
        <p:spPr>
          <a:xfrm>
            <a:off x="4507992" y="1911096"/>
            <a:ext cx="402336" cy="402336"/>
          </a:xfrm>
          <a:prstGeom prst="ellipse">
            <a:avLst/>
          </a:prstGeom>
          <a:solidFill>
            <a:srgbClr val="18213D"/>
          </a:solidFill>
          <a:ln w="19050">
            <a:solidFill>
              <a:srgbClr val="F5A623"/>
            </a:solidFill>
            <a:prstDash val="solid"/>
          </a:ln>
        </p:spPr>
      </p:sp>
      <p:sp>
        <p:nvSpPr>
          <p:cNvPr id="11" name="Text 9"/>
          <p:cNvSpPr/>
          <p:nvPr/>
        </p:nvSpPr>
        <p:spPr>
          <a:xfrm>
            <a:off x="4507992"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5038344"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GameLab</a:t>
            </a:r>
            <a:endParaRPr lang="en-US" sz="1400" dirty="0"/>
          </a:p>
        </p:txBody>
      </p:sp>
      <p:sp>
        <p:nvSpPr>
          <p:cNvPr id="13" name="Text 11"/>
          <p:cNvSpPr/>
          <p:nvPr/>
        </p:nvSpPr>
        <p:spPr>
          <a:xfrm>
            <a:off x="5038344"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Contracts, collision, splitting</a:t>
            </a:r>
            <a:endParaRPr lang="en-US" sz="1050" dirty="0"/>
          </a:p>
        </p:txBody>
      </p:sp>
      <p:sp>
        <p:nvSpPr>
          <p:cNvPr id="14" name="Shape 12"/>
          <p:cNvSpPr/>
          <p:nvPr/>
        </p:nvSpPr>
        <p:spPr>
          <a:xfrm>
            <a:off x="8110728" y="1645920"/>
            <a:ext cx="3538728" cy="932688"/>
          </a:xfrm>
          <a:prstGeom prst="roundRect">
            <a:avLst>
              <a:gd name="adj" fmla="val 5882"/>
            </a:avLst>
          </a:prstGeom>
          <a:solidFill>
            <a:srgbClr val="1F2A4C"/>
          </a:solidFill>
          <a:ln w="12700">
            <a:solidFill>
              <a:srgbClr val="2E3C64"/>
            </a:solidFill>
            <a:prstDash val="solid"/>
          </a:ln>
        </p:spPr>
      </p:sp>
      <p:sp>
        <p:nvSpPr>
          <p:cNvPr id="15" name="Shape 13"/>
          <p:cNvSpPr/>
          <p:nvPr/>
        </p:nvSpPr>
        <p:spPr>
          <a:xfrm>
            <a:off x="8311896" y="1911096"/>
            <a:ext cx="402336" cy="402336"/>
          </a:xfrm>
          <a:prstGeom prst="ellipse">
            <a:avLst/>
          </a:prstGeom>
          <a:solidFill>
            <a:srgbClr val="18213D"/>
          </a:solidFill>
          <a:ln w="19050">
            <a:solidFill>
              <a:srgbClr val="F5A623"/>
            </a:solidFill>
            <a:prstDash val="solid"/>
          </a:ln>
        </p:spPr>
      </p:sp>
      <p:sp>
        <p:nvSpPr>
          <p:cNvPr id="16" name="Text 14"/>
          <p:cNvSpPr/>
          <p:nvPr/>
        </p:nvSpPr>
        <p:spPr>
          <a:xfrm>
            <a:off x="8311896"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8842248"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JavaLab</a:t>
            </a:r>
            <a:endParaRPr lang="en-US" sz="1400" dirty="0"/>
          </a:p>
        </p:txBody>
      </p:sp>
      <p:sp>
        <p:nvSpPr>
          <p:cNvPr id="18" name="Text 16"/>
          <p:cNvSpPr/>
          <p:nvPr/>
        </p:nvSpPr>
        <p:spPr>
          <a:xfrm>
            <a:off x="8842248"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ServiceLoader assembly</a:t>
            </a:r>
            <a:endParaRPr lang="en-US" sz="1050" dirty="0"/>
          </a:p>
        </p:txBody>
      </p:sp>
      <p:sp>
        <p:nvSpPr>
          <p:cNvPr id="19" name="Shape 17"/>
          <p:cNvSpPr/>
          <p:nvPr/>
        </p:nvSpPr>
        <p:spPr>
          <a:xfrm>
            <a:off x="502920" y="2761488"/>
            <a:ext cx="3538728" cy="932688"/>
          </a:xfrm>
          <a:prstGeom prst="roundRect">
            <a:avLst>
              <a:gd name="adj" fmla="val 5882"/>
            </a:avLst>
          </a:prstGeom>
          <a:solidFill>
            <a:srgbClr val="1F2A4C"/>
          </a:solidFill>
          <a:ln w="12700">
            <a:solidFill>
              <a:srgbClr val="2E3C64"/>
            </a:solidFill>
            <a:prstDash val="solid"/>
          </a:ln>
        </p:spPr>
      </p:sp>
      <p:sp>
        <p:nvSpPr>
          <p:cNvPr id="20" name="Shape 18"/>
          <p:cNvSpPr/>
          <p:nvPr/>
        </p:nvSpPr>
        <p:spPr>
          <a:xfrm>
            <a:off x="704088" y="3026664"/>
            <a:ext cx="402336" cy="402336"/>
          </a:xfrm>
          <a:prstGeom prst="ellipse">
            <a:avLst/>
          </a:prstGeom>
          <a:solidFill>
            <a:srgbClr val="18213D"/>
          </a:solidFill>
          <a:ln w="19050">
            <a:solidFill>
              <a:srgbClr val="F5A623"/>
            </a:solidFill>
            <a:prstDash val="solid"/>
          </a:ln>
        </p:spPr>
      </p:sp>
      <p:sp>
        <p:nvSpPr>
          <p:cNvPr id="21" name="Text 19"/>
          <p:cNvSpPr/>
          <p:nvPr/>
        </p:nvSpPr>
        <p:spPr>
          <a:xfrm>
            <a:off x="704088"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234440"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1</a:t>
            </a:r>
            <a:endParaRPr lang="en-US" sz="1400" dirty="0"/>
          </a:p>
        </p:txBody>
      </p:sp>
      <p:sp>
        <p:nvSpPr>
          <p:cNvPr id="23" name="Text 21"/>
          <p:cNvSpPr/>
          <p:nvPr/>
        </p:nvSpPr>
        <p:spPr>
          <a:xfrm>
            <a:off x="1234440"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requires and exports</a:t>
            </a:r>
            <a:endParaRPr lang="en-US" sz="1050" dirty="0"/>
          </a:p>
        </p:txBody>
      </p:sp>
      <p:sp>
        <p:nvSpPr>
          <p:cNvPr id="24" name="Shape 22"/>
          <p:cNvSpPr/>
          <p:nvPr/>
        </p:nvSpPr>
        <p:spPr>
          <a:xfrm>
            <a:off x="4306824" y="2761488"/>
            <a:ext cx="3538728" cy="932688"/>
          </a:xfrm>
          <a:prstGeom prst="roundRect">
            <a:avLst>
              <a:gd name="adj" fmla="val 5882"/>
            </a:avLst>
          </a:prstGeom>
          <a:solidFill>
            <a:srgbClr val="1F2A4C"/>
          </a:solidFill>
          <a:ln w="12700">
            <a:solidFill>
              <a:srgbClr val="2E3C64"/>
            </a:solidFill>
            <a:prstDash val="solid"/>
          </a:ln>
        </p:spPr>
      </p:sp>
      <p:sp>
        <p:nvSpPr>
          <p:cNvPr id="25" name="Shape 23"/>
          <p:cNvSpPr/>
          <p:nvPr/>
        </p:nvSpPr>
        <p:spPr>
          <a:xfrm>
            <a:off x="4507992" y="3026664"/>
            <a:ext cx="402336" cy="402336"/>
          </a:xfrm>
          <a:prstGeom prst="ellipse">
            <a:avLst/>
          </a:prstGeom>
          <a:solidFill>
            <a:srgbClr val="18213D"/>
          </a:solidFill>
          <a:ln w="19050">
            <a:solidFill>
              <a:srgbClr val="F5A623"/>
            </a:solidFill>
            <a:prstDash val="solid"/>
          </a:ln>
        </p:spPr>
      </p:sp>
      <p:sp>
        <p:nvSpPr>
          <p:cNvPr id="26" name="Text 24"/>
          <p:cNvSpPr/>
          <p:nvPr/>
        </p:nvSpPr>
        <p:spPr>
          <a:xfrm>
            <a:off x="4507992"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5</a:t>
            </a:r>
            <a:endParaRPr lang="en-US" sz="1400" dirty="0"/>
          </a:p>
        </p:txBody>
      </p:sp>
      <p:sp>
        <p:nvSpPr>
          <p:cNvPr id="27" name="Text 25"/>
          <p:cNvSpPr/>
          <p:nvPr/>
        </p:nvSpPr>
        <p:spPr>
          <a:xfrm>
            <a:off x="5038344"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2</a:t>
            </a:r>
            <a:endParaRPr lang="en-US" sz="1400" dirty="0"/>
          </a:p>
        </p:txBody>
      </p:sp>
      <p:sp>
        <p:nvSpPr>
          <p:cNvPr id="28" name="Text 26"/>
          <p:cNvSpPr/>
          <p:nvPr/>
        </p:nvSpPr>
        <p:spPr>
          <a:xfrm>
            <a:off x="5038344"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provides ... with, uses</a:t>
            </a:r>
            <a:endParaRPr lang="en-US" sz="1050" dirty="0"/>
          </a:p>
        </p:txBody>
      </p:sp>
      <p:sp>
        <p:nvSpPr>
          <p:cNvPr id="29" name="Shape 27"/>
          <p:cNvSpPr/>
          <p:nvPr/>
        </p:nvSpPr>
        <p:spPr>
          <a:xfrm>
            <a:off x="8110728" y="2761488"/>
            <a:ext cx="3538728" cy="932688"/>
          </a:xfrm>
          <a:prstGeom prst="roundRect">
            <a:avLst>
              <a:gd name="adj" fmla="val 5882"/>
            </a:avLst>
          </a:prstGeom>
          <a:solidFill>
            <a:srgbClr val="1F2A4C"/>
          </a:solidFill>
          <a:ln w="12700">
            <a:solidFill>
              <a:srgbClr val="2E3C64"/>
            </a:solidFill>
            <a:prstDash val="solid"/>
          </a:ln>
        </p:spPr>
      </p:sp>
      <p:sp>
        <p:nvSpPr>
          <p:cNvPr id="30" name="Shape 28"/>
          <p:cNvSpPr/>
          <p:nvPr/>
        </p:nvSpPr>
        <p:spPr>
          <a:xfrm>
            <a:off x="8311896" y="3026664"/>
            <a:ext cx="402336" cy="402336"/>
          </a:xfrm>
          <a:prstGeom prst="ellipse">
            <a:avLst/>
          </a:prstGeom>
          <a:solidFill>
            <a:srgbClr val="18213D"/>
          </a:solidFill>
          <a:ln w="19050">
            <a:solidFill>
              <a:srgbClr val="F5A623"/>
            </a:solidFill>
            <a:prstDash val="solid"/>
          </a:ln>
        </p:spPr>
      </p:sp>
      <p:sp>
        <p:nvSpPr>
          <p:cNvPr id="31" name="Text 29"/>
          <p:cNvSpPr/>
          <p:nvPr/>
        </p:nvSpPr>
        <p:spPr>
          <a:xfrm>
            <a:off x="8311896"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6</a:t>
            </a:r>
            <a:endParaRPr lang="en-US" sz="1400" dirty="0"/>
          </a:p>
        </p:txBody>
      </p:sp>
      <p:sp>
        <p:nvSpPr>
          <p:cNvPr id="32" name="Text 30"/>
          <p:cNvSpPr/>
          <p:nvPr/>
        </p:nvSpPr>
        <p:spPr>
          <a:xfrm>
            <a:off x="8842248"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3</a:t>
            </a:r>
            <a:endParaRPr lang="en-US" sz="1400" dirty="0"/>
          </a:p>
        </p:txBody>
      </p:sp>
      <p:sp>
        <p:nvSpPr>
          <p:cNvPr id="33" name="Text 31"/>
          <p:cNvSpPr/>
          <p:nvPr/>
        </p:nvSpPr>
        <p:spPr>
          <a:xfrm>
            <a:off x="8842248"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ModuleLayer, split packages</a:t>
            </a:r>
            <a:endParaRPr lang="en-US" sz="1050" dirty="0"/>
          </a:p>
        </p:txBody>
      </p:sp>
      <p:sp>
        <p:nvSpPr>
          <p:cNvPr id="34" name="Shape 32"/>
          <p:cNvSpPr/>
          <p:nvPr/>
        </p:nvSpPr>
        <p:spPr>
          <a:xfrm>
            <a:off x="502920" y="3877056"/>
            <a:ext cx="3538728" cy="932688"/>
          </a:xfrm>
          <a:prstGeom prst="roundRect">
            <a:avLst>
              <a:gd name="adj" fmla="val 5882"/>
            </a:avLst>
          </a:prstGeom>
          <a:solidFill>
            <a:srgbClr val="1F2A4C"/>
          </a:solidFill>
          <a:ln w="12700">
            <a:solidFill>
              <a:srgbClr val="2E3C64"/>
            </a:solidFill>
            <a:prstDash val="solid"/>
          </a:ln>
        </p:spPr>
      </p:sp>
      <p:sp>
        <p:nvSpPr>
          <p:cNvPr id="35" name="Shape 33"/>
          <p:cNvSpPr/>
          <p:nvPr/>
        </p:nvSpPr>
        <p:spPr>
          <a:xfrm>
            <a:off x="704088" y="4142232"/>
            <a:ext cx="402336" cy="402336"/>
          </a:xfrm>
          <a:prstGeom prst="ellipse">
            <a:avLst/>
          </a:prstGeom>
          <a:solidFill>
            <a:srgbClr val="18213D"/>
          </a:solidFill>
          <a:ln w="19050">
            <a:solidFill>
              <a:srgbClr val="F5A623"/>
            </a:solidFill>
            <a:prstDash val="solid"/>
          </a:ln>
        </p:spPr>
      </p:sp>
      <p:sp>
        <p:nvSpPr>
          <p:cNvPr id="36" name="Text 34"/>
          <p:cNvSpPr/>
          <p:nvPr/>
        </p:nvSpPr>
        <p:spPr>
          <a:xfrm>
            <a:off x="704088"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7</a:t>
            </a:r>
            <a:endParaRPr lang="en-US" sz="1400" dirty="0"/>
          </a:p>
        </p:txBody>
      </p:sp>
      <p:sp>
        <p:nvSpPr>
          <p:cNvPr id="37" name="Text 35"/>
          <p:cNvSpPr/>
          <p:nvPr/>
        </p:nvSpPr>
        <p:spPr>
          <a:xfrm>
            <a:off x="1234440"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SpringLab</a:t>
            </a:r>
            <a:endParaRPr lang="en-US" sz="1400" dirty="0"/>
          </a:p>
        </p:txBody>
      </p:sp>
      <p:sp>
        <p:nvSpPr>
          <p:cNvPr id="38" name="Text 36"/>
          <p:cNvSpPr/>
          <p:nvPr/>
        </p:nvSpPr>
        <p:spPr>
          <a:xfrm>
            <a:off x="1234440"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Spring DI in Core</a:t>
            </a:r>
            <a:endParaRPr lang="en-US" sz="1050" dirty="0"/>
          </a:p>
        </p:txBody>
      </p:sp>
      <p:sp>
        <p:nvSpPr>
          <p:cNvPr id="39" name="Shape 37"/>
          <p:cNvSpPr/>
          <p:nvPr/>
        </p:nvSpPr>
        <p:spPr>
          <a:xfrm>
            <a:off x="4306824" y="3877056"/>
            <a:ext cx="3538728" cy="932688"/>
          </a:xfrm>
          <a:prstGeom prst="roundRect">
            <a:avLst>
              <a:gd name="adj" fmla="val 5882"/>
            </a:avLst>
          </a:prstGeom>
          <a:solidFill>
            <a:srgbClr val="1F2A4C"/>
          </a:solidFill>
          <a:ln w="12700">
            <a:solidFill>
              <a:srgbClr val="2E3C64"/>
            </a:solidFill>
            <a:prstDash val="solid"/>
          </a:ln>
        </p:spPr>
      </p:sp>
      <p:sp>
        <p:nvSpPr>
          <p:cNvPr id="40" name="Shape 38"/>
          <p:cNvSpPr/>
          <p:nvPr/>
        </p:nvSpPr>
        <p:spPr>
          <a:xfrm>
            <a:off x="4507992" y="4142232"/>
            <a:ext cx="402336" cy="402336"/>
          </a:xfrm>
          <a:prstGeom prst="ellipse">
            <a:avLst/>
          </a:prstGeom>
          <a:solidFill>
            <a:srgbClr val="18213D"/>
          </a:solidFill>
          <a:ln w="19050">
            <a:solidFill>
              <a:srgbClr val="F5A623"/>
            </a:solidFill>
            <a:prstDash val="solid"/>
          </a:ln>
        </p:spPr>
      </p:sp>
      <p:sp>
        <p:nvSpPr>
          <p:cNvPr id="41" name="Text 39"/>
          <p:cNvSpPr/>
          <p:nvPr/>
        </p:nvSpPr>
        <p:spPr>
          <a:xfrm>
            <a:off x="4507992"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8</a:t>
            </a:r>
            <a:endParaRPr lang="en-US" sz="1400" dirty="0"/>
          </a:p>
        </p:txBody>
      </p:sp>
      <p:sp>
        <p:nvSpPr>
          <p:cNvPr id="42" name="Text 40"/>
          <p:cNvSpPr/>
          <p:nvPr/>
        </p:nvSpPr>
        <p:spPr>
          <a:xfrm>
            <a:off x="5038344"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MicroServiceLab</a:t>
            </a:r>
            <a:endParaRPr lang="en-US" sz="1400" dirty="0"/>
          </a:p>
        </p:txBody>
      </p:sp>
      <p:sp>
        <p:nvSpPr>
          <p:cNvPr id="43" name="Text 41"/>
          <p:cNvSpPr/>
          <p:nvPr/>
        </p:nvSpPr>
        <p:spPr>
          <a:xfrm>
            <a:off x="5038344"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Scoring REST API</a:t>
            </a:r>
            <a:endParaRPr lang="en-US" sz="1050" dirty="0"/>
          </a:p>
        </p:txBody>
      </p:sp>
      <p:sp>
        <p:nvSpPr>
          <p:cNvPr id="44" name="Shape 42"/>
          <p:cNvSpPr/>
          <p:nvPr/>
        </p:nvSpPr>
        <p:spPr>
          <a:xfrm>
            <a:off x="8110728" y="3877056"/>
            <a:ext cx="3538728" cy="932688"/>
          </a:xfrm>
          <a:prstGeom prst="roundRect">
            <a:avLst>
              <a:gd name="adj" fmla="val 5882"/>
            </a:avLst>
          </a:prstGeom>
          <a:solidFill>
            <a:srgbClr val="1F2A4C"/>
          </a:solidFill>
          <a:ln w="12700">
            <a:solidFill>
              <a:srgbClr val="2E3C64"/>
            </a:solidFill>
            <a:prstDash val="solid"/>
          </a:ln>
        </p:spPr>
      </p:sp>
      <p:sp>
        <p:nvSpPr>
          <p:cNvPr id="45" name="Shape 43"/>
          <p:cNvSpPr/>
          <p:nvPr/>
        </p:nvSpPr>
        <p:spPr>
          <a:xfrm>
            <a:off x="8311896" y="4142232"/>
            <a:ext cx="402336" cy="402336"/>
          </a:xfrm>
          <a:prstGeom prst="ellipse">
            <a:avLst/>
          </a:prstGeom>
          <a:solidFill>
            <a:srgbClr val="18213D"/>
          </a:solidFill>
          <a:ln w="19050">
            <a:solidFill>
              <a:srgbClr val="F5A623"/>
            </a:solidFill>
            <a:prstDash val="solid"/>
          </a:ln>
        </p:spPr>
      </p:sp>
      <p:sp>
        <p:nvSpPr>
          <p:cNvPr id="46" name="Text 44"/>
          <p:cNvSpPr/>
          <p:nvPr/>
        </p:nvSpPr>
        <p:spPr>
          <a:xfrm>
            <a:off x="8311896"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9</a:t>
            </a:r>
            <a:endParaRPr lang="en-US" sz="1400" dirty="0"/>
          </a:p>
        </p:txBody>
      </p:sp>
      <p:sp>
        <p:nvSpPr>
          <p:cNvPr id="47" name="Text 45"/>
          <p:cNvSpPr/>
          <p:nvPr/>
        </p:nvSpPr>
        <p:spPr>
          <a:xfrm>
            <a:off x="8842248"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TestLab</a:t>
            </a:r>
            <a:endParaRPr lang="en-US" sz="1400" dirty="0"/>
          </a:p>
        </p:txBody>
      </p:sp>
      <p:sp>
        <p:nvSpPr>
          <p:cNvPr id="48" name="Text 46"/>
          <p:cNvSpPr/>
          <p:nvPr/>
        </p:nvSpPr>
        <p:spPr>
          <a:xfrm>
            <a:off x="8842248"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JUnit 5 and Mockito</a:t>
            </a:r>
            <a:endParaRPr lang="en-US" sz="1050" dirty="0"/>
          </a:p>
        </p:txBody>
      </p:sp>
      <p:sp>
        <p:nvSpPr>
          <p:cNvPr id="49" name="Text 47"/>
          <p:cNvSpPr/>
          <p:nvPr/>
        </p:nvSpPr>
        <p:spPr>
          <a:xfrm>
            <a:off x="502920"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10</a:t>
            </a:r>
            <a:endParaRPr lang="en-US" sz="4600" dirty="0"/>
          </a:p>
        </p:txBody>
      </p:sp>
      <p:sp>
        <p:nvSpPr>
          <p:cNvPr id="50" name="Text 48"/>
          <p:cNvSpPr/>
          <p:nvPr/>
        </p:nvSpPr>
        <p:spPr>
          <a:xfrm>
            <a:off x="1490472"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Maven modules</a:t>
            </a:r>
            <a:endParaRPr lang="en-US" sz="1250" dirty="0"/>
          </a:p>
        </p:txBody>
      </p:sp>
      <p:sp>
        <p:nvSpPr>
          <p:cNvPr id="51" name="Text 49"/>
          <p:cNvSpPr/>
          <p:nvPr/>
        </p:nvSpPr>
        <p:spPr>
          <a:xfrm>
            <a:off x="3300984"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9</a:t>
            </a:r>
            <a:endParaRPr lang="en-US" sz="4600" dirty="0"/>
          </a:p>
        </p:txBody>
      </p:sp>
      <p:sp>
        <p:nvSpPr>
          <p:cNvPr id="52" name="Text 50"/>
          <p:cNvSpPr/>
          <p:nvPr/>
        </p:nvSpPr>
        <p:spPr>
          <a:xfrm>
            <a:off x="4288536"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module-info files</a:t>
            </a:r>
            <a:endParaRPr lang="en-US" sz="1250" dirty="0"/>
          </a:p>
        </p:txBody>
      </p:sp>
      <p:sp>
        <p:nvSpPr>
          <p:cNvPr id="53" name="Text 51"/>
          <p:cNvSpPr/>
          <p:nvPr/>
        </p:nvSpPr>
        <p:spPr>
          <a:xfrm>
            <a:off x="6099048"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5</a:t>
            </a:r>
            <a:endParaRPr lang="en-US" sz="4600" dirty="0"/>
          </a:p>
        </p:txBody>
      </p:sp>
      <p:sp>
        <p:nvSpPr>
          <p:cNvPr id="54" name="Text 52"/>
          <p:cNvSpPr/>
          <p:nvPr/>
        </p:nvSpPr>
        <p:spPr>
          <a:xfrm>
            <a:off x="7086600"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test classes</a:t>
            </a:r>
            <a:endParaRPr lang="en-US" sz="1250" dirty="0"/>
          </a:p>
        </p:txBody>
      </p:sp>
      <p:sp>
        <p:nvSpPr>
          <p:cNvPr id="55" name="Text 53"/>
          <p:cNvSpPr/>
          <p:nvPr/>
        </p:nvSpPr>
        <p:spPr>
          <a:xfrm>
            <a:off x="8897112"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2</a:t>
            </a:r>
            <a:endParaRPr lang="en-US" sz="4600" dirty="0"/>
          </a:p>
        </p:txBody>
      </p:sp>
      <p:sp>
        <p:nvSpPr>
          <p:cNvPr id="56" name="Text 54"/>
          <p:cNvSpPr/>
          <p:nvPr/>
        </p:nvSpPr>
        <p:spPr>
          <a:xfrm>
            <a:off x="9884664"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processes</a:t>
            </a:r>
            <a:endParaRPr lang="en-US" sz="1250" dirty="0"/>
          </a:p>
        </p:txBody>
      </p:sp>
      <p:sp>
        <p:nvSpPr>
          <p:cNvPr id="57" name="Text 55"/>
          <p:cNvSpPr/>
          <p:nvPr/>
        </p:nvSpPr>
        <p:spPr>
          <a:xfrm>
            <a:off x="502920" y="6053328"/>
            <a:ext cx="11155680" cy="310896"/>
          </a:xfrm>
          <a:prstGeom prst="rect">
            <a:avLst/>
          </a:prstGeom>
          <a:noFill/>
          <a:ln/>
        </p:spPr>
        <p:txBody>
          <a:bodyPr wrap="square" lIns="0" tIns="0" rIns="0" bIns="0" rtlCol="0" anchor="ctr"/>
          <a:lstStyle/>
          <a:p>
            <a:pPr indent="0" marL="0">
              <a:buNone/>
            </a:pPr>
            <a:r>
              <a:rPr lang="en-US" sz="1150" dirty="0">
                <a:solidFill>
                  <a:srgbClr val="7089B0"/>
                </a:solidFill>
                <a:latin typeface="Calibri" pitchFamily="34" charset="0"/>
                <a:ea typeface="Calibri" pitchFamily="34" charset="-122"/>
                <a:cs typeface="Calibri" pitchFamily="34" charset="-120"/>
              </a:rPr>
              <a:t>github.com/Fard121/asteroid_game   ·   forked from sweat-tek/AsteroidsFX   ·   fjama23@student.sdu.dk</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AsteroidsFX — Component-Oriented Game</dc:title>
  <dc:subject>PptxGenJS Presentation</dc:subject>
  <dc:creator>Fard121</dc:creator>
  <cp:lastModifiedBy>Fard121</cp:lastModifiedBy>
  <cp:revision>1</cp:revision>
  <dcterms:created xsi:type="dcterms:W3CDTF">2026-08-07T13:56:00Z</dcterms:created>
  <dcterms:modified xsi:type="dcterms:W3CDTF">2026-08-07T13:56:00Z</dcterms:modified>
</cp:coreProperties>
</file>